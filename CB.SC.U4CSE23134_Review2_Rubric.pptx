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99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63" name="Google Shape;763;p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970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23CSE461 - NEURAL NETWORKS AND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Silent Voice - Review 2 Rubric Audit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645920"/>
            <a:ext cx="10424160" cy="84124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73152" cy="841248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9921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1" i="0">
                <a:solidFill>
                  <a:srgbClr val="086072"/>
                </a:solidFill>
                <a:latin typeface="Calibri"/>
              </a:rPr>
              <a:t>Radha Krishna  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CB.SC.U4CSE23134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5A5A5A"/>
                </a:solidFill>
                <a:latin typeface="Calibri"/>
              </a:rPr>
              <a:t>Real-time Indian Sign Language to English translation, and English back to signs. BiLSTM against a 1-D temporal CNN on the INCLUDE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6114D"/>
                </a:solidFill>
                <a:latin typeface="Cambr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RUBRIC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Slides required for Review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6114D"/>
                </a:solidFill>
                <a:latin typeface="Cambria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TOTAL 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Across all twelve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9592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7F5E"/>
                </a:solidFill>
                <a:latin typeface="Cambria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EVIDENCED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Artefact exists and is shown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7889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9352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26A00"/>
                </a:solidFill>
                <a:latin typeface="Cambria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5570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STILL TO 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37947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Partial plus not-started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Char char="✦"/>
            </a:pPr>
            <a:r>
              <a:rPr sz="1300" b="1" i="0">
                <a:solidFill>
                  <a:srgbClr val="086072"/>
                </a:solidFill>
                <a:latin typeface="Calibri"/>
              </a:rPr>
              <a:t>This deck is an audit, not a claim.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It states what exists, what is half-done, and what has not been started.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424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Generated by scripts/build_rubric_deck.py from the same data that drives the /rubric page in the application.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Where This Project Stands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572768"/>
            <a:ext cx="10424160" cy="548640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72768"/>
            <a:ext cx="73152" cy="54864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5"/>
            <a:ext cx="9921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086072"/>
                </a:solidFill>
                <a:latin typeface="Calibri"/>
              </a:rPr>
              <a:t>Scoring rule:  </a:t>
            </a:r>
            <a:r>
              <a:rPr sz="1150" b="0" i="0">
                <a:solidFill>
                  <a:srgbClr val="222222"/>
                </a:solidFill>
                <a:latin typeface="Calibri"/>
              </a:rPr>
              <a:t>a row counts as Evidenced only if the artefact exists today and can be pointed at - a specific deck slide, a running screen, or a file in the repository. Nothing below is counted on the strength of intending to do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7F5E"/>
                </a:solidFill>
                <a:latin typeface="Cambria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EVIDENCED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Artefact exists and can be shown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26A00"/>
                </a:solidFill>
                <a:latin typeface="Cambria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Some required parts still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9592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77777D"/>
                </a:solidFill>
                <a:latin typeface="Cambria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NOT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Nothing exists for these rows yet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331720"/>
            <a:ext cx="2487168" cy="1481328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47802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6114D"/>
                </a:solidFill>
                <a:latin typeface="Cambria"/>
              </a:rPr>
              <a:t>27/50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3099815"/>
            <a:ext cx="22311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 spc="140">
                <a:solidFill>
                  <a:srgbClr val="086072"/>
                </a:solidFill>
                <a:latin typeface="Calibri"/>
              </a:rPr>
              <a:t>SECURED SO FAR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333756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Not a predicted mark - a floor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41648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60">
                <a:solidFill>
                  <a:srgbClr val="086072"/>
                </a:solidFill>
                <a:latin typeface="Calibri"/>
              </a:rPr>
              <a:t>WHAT UNLOCKS THE MOST MARKS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279392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279392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407408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Literature survey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17720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5 marks itself, and unblocks rows 5 and 12 - 10 more behind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1752" y="4279392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1752" y="4279392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0624" y="4407408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Algorithm procedure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0624" y="4617720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5 marks of transcription: every equation is already coded.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9144" y="4279392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9144" y="4279392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8016" y="4407408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Novelty + complexity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8016" y="4617720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Completes row 6. State the novelty as the controlled comparison.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7424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Mirrors frontend/src/lib/rubric.js, which drives the /rubric page in the running app - the deck and the product cannot disagree about what is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Rubric Breakdown (SLIDES 1-6)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42416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"/>
                <a:gridCol w="2788920"/>
                <a:gridCol w="548640"/>
                <a:gridCol w="914400"/>
                <a:gridCol w="57881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Mark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Evidence / what is missing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Problem statement, introduction, motivation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3-7 (sections 01-04) and Review-template slide 2.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Literature survey - 5 papers per student, SCImago-listed, 2025/2026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77777D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Five papers, each verified in the SCImago 2025/2026 listing, with architecture and reported metrics.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Architecture diagram for the overall application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16 (09 - SYSTEM ARCHITECTURE); matches the shipped code path.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Module details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17 (10 - MODULES); every module named exists as a file.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Formula of performance metrics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B26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26: nine metrics with formula and purpose, matching evaluate.py.   MISSING: Fourth column: best values reported in the surveyed papers (needs row 2).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Deep learning architecture - diagram, explanation, novelty, complexity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B26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22-23: layer diagrams, design rationale, measured parameter counts.   MISSING: Explicit novelty statement (c) and big-O time/space per model (d).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Rubric Breakdown (SLIDES 7-12)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424160" cy="3730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"/>
                <a:gridCol w="2788920"/>
                <a:gridCol w="548640"/>
                <a:gridCol w="914400"/>
                <a:gridCol w="57881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Mark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Evidence / what is missing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Algorithm procedure, step by step, mathematically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77777D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Numbered procedure from raw frame to label with equations - already implemented, needs writing up.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Hyperparameter details table with justification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24-25; values are the ones actually used in the training run.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Results and discussion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27: nine metrics, both models, measured on 642 held-out clips.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Dataset chosen and its novelty - IEEE Dataport URL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B26A0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13, 18-21: INCLUDE described; 261 classes, 4,276 usable clips.   MISSING: The IEEE Dataport URL, and a stated novelty for the dataset choice.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UI screens planned for the application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1B7F5E"/>
                          </a:solidFill>
                          <a:latin typeface="Calibri"/>
                        </a:rPr>
                        <a:t>Evidenced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Ten working screens, not mockups - the same build the demo runs on.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Standard paper chosen - title and justification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77777D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222222"/>
                          </a:solidFill>
                          <a:latin typeface="Calibri"/>
                        </a:rPr>
                        <a:t>One paper nominated as the reference standard, with justification.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Evidence Behind the Twenty-Seven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424160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2514600"/>
                <a:gridCol w="5760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Rubric row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Why it counts</a:t>
                      </a:r>
                    </a:p>
                  </a:txBody>
                  <a:tcPr marL="82296" marR="82296" marT="27432" marB="27432" anchor="ctr">
                    <a:solidFill>
                      <a:srgbClr val="08607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1  Problem statement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3-7; template slide 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Motivation, objective and scope already written in the faculty format.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3  Overall architecture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16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The diagram matches the shipped path: capture, /api/frame, MediaPipe, normalise, model, gloss.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4  Module details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17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Every module named is a real file: preprocess.py, models.py, inference.py, gloss.py, practice.py.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8  Hyperparameters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slides 24-25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AdamW, cosine annealing, label smoothing 0.05, patience 20, lr 3e-3, batch 32, 60 epochs - as run.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9  Results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Deck slide 27; /research page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CNN 94.55% vs BiLSTM 91.74% on 642 held-out clips; the page reads the same file off disk.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11 UI screens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The running application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Gate, home, live, reverse, practice, transcripts, research, rubric, settings, about.</a:t>
                      </a:r>
                    </a:p>
                  </a:txBody>
                  <a:tcPr marL="82296" marR="82296" marT="27432" marB="27432" anchor="ctr">
                    <a:solidFill>
                      <a:srgbClr val="F7F4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6692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Every figure quoted here is read from ml/logs/comparison.json, produced by the training run - none of it is typed in by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35624"/>
            <a:ext cx="12188952" cy="722376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pic>
        <p:nvPicPr>
          <p:cNvPr id="3" name="Picture 2" descr="amri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6163056"/>
            <a:ext cx="1938528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 spc="200">
                <a:solidFill>
                  <a:srgbClr val="B6114D"/>
                </a:solidFill>
                <a:latin typeface="Calibri"/>
              </a:rPr>
              <a:t>REVIEW 2 -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086072"/>
                </a:solidFill>
                <a:latin typeface="Cambria"/>
              </a:rPr>
              <a:t>The Twelve Marks Not Yet Earned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1188720" cy="0"/>
          </a:xfrm>
          <a:prstGeom prst="line">
            <a:avLst/>
          </a:prstGeom>
          <a:ln w="31750">
            <a:solidFill>
              <a:srgbClr val="B61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627632"/>
            <a:ext cx="3346704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73152" cy="1874519"/>
          </a:xfrm>
          <a:prstGeom prst="rect">
            <a:avLst/>
          </a:prstGeom>
          <a:solidFill>
            <a:srgbClr val="777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86072"/>
                </a:solidFill>
                <a:latin typeface="Calibri"/>
              </a:rPr>
              <a:t>Row 2 - Literature survey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48256"/>
            <a:ext cx="2843784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Five papers on sign-language recognition or temporal architectures, each verified as appearing in a SCImago-listed journal for 2025 or 2026. Record citation, architecture, and reported metric values - the last of these is what row 5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7" y="1627632"/>
            <a:ext cx="3346704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087" y="1627632"/>
            <a:ext cx="73152" cy="1874519"/>
          </a:xfrm>
          <a:prstGeom prst="rect">
            <a:avLst/>
          </a:prstGeom>
          <a:solidFill>
            <a:srgbClr val="777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746504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86072"/>
                </a:solidFill>
                <a:latin typeface="Calibri"/>
              </a:rPr>
              <a:t>Row 7 - Algorithm procedure 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048256"/>
            <a:ext cx="2843784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A numbered derivation: landmark extraction, wrist-origin translation, shoulder-width scaling, z-scoring with train-split statistics, the LSTM recurrence and 1-D convolution equations, mean-pooling, softmax, argmax. All of it is already implemented.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1816" y="1627632"/>
            <a:ext cx="3346704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71816" y="1627632"/>
            <a:ext cx="73152" cy="1874519"/>
          </a:xfrm>
          <a:prstGeom prst="rect">
            <a:avLst/>
          </a:prstGeom>
          <a:solidFill>
            <a:srgbClr val="777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1746504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86072"/>
                </a:solidFill>
                <a:latin typeface="Calibri"/>
              </a:rPr>
              <a:t>Row 12 - Standard paper (2)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048256"/>
            <a:ext cx="2843784" cy="1344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5A5A5A"/>
                </a:solidFill>
                <a:latin typeface="Calibri"/>
              </a:rPr>
              <a:t>One paper nominated as the reference standard for the application, with a justification tying it to this system. Falls out of row 2 - pick the closest of the five.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49039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60">
                <a:solidFill>
                  <a:srgbClr val="086072"/>
                </a:solidFill>
                <a:latin typeface="Calibri"/>
              </a:rPr>
              <a:t>PARTIAL ROWS - WHAT CLOSES THEM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986783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986783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114800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Row 5 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25112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Add a 'best reported value' column to the metrics table, sourced from the survey.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1752" y="3986783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1752" y="3986783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30624" y="4114800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Row 6 (5)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0624" y="4325112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Add the novelty statement and big-O time/space for both models.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9144" y="3986783"/>
            <a:ext cx="338937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29144" y="3986783"/>
            <a:ext cx="3389376" cy="45720"/>
          </a:xfrm>
          <a:prstGeom prst="rect">
            <a:avLst/>
          </a:prstGeom>
          <a:solidFill>
            <a:srgbClr val="08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8016" y="4114800"/>
            <a:ext cx="3151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086072"/>
                </a:solidFill>
                <a:latin typeface="Calibri"/>
              </a:rPr>
              <a:t>Row 10 (3)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8016" y="4325112"/>
            <a:ext cx="3151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850" b="0" i="0">
                <a:solidFill>
                  <a:srgbClr val="5A5A5A"/>
                </a:solidFill>
                <a:latin typeface="Calibri"/>
              </a:rPr>
              <a:t>Supply the IEEE Dataport URL; confirm whether the Zenodo DOI is acceptable.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846320"/>
            <a:ext cx="10424160" cy="713232"/>
          </a:xfrm>
          <a:prstGeom prst="rect">
            <a:avLst/>
          </a:prstGeom>
          <a:solidFill>
            <a:srgbClr val="F7F4F5"/>
          </a:solidFill>
          <a:ln w="12700">
            <a:solidFill>
              <a:srgbClr val="E4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4846320"/>
            <a:ext cx="73152" cy="713232"/>
          </a:xfrm>
          <a:prstGeom prst="rect">
            <a:avLst/>
          </a:prstGeom>
          <a:solidFill>
            <a:srgbClr val="B61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56048"/>
            <a:ext cx="99212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B6114D"/>
                </a:solidFill>
                <a:latin typeface="Calibri"/>
              </a:rPr>
              <a:t>Worth checking: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INCLUDE is distributed via Zenodo. If it is not on IEEE Dataport, ask whether the Zenodo DOI satisfies row 10 rather than citing a URL that does not resolve - a broken link in a review is worse than an honest substitution.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1874</Words>
  <Application>Microsoft Office PowerPoint</Application>
  <PresentationFormat>Widescreen</PresentationFormat>
  <Paragraphs>205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boyillamanohar@gmail.com</cp:lastModifiedBy>
  <cp:revision>3</cp:revision>
  <dcterms:created xsi:type="dcterms:W3CDTF">2026-07-17T04:39:06Z</dcterms:created>
  <dcterms:modified xsi:type="dcterms:W3CDTF">2026-08-12T18:08:12Z</dcterms:modified>
</cp:coreProperties>
</file>