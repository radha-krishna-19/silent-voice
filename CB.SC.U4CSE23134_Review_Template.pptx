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1"/>
  </p:notesMasterIdLst>
  <p:sldIdLst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2200" b="1">
                <a:solidFill>
                  <a:srgbClr val="1F2A55"/>
                </a:solidFill>
                <a:latin typeface="Calibri"/>
              </a:rPr>
              <a:t>Silent Voice — Real-Time Indian Sign Language ↔ English Translator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Group No: [ TO FILL ]                                    Category: 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16065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0317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5A5A6B"/>
                </a:solidFill>
                <a:latin typeface="Calibri"/>
              </a:rPr>
              <a:t>Not applicable — no external collaborator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T. Senthil Kumar,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43137"/>
              </p:ext>
            </p:extLst>
          </p:nvPr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CB.SC.U4CSE23134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Radha Krishna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pradhakrishna594@gmail.com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github.com/Radha-Krishna-19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LinkedIn Product Demo:  [ TO FILL ]          GitHub Repository:  https://github.com/Radha-Krishna-19/Silent-Voice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This presentation is prepared for Course:  23CSE461 — Neural Networks and Deep Learning</a:t>
            </a: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India has ~63 million people with disabling hearing loss and fewer than 300 certified ISL interpreters. Existing tools are audio-only, ASL-biased, hardware-heavy, or one-way, leaving Indian Sign Language users without real-time translation on ordinary devices.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888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Build a browser-based, real-time ISL ↔ English translator that runs on any webcam, and determine empirically which sequence architecture reads landmark data best.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4622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None/>
            </a:pPr>
            <a:r>
              <a:rPr sz="1000" b="0">
                <a:solidFill>
                  <a:srgbClr val="1A1A1A"/>
                </a:solidFill>
                <a:latin typeface="Calibri"/>
              </a:rPr>
              <a:t>•  Convert ISL video to privacy-preserving landmark tensors (60 × 225) via MediaPipe Holistic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>
                <a:solidFill>
                  <a:srgbClr val="1A1A1A"/>
                </a:solidFill>
                <a:latin typeface="Calibri"/>
              </a:rPr>
              <a:t>•  Train and fairly compare BiLSTM vs 1D Temporal CNN on identical splits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>
                <a:solidFill>
                  <a:srgbClr val="1A1A1A"/>
                </a:solidFill>
                <a:latin typeface="Calibri"/>
              </a:rPr>
              <a:t>•  Serve the winning model in real time (&lt; 5 ms inference) behind one API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>
                <a:solidFill>
                  <a:srgbClr val="1A1A1A"/>
                </a:solidFill>
                <a:latin typeface="Calibri"/>
              </a:rPr>
              <a:t>•  Report accuracy, macro F1, top-5 and latency on a held-out test split</a:t>
            </a: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800" b="1">
                <a:solidFill>
                  <a:srgbClr val="1F2A55"/>
                </a:solidFill>
                <a:latin typeface="Calibri"/>
              </a:rPr>
              <a:t>CAPTURE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800" b="0">
                <a:solidFill>
                  <a:srgbClr val="1F2A55"/>
                </a:solidFill>
                <a:latin typeface="Calibri"/>
              </a:rPr>
              <a:t>webcam frame</a:t>
            </a: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800" b="1">
                <a:solidFill>
                  <a:srgbClr val="1F2A55"/>
                </a:solidFill>
                <a:latin typeface="Calibri"/>
              </a:rPr>
              <a:t>LANDMARKS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800" b="0">
                <a:solidFill>
                  <a:srgbClr val="1F2A55"/>
                </a:solidFill>
                <a:latin typeface="Calibri"/>
              </a:rPr>
              <a:t>60 × 225 tensor</a:t>
            </a: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sz="800" b="1">
                <a:solidFill>
                  <a:srgbClr val="1F2A55"/>
                </a:solidFill>
                <a:latin typeface="Calibri"/>
              </a:rPr>
              <a:t>CLASSIFY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800" b="0">
                <a:solidFill>
                  <a:srgbClr val="1F2A55"/>
                </a:solidFill>
                <a:latin typeface="Calibri"/>
              </a:rPr>
              <a:t>BiLSTM / CNN</a:t>
            </a: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5A5A6B"/>
                </a:solidFill>
                <a:latin typeface="Calibri"/>
              </a:rPr>
              <a:t>Webcam → MediaPipe Holistic (21+21 hand + 33 pose landmarks) → wrist-origin normalise, resample to T=60 → BiLSTM or 1D CNN → gloss → English caption + speech.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89320" y="1005840"/>
            <a:ext cx="5577840" cy="566928"/>
          </a:xfrm>
          <a:prstGeom prst="rect">
            <a:avLst/>
          </a:prstGeom>
          <a:solidFill>
            <a:srgbClr val="F4F6FC"/>
          </a:solidFill>
          <a:ln w="12700">
            <a:solidFill>
              <a:srgbClr val="D7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1F2A55"/>
                </a:solidFill>
                <a:latin typeface="Calibri"/>
              </a:rPr>
              <a:t>CLIENT · BROWSER</a:t>
            </a:r>
          </a:p>
          <a:p>
            <a:r>
              <a:rPr sz="850">
                <a:solidFill>
                  <a:srgbClr val="5A5A6B"/>
                </a:solidFill>
                <a:latin typeface="Calibri"/>
              </a:rPr>
              <a:t>webcam → canvas → JPEG, throttled to 12 fps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581912"/>
            <a:ext cx="457200" cy="21945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C00000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810512"/>
            <a:ext cx="5577840" cy="566928"/>
          </a:xfrm>
          <a:prstGeom prst="rect">
            <a:avLst/>
          </a:prstGeom>
          <a:solidFill>
            <a:srgbClr val="F4F6FC"/>
          </a:solidFill>
          <a:ln w="12700">
            <a:solidFill>
              <a:srgbClr val="D7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1F2A55"/>
                </a:solidFill>
                <a:latin typeface="Calibri"/>
              </a:rPr>
              <a:t>SERVER · FastAPI</a:t>
            </a:r>
          </a:p>
          <a:p>
            <a:r>
              <a:rPr sz="850">
                <a:solidFill>
                  <a:srgbClr val="5A5A6B"/>
                </a:solidFill>
                <a:latin typeface="Calibri"/>
              </a:rPr>
              <a:t>POST /api/frame  ·  MediaPipe Holistic, server-side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386584"/>
            <a:ext cx="457200" cy="21945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C00000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615184"/>
            <a:ext cx="5577840" cy="566928"/>
          </a:xfrm>
          <a:prstGeom prst="rect">
            <a:avLst/>
          </a:prstGeom>
          <a:solidFill>
            <a:srgbClr val="F4F6FC"/>
          </a:solidFill>
          <a:ln w="12700">
            <a:solidFill>
              <a:srgbClr val="D7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1F2A55"/>
                </a:solidFill>
                <a:latin typeface="Calibri"/>
              </a:rPr>
              <a:t>MODEL</a:t>
            </a:r>
          </a:p>
          <a:p>
            <a:r>
              <a:rPr sz="850">
                <a:solidFill>
                  <a:srgbClr val="5A5A6B"/>
                </a:solidFill>
                <a:latin typeface="Calibri"/>
              </a:rPr>
              <a:t>BiLSTM 91.74%   |   1D CNN 94.55%   (per-request switch)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1A1A1A"/>
                </a:solidFill>
                <a:latin typeface="Calibri"/>
              </a:rPr>
              <a:t>Three representative products from this area. None performs bidirectional Indian Sign Language translation in a browser without special hardware.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 Name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Google Live Transcribe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g.co/livetranscribe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Real-time speech → text captions on Android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Audio-only; does not handle sign language at all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SignAll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signall.us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ASL → English using a multi-camera rig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ASL only, expensive hardware, not browser-based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Ishaara / SLAIT AI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slait.ai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Browser-based sign recognition, no install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One-directional, ASL-centric, no published model comparison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1A1A1A"/>
                </a:solidFill>
                <a:latin typeface="Calibri"/>
              </a:rPr>
              <a:t>Silent Voice turns any laptop webcam into an Indian Sign Language interpreter. MediaPipe Holistic reduces each clip to a 60 × 225 landmark tensor — 200× smaller than video and free of skin tone, clothing and background — which is classified by a neural network into one of 261 signs, then spoken aloud. Two architectures were trained on identical data and splits: a BiLSTM (2.67 M parameters) and a 1D temporal CNN (0.74 M). On a 642-clip held-out test set the CNN reached 94.55% accuracy, 0.9433 macro F1 and 0.74 ms inference, beating the BiLSTM on every metric while being 3.6× smaller.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Published ISL work is mostly isolated-sign, one-way recognition on small vocabularies.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Sign products either need special hardware (SignAll, KinTrans) or target ASL/Libras.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Model choice is usually asserted, rarely measured under a controlled comparison.</a:t>
            </a: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520440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Browser-native ISL translator — no install, no GPU, ordinary webcam.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Landmarks-only pipeline: raw video never leaves the machine.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261-class vocabulary from the full INCLUDE corpus, not a 50-class subset.</a:t>
            </a: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520440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Live captions with confidence-gated correction chips (top-k alternatives).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A/B model switching per request — BiLSTM or CNN, no redeploy.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Research page reads metrics from disk; shows blanks when untrained.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Practice mode and reverse (English → sign) designed for Phase 2.</a:t>
            </a: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520440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Which sequence model actually suits isolated ISL signs — measured, not assumed.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Result: the CNN dominates, so long-range temporal modelling is not what these signs need.</a:t>
            </a:r>
          </a:p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1A1A1A"/>
                </a:solidFill>
                <a:latin typeface="Calibri"/>
              </a:rPr>
              <a:t>•  Also found: with ~11 clips/class, standard augmentation held the BiLSTM at chance.</a:t>
            </a: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Radha Krishna
CB.SC.U4CSE23134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End-to-end pipeline: MediaPipe Holistic landmark extraction over 4,284 INCLUDE clips (4,276 tensors, 0 failures); BiLSTM and 1D CNN implementation and training under an identical seed-42 stratified 70/15/15 split; evaluation (accuracy, macro/weighted F1, top-5, latency, confusion matrices); FastAPI inference server with per-request model switching; React front end wired to live webcam inference.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solidFill>
                            <a:srgbClr val="C00000"/>
                          </a:solidFill>
                          <a:latin typeface="Calibri"/>
                        </a:rPr>
                        <a:t>[ TO FILL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31</TotalTime>
  <Words>157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CSE</cp:lastModifiedBy>
  <cp:revision>8</cp:revision>
  <dcterms:created xsi:type="dcterms:W3CDTF">2026-08-20T08:53:47Z</dcterms:created>
  <dcterms:modified xsi:type="dcterms:W3CDTF">2026-08-20T09:27:58Z</dcterms:modified>
</cp:coreProperties>
</file>