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varScale="1">
        <p:scale>
          <a:sx n="48" d="100"/>
          <a:sy n="48" d="100"/>
        </p:scale>
        <p:origin x="67"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999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589706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74462" y="2889324"/>
            <a:ext cx="11220600" cy="16927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a:solidFill>
                  <a:srgbClr val="086072"/>
                </a:solidFill>
                <a:latin typeface="Times New Roman"/>
                <a:ea typeface="Times New Roman"/>
                <a:cs typeface="Times New Roman"/>
                <a:sym typeface="Times New Roman"/>
              </a:rPr>
              <a:t>Case study Review 1</a:t>
            </a:r>
            <a:endParaRPr sz="2400" b="1" i="0" u="none" strike="noStrike" cap="none">
              <a:solidFill>
                <a:srgbClr val="086072"/>
              </a:solidFill>
              <a:latin typeface="Times New Roman"/>
              <a:ea typeface="Times New Roman"/>
              <a:cs typeface="Times New Roman"/>
              <a:sym typeface="Times New Roman"/>
            </a:endParaRPr>
          </a:p>
          <a:p>
            <a:pPr algn="ctr"/>
            <a:r>
              <a:rPr lang="en-IN" sz="3200" b="1">
                <a:solidFill>
                  <a:srgbClr val="B6114D"/>
                </a:solidFill>
                <a:latin typeface="Times New Roman"/>
                <a:cs typeface="Times New Roman"/>
              </a:rPr>
              <a:t>Silent Voice</a:t>
            </a:r>
            <a:endParaRPr lang="en-IN" sz="3200" b="1" dirty="0">
              <a:solidFill>
                <a:srgbClr val="B6114D"/>
              </a:solidFill>
              <a:latin typeface="Times New Roman"/>
              <a:cs typeface="Times New Roman"/>
            </a:endParaRPr>
          </a:p>
        </p:txBody>
      </p:sp>
      <p:sp>
        <p:nvSpPr>
          <p:cNvPr id="5" name="TextBox 4">
            <a:extLst>
              <a:ext uri="{FF2B5EF4-FFF2-40B4-BE49-F238E27FC236}">
                <a16:creationId xmlns:a16="http://schemas.microsoft.com/office/drawing/2014/main" id="{A883D02C-DB3D-099F-38CA-F5552D0764C8}"/>
              </a:ext>
            </a:extLst>
          </p:cNvPr>
          <p:cNvSpPr txBox="1"/>
          <p:nvPr/>
        </p:nvSpPr>
        <p:spPr>
          <a:xfrm>
            <a:off x="183301" y="365450"/>
            <a:ext cx="11829144" cy="3851311"/>
          </a:xfrm>
          <a:prstGeom prst="rect">
            <a:avLst/>
          </a:prstGeom>
          <a:noFill/>
        </p:spPr>
        <p:txBody>
          <a:bodyPr wrap="square" lIns="91440" tIns="45720" rIns="91440" bIns="45720" anchor="ctr">
            <a:spAutoFit/>
          </a:bodyPr>
          <a:lstStyle/>
          <a:p>
            <a:pPr algn="ctr">
              <a:lnSpc>
                <a:spcPts val="10425"/>
              </a:lnSpc>
            </a:pPr>
            <a:r>
              <a:rPr lang="en-IN" sz="5000" b="1">
                <a:solidFill>
                  <a:srgbClr val="FF0000"/>
                </a:solidFill>
                <a:latin typeface="Calibri"/>
                <a:ea typeface="Calibri"/>
                <a:cs typeface="Calibri"/>
              </a:rPr>
              <a:t>23CSE461  </a:t>
            </a:r>
            <a:endParaRPr lang="en-US" dirty="0">
              <a:ea typeface="Calibri"/>
            </a:endParaRPr>
          </a:p>
          <a:p>
            <a:pPr algn="ctr">
              <a:lnSpc>
                <a:spcPts val="10425"/>
              </a:lnSpc>
            </a:pPr>
            <a:r>
              <a:rPr lang="en-IN" sz="4000" b="1">
                <a:solidFill>
                  <a:srgbClr val="FF0000"/>
                </a:solidFill>
                <a:latin typeface="Calibri"/>
                <a:ea typeface="Calibri"/>
                <a:cs typeface="Calibri"/>
              </a:rPr>
              <a:t>NEURAL NETWORKS AND DEEP LEARNING  </a:t>
            </a:r>
            <a:r>
              <a:rPr lang="en-IN" sz="3200" b="1" dirty="0">
                <a:solidFill>
                  <a:srgbClr val="FF0000"/>
                </a:solidFill>
                <a:latin typeface="Calibri"/>
                <a:ea typeface="Calibri"/>
                <a:cs typeface="Calibri"/>
              </a:rPr>
              <a:t> </a:t>
            </a:r>
            <a:endParaRPr lang="en-US"/>
          </a:p>
          <a:p>
            <a:pPr algn="just">
              <a:lnSpc>
                <a:spcPts val="10425"/>
              </a:lnSpc>
            </a:pPr>
            <a:endParaRPr lang="en-IN" sz="3200" b="1" i="0">
              <a:solidFill>
                <a:srgbClr val="FF0000"/>
              </a:solidFill>
              <a:effectLst/>
              <a:latin typeface="Perpetua Titling MT"/>
              <a:ea typeface="Calibri" panose="020F0502020204030204" pitchFamily="34" charset="0"/>
              <a:cs typeface="Calibri" panose="020F0502020204030204" pitchFamily="34" charset="0"/>
            </a:endParaRPr>
          </a:p>
        </p:txBody>
      </p:sp>
      <p:sp>
        <p:nvSpPr>
          <p:cNvPr id="3" name="Shape 1">
            <a:extLst>
              <a:ext uri="{FF2B5EF4-FFF2-40B4-BE49-F238E27FC236}">
                <a16:creationId xmlns:a16="http://schemas.microsoft.com/office/drawing/2014/main" id="{641AAA71-1F93-6F38-20BE-37251D24575F}"/>
              </a:ext>
            </a:extLst>
          </p:cNvPr>
          <p:cNvSpPr/>
          <p:nvPr/>
        </p:nvSpPr>
        <p:spPr>
          <a:xfrm>
            <a:off x="0" y="6139282"/>
            <a:ext cx="12191695" cy="718718"/>
          </a:xfrm>
          <a:prstGeom prst="rect">
            <a:avLst/>
          </a:prstGeom>
          <a:solidFill>
            <a:srgbClr val="B6114D"/>
          </a:solidFill>
          <a:ln/>
        </p:spPr>
        <p:txBody>
          <a:bodyPr/>
          <a:p/>
        </p:txBody>
      </p:sp>
      <p:pic>
        <p:nvPicPr>
          <p:cNvPr id="6" name="Image 0" descr="/home/claude/work/amrita_logo.png">
            <a:extLst>
              <a:ext uri="{FF2B5EF4-FFF2-40B4-BE49-F238E27FC236}">
                <a16:creationId xmlns:a16="http://schemas.microsoft.com/office/drawing/2014/main" id="{069E11D5-7BC0-54C6-E3CD-B49157843B22}"/>
              </a:ext>
            </a:extLst>
          </p:cNvPr>
          <p:cNvPicPr>
            <a:picLocks noChangeAspect="1"/>
          </p:cNvPicPr>
          <p:nvPr/>
        </p:nvPicPr>
        <p:blipFill>
          <a:blip r:embed="rId3"/>
          <a:stretch>
            <a:fillRect/>
          </a:stretch>
        </p:blipFill>
        <p:spPr>
          <a:xfrm>
            <a:off x="9891065" y="6165799"/>
            <a:ext cx="1935785" cy="618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331720"/>
            <a:ext cx="12191695" cy="365760"/>
          </a:xfrm>
          <a:prstGeom prst="rect">
            <a:avLst/>
          </a:prstGeom>
          <a:noFill/>
          <a:ln/>
        </p:spPr>
        <p:txBody>
          <a:bodyPr wrap="square" rtlCol="0" anchor="ctr"/>
          <a:lstStyle/>
          <a:p>
            <a:pPr marL="0" indent="0" algn="ctr">
              <a:buNone/>
            </a:pPr>
            <a:r>
              <a:rPr lang="en-US" sz="1300" b="1" kern="0" spc="200" dirty="0">
                <a:solidFill>
                  <a:srgbClr val="B6114D"/>
                </a:solidFill>
                <a:latin typeface="Calibri" pitchFamily="34" charset="0"/>
                <a:ea typeface="Calibri" pitchFamily="34" charset="-122"/>
                <a:cs typeface="Calibri" pitchFamily="34" charset="-120"/>
              </a:rPr>
              <a:t>INDIAN SIGN LANGUAGE  ↔  ENGLISH</a:t>
            </a:r>
            <a:endParaRPr lang="en-US" sz="1300" dirty="0"/>
          </a:p>
        </p:txBody>
      </p:sp>
      <p:sp>
        <p:nvSpPr>
          <p:cNvPr id="7" name="Text 3"/>
          <p:cNvSpPr/>
          <p:nvPr/>
        </p:nvSpPr>
        <p:spPr>
          <a:xfrm>
            <a:off x="0" y="2697480"/>
            <a:ext cx="12191695" cy="1188720"/>
          </a:xfrm>
          <a:prstGeom prst="rect">
            <a:avLst/>
          </a:prstGeom>
          <a:noFill/>
          <a:ln/>
        </p:spPr>
        <p:txBody>
          <a:bodyPr wrap="square" rtlCol="0" anchor="ctr"/>
          <a:lstStyle/>
          <a:p>
            <a:pPr marL="0" indent="0" algn="ctr">
              <a:buNone/>
            </a:pPr>
            <a:r>
              <a:rPr lang="en-US" sz="6000" b="1" dirty="0">
                <a:solidFill>
                  <a:srgbClr val="086072"/>
                </a:solidFill>
                <a:latin typeface="Cambria" pitchFamily="34" charset="0"/>
                <a:ea typeface="Cambria" pitchFamily="34" charset="-122"/>
                <a:cs typeface="Cambria" pitchFamily="34" charset="-120"/>
              </a:rPr>
              <a:t>Silent Voice</a:t>
            </a:r>
            <a:endParaRPr lang="en-US" sz="6000" dirty="0"/>
          </a:p>
        </p:txBody>
      </p:sp>
      <p:sp>
        <p:nvSpPr>
          <p:cNvPr id="8" name="Text 4"/>
          <p:cNvSpPr/>
          <p:nvPr/>
        </p:nvSpPr>
        <p:spPr>
          <a:xfrm>
            <a:off x="0" y="3794760"/>
            <a:ext cx="12191695" cy="548640"/>
          </a:xfrm>
          <a:prstGeom prst="rect">
            <a:avLst/>
          </a:prstGeom>
          <a:noFill/>
          <a:ln/>
        </p:spPr>
        <p:txBody>
          <a:bodyPr wrap="square" rtlCol="0" anchor="ctr"/>
          <a:lstStyle/>
          <a:p>
            <a:pPr marL="0" indent="0" algn="ctr">
              <a:buNone/>
            </a:pPr>
            <a:r>
              <a:rPr lang="en-US" sz="2200" i="1" dirty="0">
                <a:solidFill>
                  <a:srgbClr val="222222"/>
                </a:solidFill>
                <a:latin typeface="Cambria" pitchFamily="34" charset="0"/>
                <a:ea typeface="Cambria" pitchFamily="34" charset="-122"/>
                <a:cs typeface="Cambria" pitchFamily="34" charset="-120"/>
              </a:rPr>
              <a:t>"Every Sign Deserves to Be Heard."</a:t>
            </a:r>
            <a:endParaRPr lang="en-US" sz="2200" dirty="0"/>
          </a:p>
        </p:txBody>
      </p:sp>
      <p:sp>
        <p:nvSpPr>
          <p:cNvPr id="9" name="Text 5"/>
          <p:cNvSpPr/>
          <p:nvPr/>
        </p:nvSpPr>
        <p:spPr>
          <a:xfrm>
            <a:off x="0" y="5166360"/>
            <a:ext cx="12191695" cy="365760"/>
          </a:xfrm>
          <a:prstGeom prst="rect">
            <a:avLst/>
          </a:prstGeom>
          <a:noFill/>
          <a:ln/>
        </p:spPr>
        <p:txBody>
          <a:bodyPr wrap="square" rtlCol="0" anchor="ctr"/>
          <a:lstStyle/>
          <a:p>
            <a:pPr marL="0" indent="0" algn="ctr">
              <a:buNone/>
            </a:pPr>
            <a:r>
              <a:rPr lang="en-US" sz="1400" dirty="0">
                <a:solidFill>
                  <a:srgbClr val="5A5A5A"/>
                </a:solidFill>
                <a:latin typeface="Calibri" pitchFamily="34" charset="0"/>
                <a:ea typeface="Calibri" pitchFamily="34" charset="-122"/>
                <a:cs typeface="Calibri" pitchFamily="34" charset="-120"/>
              </a:rPr>
              <a:t>Case Study Review  •  Deep Learning Case Study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01</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Introduction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11480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real-time, browser-based, bidirectional translator between Indian Sign Language (ISL) and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Engineered accessibility-first: a deaf or hard-of-hearing signer stands in front of any laptop or phone webcam, and their signs are converted live into spoken English captions with text-to-speech.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Reverse mode: a non-signer speaks or types, and the system replays the response as cinematic ISL sign clips.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Pipeline: Webcam → landmark skeletons (MediaPipe, client-side) → deep-learning sequence model (PyTorch) → ISL gloss → NLP layer → natural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Privacy-preserving by design — no raw video ever leaves the browser.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02</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Problem Statement</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691640"/>
            <a:ext cx="10424160" cy="1051560"/>
          </a:xfrm>
          <a:prstGeom prst="rect">
            <a:avLst/>
          </a:prstGeom>
          <a:solidFill>
            <a:srgbClr val="B6114D"/>
          </a:solidFill>
          <a:ln/>
        </p:spPr>
        <p:txBody>
          <a:bodyPr/>
          <a:p/>
        </p:txBody>
      </p:sp>
      <p:sp>
        <p:nvSpPr>
          <p:cNvPr id="8" name="Text 5"/>
          <p:cNvSpPr/>
          <p:nvPr/>
        </p:nvSpPr>
        <p:spPr>
          <a:xfrm>
            <a:off x="822960" y="1691640"/>
            <a:ext cx="2377440" cy="10515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63M+</a:t>
            </a:r>
            <a:endParaRPr lang="en-US" sz="3400" dirty="0"/>
          </a:p>
        </p:txBody>
      </p:sp>
      <p:sp>
        <p:nvSpPr>
          <p:cNvPr id="9" name="Text 6"/>
          <p:cNvSpPr/>
          <p:nvPr/>
        </p:nvSpPr>
        <p:spPr>
          <a:xfrm>
            <a:off x="3291840" y="1691640"/>
            <a:ext cx="7498080" cy="10515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Indians live with disabling hearing loss, and ISL is their primary language.</a:t>
            </a:r>
            <a:endParaRPr lang="en-US" sz="1500" dirty="0"/>
          </a:p>
        </p:txBody>
      </p:sp>
      <p:sp>
        <p:nvSpPr>
          <p:cNvPr id="10" name="Text 7"/>
          <p:cNvSpPr/>
          <p:nvPr/>
        </p:nvSpPr>
        <p:spPr>
          <a:xfrm>
            <a:off x="594360" y="3063240"/>
            <a:ext cx="10424160" cy="2834640"/>
          </a:xfrm>
          <a:prstGeom prst="rect">
            <a:avLst/>
          </a:prstGeom>
          <a:noFill/>
          <a:ln/>
        </p:spPr>
        <p:txBody>
          <a:bodyPr wrap="square" rtlCol="0" anchor="ctr"/>
          <a:lstStyle/>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India has fewer than ~300 certified ISL interpreters, and no standardized ISL script.</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Virtually no real-time digital translation tools are tailored to Indian Sign Language.</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Existing solutions are almost entirely ASL-focused, require expensive multi-camera hardware, work offline in batch mode, or capture and upload raw video (a privacy risk).</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Result: a persistent communication gap in classrooms, hospitals, government offices, and workplaces — leading to educational, medical, and economic exclusion.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03</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Motivation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~63M+ Indians rely on ISL; the interpreter-to-user ratio is catastrophically low.</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Existing sign-language products are ASL-biased, hardware-heavy, or one-way only.</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Recent advances (MediaPipe Holistic, small transformers, browser-side inference) make privacy-preserving real-time translation viable for the first time on commodity devices.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landmark-based approach removes the need for GPUs, expensive cameras, or cloud video upload.</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Building an open, browser-native, bidirectional ISL tool directly addresses inclusion in education, healthcare, and civic services.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04</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Research Questions &amp; Gaps Addressed</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00200"/>
            <a:ext cx="5120640" cy="320040"/>
          </a:xfrm>
          <a:prstGeom prst="rect">
            <a:avLst/>
          </a:prstGeom>
          <a:noFill/>
          <a:ln/>
        </p:spPr>
        <p:txBody>
          <a:bodyPr wrap="square" rtlCol="0" anchor="ctr"/>
          <a:lstStyle/>
          <a:p>
            <a:pPr marL="0" indent="0">
              <a:buNone/>
            </a:pPr>
            <a:r>
              <a:rPr lang="en-US" sz="1300" b="1" kern="0" spc="150" dirty="0">
                <a:solidFill>
                  <a:srgbClr val="B6114D"/>
                </a:solidFill>
                <a:latin typeface="Calibri" pitchFamily="34" charset="0"/>
                <a:ea typeface="Calibri" pitchFamily="34" charset="-122"/>
                <a:cs typeface="Calibri" pitchFamily="34" charset="-120"/>
              </a:rPr>
              <a:t>RESEARCH QUESTIONS</a:t>
            </a:r>
            <a:endParaRPr lang="en-US" sz="1300" dirty="0"/>
          </a:p>
        </p:txBody>
      </p:sp>
      <p:sp>
        <p:nvSpPr>
          <p:cNvPr id="8" name="Text 5"/>
          <p:cNvSpPr/>
          <p:nvPr/>
        </p:nvSpPr>
        <p:spPr>
          <a:xfrm>
            <a:off x="594360" y="1965960"/>
            <a:ext cx="5257800" cy="3931920"/>
          </a:xfrm>
          <a:prstGeom prst="rect">
            <a:avLst/>
          </a:prstGeom>
          <a:noFill/>
          <a:ln/>
        </p:spPr>
        <p:txBody>
          <a:bodyPr wrap="square" rtlCol="0" anchor="ctr"/>
          <a:lstStyle/>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landmark-based sequence models (BiLSTM vs 1D CNN) achieve sub-100ms ISL recognition on commodity hardware?</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reliably can we bridge ISL gloss (SOV) → natural English (SVO) using an LLM + rule hybrid on limited data?</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the entire pipeline stay privacy-preserving with no raw video leaving the client?</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do we make a bidirectional system usable in practice (correction UX, TTS/STT, reverse playback)?</a:t>
            </a:r>
            <a:endParaRPr lang="en-US" sz="1350" dirty="0"/>
          </a:p>
        </p:txBody>
      </p:sp>
      <p:sp>
        <p:nvSpPr>
          <p:cNvPr id="9" name="Shape 6"/>
          <p:cNvSpPr/>
          <p:nvPr/>
        </p:nvSpPr>
        <p:spPr>
          <a:xfrm>
            <a:off x="6080760" y="1691640"/>
            <a:ext cx="0" cy="4206240"/>
          </a:xfrm>
          <a:prstGeom prst="line">
            <a:avLst/>
          </a:prstGeom>
          <a:noFill/>
          <a:ln w="15875">
            <a:solidFill>
              <a:srgbClr val="DDDDDD"/>
            </a:solidFill>
            <a:prstDash val="solid"/>
          </a:ln>
        </p:spPr>
        <p:txBody>
          <a:bodyPr/>
          <a:p/>
        </p:txBody>
      </p:sp>
      <p:sp>
        <p:nvSpPr>
          <p:cNvPr id="10" name="Text 7"/>
          <p:cNvSpPr/>
          <p:nvPr/>
        </p:nvSpPr>
        <p:spPr>
          <a:xfrm>
            <a:off x="6355080" y="1600200"/>
            <a:ext cx="5212080" cy="320040"/>
          </a:xfrm>
          <a:prstGeom prst="rect">
            <a:avLst/>
          </a:prstGeom>
          <a:noFill/>
          <a:ln/>
        </p:spPr>
        <p:txBody>
          <a:bodyPr wrap="square" rtlCol="0" anchor="ctr"/>
          <a:lstStyle/>
          <a:p>
            <a:pPr marL="0" indent="0">
              <a:buNone/>
            </a:pPr>
            <a:r>
              <a:rPr lang="en-US" sz="1300" b="1" kern="0" spc="150" dirty="0">
                <a:solidFill>
                  <a:srgbClr val="086072"/>
                </a:solidFill>
                <a:latin typeface="Calibri" pitchFamily="34" charset="0"/>
                <a:ea typeface="Calibri" pitchFamily="34" charset="-122"/>
                <a:cs typeface="Calibri" pitchFamily="34" charset="-120"/>
              </a:rPr>
              <a:t>GAPS IN PRIOR WORK</a:t>
            </a:r>
            <a:endParaRPr lang="en-US" sz="1300" dirty="0"/>
          </a:p>
        </p:txBody>
      </p:sp>
      <p:sp>
        <p:nvSpPr>
          <p:cNvPr id="11" name="Text 8"/>
          <p:cNvSpPr/>
          <p:nvPr/>
        </p:nvSpPr>
        <p:spPr>
          <a:xfrm>
            <a:off x="6355080" y="1965960"/>
            <a:ext cx="5257800" cy="3931920"/>
          </a:xfrm>
          <a:prstGeom prst="rect">
            <a:avLst/>
          </a:prstGeom>
          <a:noFill/>
          <a:ln/>
        </p:spPr>
        <p:txBody>
          <a:bodyPr wrap="square" rtlCol="0" anchor="ctr"/>
          <a:lstStyle/>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Most published ISL work targets isolated-sign or one-way (ISL→text) recognition, not a shipped bidirectional pipeline.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Real-time spoken-to-ISL translation — the reverse direction — is repeatedly flagged in current literature as still unavailable.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hybrid NLP layer (LLM + rule-based fallback) publicly documented for gloss ↔ English on ISL.</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exposes a live A/B model switch (BiLSTM vs 1D CNN) for continuous evaluation.</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combines privacy-first client-side landmarking + reverse mode + practice mode in one bundle (see slide 5.1 for a direct comparison).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Related Products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4206237"/>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600891">
                <a:tc>
                  <a:txBody>
                    <a:bodyPr/>
                    <a:lstStyle/>
                    <a:p>
                      <a:pPr marL="0" indent="0" algn="ctr">
                        <a:buNone/>
                      </a:pPr>
                      <a:r>
                        <a:rPr lang="en-US" sz="1200" b="1" dirty="0">
                          <a:solidFill>
                            <a:srgbClr val="FFFFFF"/>
                          </a:solidFill>
                        </a:rPr>
                        <a:t>Product</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URL</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Features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Limitations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600891">
                <a:tc>
                  <a:txBody>
                    <a:bodyPr/>
                    <a:lstStyle/>
                    <a:p>
                      <a:pPr marL="0" indent="0" algn="l">
                        <a:buNone/>
                      </a:pPr>
                      <a:r>
                        <a:rPr lang="en-US" sz="1050" b="1" dirty="0">
                          <a:solidFill>
                            <a:srgbClr val="222222"/>
                          </a:solidFill>
                        </a:rPr>
                        <a:t>Google Live 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g.co/livetranscribe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Real-time speech → text captions on Android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Audio-only, does not handle sign language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0891">
                <a:tc>
                  <a:txBody>
                    <a:bodyPr/>
                    <a:lstStyle/>
                    <a:p>
                      <a:pPr marL="0" indent="0" algn="l">
                        <a:buNone/>
                      </a:pPr>
                      <a:r>
                        <a:rPr lang="en-US" sz="1050" b="1" dirty="0">
                          <a:solidFill>
                            <a:srgbClr val="222222"/>
                          </a:solidFill>
                        </a:rPr>
                        <a:t>Ava</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ava.me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Live captioning for group conversations, multi-speaker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Audio-only, no ISL/ASL support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600891">
                <a:tc>
                  <a:txBody>
                    <a:bodyPr/>
                    <a:lstStyle/>
                    <a:p>
                      <a:pPr marL="0" indent="0" algn="l">
                        <a:buNone/>
                      </a:pPr>
                      <a:r>
                        <a:rPr lang="en-US" sz="1050" b="1" dirty="0">
                          <a:solidFill>
                            <a:srgbClr val="222222"/>
                          </a:solidFill>
                        </a:rPr>
                        <a:t>SignAll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signall.us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 English translation using multi-camera rig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only, expensive hardware, not browser-based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0891">
                <a:tc>
                  <a:txBody>
                    <a:bodyPr/>
                    <a:lstStyle/>
                    <a:p>
                      <a:pPr marL="0" indent="0" algn="l">
                        <a:buNone/>
                      </a:pPr>
                      <a:r>
                        <a:rPr lang="en-US" sz="1050" b="1" dirty="0">
                          <a:solidFill>
                            <a:srgbClr val="222222"/>
                          </a:solidFill>
                        </a:rPr>
                        <a:t>Hand Talk</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handtalk.me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Text/audio → animated sign avatar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Supports Libras/ASL only, one-way (no sign→text)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600891">
                <a:tc>
                  <a:txBody>
                    <a:bodyPr/>
                    <a:lstStyle/>
                    <a:p>
                      <a:pPr marL="0" indent="0" algn="l">
                        <a:buNone/>
                      </a:pPr>
                      <a:r>
                        <a:rPr lang="en-US" sz="1050" b="1" dirty="0">
                          <a:solidFill>
                            <a:srgbClr val="222222"/>
                          </a:solidFill>
                        </a:rPr>
                        <a:t>KinTrans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kintrans.com</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Kiosk-based sign-to-speech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Hardware kiosk, not ISL, not real-time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0891">
                <a:tc>
                  <a:txBody>
                    <a:bodyPr/>
                    <a:lstStyle/>
                    <a:p>
                      <a:pPr marL="0" indent="0" algn="l">
                        <a:buNone/>
                      </a:pPr>
                      <a:r>
                        <a:rPr lang="en-US" sz="1050" b="1" dirty="0">
                          <a:solidFill>
                            <a:srgbClr val="222222"/>
                          </a:solidFill>
                        </a:rPr>
                        <a:t>SLAIT 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slait.ai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Browser-based ASL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ASL only, closed-source, limited vocabulary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05.1 — HONEST COMPARISON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Where Silent Voice Actually Stands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023362"/>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74766">
                <a:tc>
                  <a:txBody>
                    <a:bodyPr/>
                    <a:lstStyle/>
                    <a:p>
                      <a:pPr marL="0" indent="0" algn="ctr">
                        <a:buNone/>
                      </a:pPr>
                      <a:r>
                        <a:rPr lang="en-US" sz="1150" b="1" dirty="0">
                          <a:solidFill>
                            <a:srgbClr val="FFFFFF"/>
                          </a:solidFill>
                        </a:rPr>
                        <a:t>Capability</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Ishaara (live tool)</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2025 academic ISL papers</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Silent Voice</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574766">
                <a:tc>
                  <a:txBody>
                    <a:bodyPr/>
                    <a:lstStyle/>
                    <a:p>
                      <a:pPr marL="0" indent="0">
                        <a:buNone/>
                      </a:pPr>
                      <a:r>
                        <a:rPr lang="en-US" sz="1050" b="1" dirty="0">
                          <a:solidFill>
                            <a:srgbClr val="222222"/>
                          </a:solidFill>
                        </a:rPr>
                        <a:t>Direction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ISL → text only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Usually ISL → text, small custom datasets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Bidirectional: ISL ↔ English</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4766">
                <a:tc>
                  <a:txBody>
                    <a:bodyPr/>
                    <a:lstStyle/>
                    <a:p>
                      <a:pPr marL="0" indent="0">
                        <a:buNone/>
                      </a:pPr>
                      <a:r>
                        <a:rPr lang="en-US" sz="1050" b="1" dirty="0">
                          <a:solidFill>
                            <a:srgbClr val="222222"/>
                          </a:solidFill>
                        </a:rPr>
                        <a:t>Runs in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Rarely — mostly research code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574766">
                <a:tc>
                  <a:txBody>
                    <a:bodyPr/>
                    <a:lstStyle/>
                    <a:p>
                      <a:pPr marL="0" indent="0">
                        <a:buNone/>
                      </a:pPr>
                      <a:r>
                        <a:rPr lang="en-US" sz="1050" b="1" dirty="0">
                          <a:solidFill>
                            <a:srgbClr val="222222"/>
                          </a:solidFill>
                        </a:rPr>
                        <a:t>Raw video leaves device?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publicly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Often yes, for local training/processing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 — landmarks only, by design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4766">
                <a:tc>
                  <a:txBody>
                    <a:bodyPr/>
                    <a:lstStyle/>
                    <a:p>
                      <a:pPr marL="0" indent="0">
                        <a:buNone/>
                      </a:pPr>
                      <a:r>
                        <a:rPr lang="en-US" sz="1050" b="1" dirty="0">
                          <a:solidFill>
                            <a:srgbClr val="222222"/>
                          </a:solidFill>
                        </a:rPr>
                        <a:t>Model transparency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not disclosed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per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Dual model (BiLSTM vs Transformer), live A/B</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574766">
                <a:tc>
                  <a:txBody>
                    <a:bodyPr/>
                    <a:lstStyle/>
                    <a:p>
                      <a:pPr marL="0" indent="0">
                        <a:buNone/>
                      </a:pPr>
                      <a:r>
                        <a:rPr lang="en-US" sz="1050" b="1" dirty="0">
                          <a:solidFill>
                            <a:srgbClr val="222222"/>
                          </a:solidFill>
                        </a:rPr>
                        <a:t>Correction / practice UX</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Confidence-based correction chips + practice mode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4766">
                <a:tc>
                  <a:txBody>
                    <a:bodyPr/>
                    <a:lstStyle/>
                    <a:p>
                      <a:pPr marL="0" indent="0">
                        <a:buNone/>
                      </a:pPr>
                      <a:r>
                        <a:rPr lang="en-US" sz="1050" b="1" dirty="0">
                          <a:solidFill>
                            <a:srgbClr val="222222"/>
                          </a:solidFill>
                        </a:rPr>
                        <a:t>Status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Live web tool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Research prototype /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Case study prototype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
        <p:nvSpPr>
          <p:cNvPr id="7" name="Text 4"/>
          <p:cNvSpPr/>
          <p:nvPr/>
        </p:nvSpPr>
        <p:spPr>
          <a:xfrm>
            <a:off x="502920" y="5806440"/>
            <a:ext cx="11155680" cy="274320"/>
          </a:xfrm>
          <a:prstGeom prst="rect">
            <a:avLst/>
          </a:prstGeom>
          <a:noFill/>
          <a:ln/>
        </p:spPr>
        <p:txBody>
          <a:bodyPr wrap="square" rtlCol="0" anchor="ctr"/>
          <a:lstStyle/>
          <a:p>
            <a:pPr marL="0" indent="0">
              <a:buNone/>
            </a:pPr>
            <a:r>
              <a:rPr lang="en-US" sz="1050" i="1" dirty="0">
                <a:solidFill>
                  <a:srgbClr val="5A5A5A"/>
                </a:solidFill>
                <a:latin typeface="Calibri" pitchFamily="34" charset="0"/>
                <a:ea typeface="Calibri" pitchFamily="34" charset="-122"/>
                <a:cs typeface="Calibri" pitchFamily="34" charset="-120"/>
              </a:rPr>
              <a:t>Ishaara is a real, live browser tool — it is one-directional (ISL → text) and does not appear to publish its privacy model or offer model comparison.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05.2 — POSITIONING</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Why We Built This Anyway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60704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Ishaara solves half the problem — reading ISL gestures into text. It does not translate back into ISL, compare models, or publish how it protects video privacy.</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Published 2025 ISL research (IJRASET, IEEE) confirms the field is still at prototype stage: small custom datasets, one-way recognition, not shipped as products.</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Our original “first ever” framing was inflated. The honest, narrower gap: we found no system that combines bidirectional translation + browser-only privacy-preserving inference + a transparent dual-model comparison + a way to correct mistakes + a way to learn ISL, in one tool.</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Real-time spoken-to-ISL — the reverse direction — is explicitly flagged in current literature as still unavailable. That is the harder, less-solved half of the problem, and where this project spends most of its effort.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05.3 — DESIGN QUESTION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Is Reverse Mode Worth Building?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572768"/>
            <a:ext cx="10424160" cy="658368"/>
          </a:xfrm>
          <a:prstGeom prst="rect">
            <a:avLst/>
          </a:prstGeom>
          <a:solidFill>
            <a:srgbClr val="F7F4F5"/>
          </a:solidFill>
          <a:ln w="12700">
            <a:solidFill>
              <a:srgbClr val="B6114D"/>
            </a:solidFill>
            <a:prstDash val="solid"/>
          </a:ln>
        </p:spPr>
        <p:txBody>
          <a:bodyPr/>
          <a:p/>
        </p:txBody>
      </p:sp>
      <p:sp>
        <p:nvSpPr>
          <p:cNvPr id="8" name="Text 5"/>
          <p:cNvSpPr/>
          <p:nvPr/>
        </p:nvSpPr>
        <p:spPr>
          <a:xfrm>
            <a:off x="822960" y="1572768"/>
            <a:ext cx="9966960" cy="658368"/>
          </a:xfrm>
          <a:prstGeom prst="rect">
            <a:avLst/>
          </a:prstGeom>
          <a:noFill/>
          <a:ln/>
        </p:spPr>
        <p:txBody>
          <a:bodyPr wrap="square" rtlCol="0" anchor="ctr"/>
          <a:lstStyle/>
          <a:p>
            <a:pPr marL="0" indent="0">
              <a:lnSpc>
                <a:spcPct val="105000"/>
              </a:lnSpc>
              <a:buNone/>
            </a:pPr>
            <a:r>
              <a:rPr lang="en-US" sz="1250" b="1" dirty="0">
                <a:solidFill>
                  <a:srgbClr val="B6114D"/>
                </a:solidFill>
                <a:latin typeface="Calibri" pitchFamily="34" charset="0"/>
                <a:ea typeface="Calibri" pitchFamily="34" charset="-122"/>
                <a:cs typeface="Calibri" pitchFamily="34" charset="-120"/>
              </a:rPr>
              <a:t>The objection: </a:t>
            </a:r>
            <a:r>
              <a:rPr lang="en-US" sz="1250" i="1" dirty="0">
                <a:solidFill>
                  <a:srgbClr val="222222"/>
                </a:solidFill>
                <a:latin typeface="Calibri" pitchFamily="34" charset="0"/>
                <a:ea typeface="Calibri" pitchFamily="34" charset="-122"/>
                <a:cs typeface="Calibri" pitchFamily="34" charset="-120"/>
              </a:rPr>
              <a:t>Deaf signers can read — so why not just type English and show the screen, instead of building sign-clip generation?</a:t>
            </a:r>
            <a:endParaRPr lang="en-US" sz="1250" dirty="0"/>
          </a:p>
        </p:txBody>
      </p:sp>
      <p:sp>
        <p:nvSpPr>
          <p:cNvPr id="9" name="Shape 6"/>
          <p:cNvSpPr/>
          <p:nvPr/>
        </p:nvSpPr>
        <p:spPr>
          <a:xfrm>
            <a:off x="59436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0" name="Shape 7"/>
          <p:cNvSpPr/>
          <p:nvPr/>
        </p:nvSpPr>
        <p:spPr>
          <a:xfrm>
            <a:off x="594360" y="2377440"/>
            <a:ext cx="73152" cy="1207008"/>
          </a:xfrm>
          <a:prstGeom prst="rect">
            <a:avLst/>
          </a:prstGeom>
          <a:solidFill>
            <a:srgbClr val="B6114D"/>
          </a:solidFill>
          <a:ln/>
        </p:spPr>
        <p:txBody>
          <a:bodyPr/>
          <a:p/>
        </p:txBody>
      </p:sp>
      <p:sp>
        <p:nvSpPr>
          <p:cNvPr id="11" name="Text 8"/>
          <p:cNvSpPr/>
          <p:nvPr/>
        </p:nvSpPr>
        <p:spPr>
          <a:xfrm>
            <a:off x="86868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ISL is not signed English</a:t>
            </a:r>
            <a:endParaRPr lang="en-US" sz="1250" dirty="0"/>
          </a:p>
        </p:txBody>
      </p:sp>
      <p:sp>
        <p:nvSpPr>
          <p:cNvPr id="12" name="Text 9"/>
          <p:cNvSpPr/>
          <p:nvPr/>
        </p:nvSpPr>
        <p:spPr>
          <a:xfrm>
            <a:off x="86868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has its own grammar and word order (SOV, non-manual markers). Typed English text is a second language for many ISL signers, not a transcript of their first language.</a:t>
            </a:r>
            <a:endParaRPr lang="en-US" sz="1000" dirty="0"/>
          </a:p>
        </p:txBody>
      </p:sp>
      <p:sp>
        <p:nvSpPr>
          <p:cNvPr id="13" name="Shape 10"/>
          <p:cNvSpPr/>
          <p:nvPr/>
        </p:nvSpPr>
        <p:spPr>
          <a:xfrm>
            <a:off x="598932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4" name="Shape 11"/>
          <p:cNvSpPr/>
          <p:nvPr/>
        </p:nvSpPr>
        <p:spPr>
          <a:xfrm>
            <a:off x="5989320" y="2377440"/>
            <a:ext cx="73152" cy="1207008"/>
          </a:xfrm>
          <a:prstGeom prst="rect">
            <a:avLst/>
          </a:prstGeom>
          <a:solidFill>
            <a:srgbClr val="B6114D"/>
          </a:solidFill>
          <a:ln/>
        </p:spPr>
        <p:txBody>
          <a:bodyPr/>
          <a:p/>
        </p:txBody>
      </p:sp>
      <p:sp>
        <p:nvSpPr>
          <p:cNvPr id="15" name="Text 12"/>
          <p:cNvSpPr/>
          <p:nvPr/>
        </p:nvSpPr>
        <p:spPr>
          <a:xfrm>
            <a:off x="626364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Literacy is not guaranteed</a:t>
            </a:r>
            <a:endParaRPr lang="en-US" sz="1250" dirty="0"/>
          </a:p>
        </p:txBody>
      </p:sp>
      <p:sp>
        <p:nvSpPr>
          <p:cNvPr id="16" name="Text 13"/>
          <p:cNvSpPr/>
          <p:nvPr/>
        </p:nvSpPr>
        <p:spPr>
          <a:xfrm>
            <a:off x="626364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Deaf literacy in India has historically been very low, and language deprivation from limited early ISL exposure remains a documented, ongoing problem — so “just type it” quietly assumes fluency not everyone has.</a:t>
            </a:r>
            <a:endParaRPr lang="en-US" sz="1000" dirty="0"/>
          </a:p>
        </p:txBody>
      </p:sp>
      <p:sp>
        <p:nvSpPr>
          <p:cNvPr id="17" name="Shape 14"/>
          <p:cNvSpPr/>
          <p:nvPr/>
        </p:nvSpPr>
        <p:spPr>
          <a:xfrm>
            <a:off x="59436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8" name="Shape 15"/>
          <p:cNvSpPr/>
          <p:nvPr/>
        </p:nvSpPr>
        <p:spPr>
          <a:xfrm>
            <a:off x="594360" y="3730752"/>
            <a:ext cx="73152" cy="1207008"/>
          </a:xfrm>
          <a:prstGeom prst="rect">
            <a:avLst/>
          </a:prstGeom>
          <a:solidFill>
            <a:srgbClr val="B6114D"/>
          </a:solidFill>
          <a:ln/>
        </p:spPr>
        <p:txBody>
          <a:bodyPr/>
          <a:p/>
        </p:txBody>
      </p:sp>
      <p:sp>
        <p:nvSpPr>
          <p:cNvPr id="19" name="Text 16"/>
          <p:cNvSpPr/>
          <p:nvPr/>
        </p:nvSpPr>
        <p:spPr>
          <a:xfrm>
            <a:off x="868680" y="3803904"/>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Typing back is one-sided</a:t>
            </a:r>
            <a:endParaRPr lang="en-US" sz="1250" dirty="0"/>
          </a:p>
        </p:txBody>
      </p:sp>
      <p:sp>
        <p:nvSpPr>
          <p:cNvPr id="20" name="Text 17"/>
          <p:cNvSpPr/>
          <p:nvPr/>
        </p:nvSpPr>
        <p:spPr>
          <a:xfrm>
            <a:off x="86868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outsources the translation effort to the Deaf person every single time — not a natural two-way conversation.</a:t>
            </a:r>
            <a:endParaRPr lang="en-US" sz="1000" dirty="0"/>
          </a:p>
        </p:txBody>
      </p:sp>
      <p:sp>
        <p:nvSpPr>
          <p:cNvPr id="21" name="Shape 18"/>
          <p:cNvSpPr/>
          <p:nvPr/>
        </p:nvSpPr>
        <p:spPr>
          <a:xfrm>
            <a:off x="598932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2" name="Shape 19"/>
          <p:cNvSpPr/>
          <p:nvPr/>
        </p:nvSpPr>
        <p:spPr>
          <a:xfrm>
            <a:off x="5989320" y="3730752"/>
            <a:ext cx="73152" cy="1207008"/>
          </a:xfrm>
          <a:prstGeom prst="rect">
            <a:avLst/>
          </a:prstGeom>
          <a:solidFill>
            <a:srgbClr val="086072"/>
          </a:solidFill>
          <a:ln/>
        </p:spPr>
        <p:txBody>
          <a:bodyPr/>
          <a:p/>
        </p:txBody>
      </p:sp>
      <p:sp>
        <p:nvSpPr>
          <p:cNvPr id="23" name="Text 20"/>
          <p:cNvSpPr/>
          <p:nvPr/>
        </p:nvSpPr>
        <p:spPr>
          <a:xfrm>
            <a:off x="6263640" y="3803904"/>
            <a:ext cx="4663440" cy="292608"/>
          </a:xfrm>
          <a:prstGeom prst="rect">
            <a:avLst/>
          </a:prstGeom>
          <a:noFill/>
          <a:ln/>
        </p:spPr>
        <p:txBody>
          <a:bodyPr wrap="square" rtlCol="0" anchor="ctr"/>
          <a:lstStyle/>
          <a:p>
            <a:pPr marL="0" indent="0">
              <a:buNone/>
            </a:pPr>
            <a:r>
              <a:rPr lang="en-US" sz="1250" b="1" dirty="0">
                <a:solidFill>
                  <a:srgbClr val="086072"/>
                </a:solidFill>
                <a:latin typeface="Calibri" pitchFamily="34" charset="0"/>
                <a:ea typeface="Calibri" pitchFamily="34" charset="-122"/>
                <a:cs typeface="Calibri" pitchFamily="34" charset="-120"/>
              </a:rPr>
              <a:t>But it's genuinely the hardest part</a:t>
            </a:r>
            <a:endParaRPr lang="en-US" sz="1250" dirty="0"/>
          </a:p>
        </p:txBody>
      </p:sp>
      <p:sp>
        <p:nvSpPr>
          <p:cNvPr id="24" name="Text 21"/>
          <p:cNvSpPr/>
          <p:nvPr/>
        </p:nvSpPr>
        <p:spPr>
          <a:xfrm>
            <a:off x="626364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Gloss reordering, clip/avatar coverage, and vocabulary breadth make reverse mode the highest-effort, highest-risk piece of the pipeline.</a:t>
            </a:r>
            <a:endParaRPr lang="en-US" sz="1000" dirty="0"/>
          </a:p>
        </p:txBody>
      </p:sp>
      <p:sp>
        <p:nvSpPr>
          <p:cNvPr id="25" name="Text 22"/>
          <p:cNvSpPr/>
          <p:nvPr/>
        </p:nvSpPr>
        <p:spPr>
          <a:xfrm>
            <a:off x="594360" y="5687568"/>
            <a:ext cx="10607040" cy="384048"/>
          </a:xfrm>
          <a:prstGeom prst="rect">
            <a:avLst/>
          </a:prstGeom>
          <a:noFill/>
          <a:ln/>
        </p:spPr>
        <p:txBody>
          <a:bodyPr wrap="square" rtlCol="0" anchor="ctr"/>
          <a:lstStyle/>
          <a:p>
            <a:pPr marL="0" indent="0">
              <a:lnSpc>
                <a:spcPct val="105000"/>
              </a:lnSpc>
              <a:buNone/>
            </a:pPr>
            <a:r>
              <a:rPr lang="en-US" sz="1050" b="1" dirty="0">
                <a:solidFill>
                  <a:srgbClr val="086072"/>
                </a:solidFill>
                <a:latin typeface="Calibri" pitchFamily="34" charset="0"/>
                <a:ea typeface="Calibri" pitchFamily="34" charset="-122"/>
                <a:cs typeface="Calibri" pitchFamily="34" charset="-120"/>
              </a:rPr>
              <a:t>Recommendation: </a:t>
            </a:r>
            <a:r>
              <a:rPr lang="en-US" sz="1050" dirty="0">
                <a:solidFill>
                  <a:srgbClr val="222222"/>
                </a:solidFill>
                <a:latin typeface="Calibri" pitchFamily="34" charset="0"/>
                <a:ea typeface="Calibri" pitchFamily="34" charset="-122"/>
                <a:cs typeface="Calibri" pitchFamily="34" charset="-120"/>
              </a:rPr>
              <a:t>keep reverse mode — it targets the real, still-unsolved half of the problem — but treat forward mode (ISL→English) as the MVP to ship first, with reverse mode as a phase-2 differentiator rather than a launch blocker.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06.1 — SDGS IDENTIFIED</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8" name="Shape 5"/>
          <p:cNvSpPr/>
          <p:nvPr/>
        </p:nvSpPr>
        <p:spPr>
          <a:xfrm>
            <a:off x="1325880" y="2331720"/>
            <a:ext cx="1005840" cy="1005840"/>
          </a:xfrm>
          <a:prstGeom prst="line">
            <a:avLst/>
          </a:prstGeom>
          <a:solidFill>
            <a:srgbClr val="B6114D"/>
          </a:solidFill>
          <a:ln/>
        </p:spPr>
        <p:txBody>
          <a:bodyPr/>
          <a:p/>
        </p:txBody>
      </p:sp>
      <p:sp>
        <p:nvSpPr>
          <p:cNvPr id="9" name="Text 6"/>
          <p:cNvSpPr/>
          <p:nvPr/>
        </p:nvSpPr>
        <p:spPr>
          <a:xfrm>
            <a:off x="1325880"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0" name="Text 7"/>
          <p:cNvSpPr/>
          <p:nvPr/>
        </p:nvSpPr>
        <p:spPr>
          <a:xfrm>
            <a:off x="731520"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1" name="Text 8"/>
          <p:cNvSpPr/>
          <p:nvPr/>
        </p:nvSpPr>
        <p:spPr>
          <a:xfrm>
            <a:off x="731520"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10</a:t>
            </a:r>
            <a:endParaRPr lang="en-US" sz="1500" dirty="0"/>
          </a:p>
        </p:txBody>
      </p:sp>
      <p:sp>
        <p:nvSpPr>
          <p:cNvPr id="12" name="Text 9"/>
          <p:cNvSpPr/>
          <p:nvPr/>
        </p:nvSpPr>
        <p:spPr>
          <a:xfrm>
            <a:off x="777240"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Reduced Inequalities</a:t>
            </a:r>
            <a:endParaRPr lang="en-US" sz="1300" dirty="0"/>
          </a:p>
        </p:txBody>
      </p:sp>
      <p:sp>
        <p:nvSpPr>
          <p:cNvPr id="13" name="Shape 10"/>
          <p:cNvSpPr/>
          <p:nvPr/>
        </p:nvSpPr>
        <p:spPr>
          <a:xfrm>
            <a:off x="3319272"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14" name="Shape 11"/>
          <p:cNvSpPr/>
          <p:nvPr/>
        </p:nvSpPr>
        <p:spPr>
          <a:xfrm>
            <a:off x="4050792" y="2331720"/>
            <a:ext cx="1005840" cy="1005840"/>
          </a:xfrm>
          <a:prstGeom prst="line">
            <a:avLst/>
          </a:prstGeom>
          <a:solidFill>
            <a:srgbClr val="B6114D"/>
          </a:solidFill>
          <a:ln/>
        </p:spPr>
        <p:txBody>
          <a:bodyPr/>
          <a:p/>
        </p:txBody>
      </p:sp>
      <p:sp>
        <p:nvSpPr>
          <p:cNvPr id="15" name="Text 12"/>
          <p:cNvSpPr/>
          <p:nvPr/>
        </p:nvSpPr>
        <p:spPr>
          <a:xfrm>
            <a:off x="4050792"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6" name="Text 13"/>
          <p:cNvSpPr/>
          <p:nvPr/>
        </p:nvSpPr>
        <p:spPr>
          <a:xfrm>
            <a:off x="3456432"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7" name="Text 14"/>
          <p:cNvSpPr/>
          <p:nvPr/>
        </p:nvSpPr>
        <p:spPr>
          <a:xfrm>
            <a:off x="3456432"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4</a:t>
            </a:r>
            <a:endParaRPr lang="en-US" sz="1500" dirty="0"/>
          </a:p>
        </p:txBody>
      </p:sp>
      <p:sp>
        <p:nvSpPr>
          <p:cNvPr id="18" name="Text 15"/>
          <p:cNvSpPr/>
          <p:nvPr/>
        </p:nvSpPr>
        <p:spPr>
          <a:xfrm>
            <a:off x="3502152"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Quality Education</a:t>
            </a:r>
            <a:endParaRPr lang="en-US" sz="1300" dirty="0"/>
          </a:p>
        </p:txBody>
      </p:sp>
      <p:sp>
        <p:nvSpPr>
          <p:cNvPr id="19" name="Shape 16"/>
          <p:cNvSpPr/>
          <p:nvPr/>
        </p:nvSpPr>
        <p:spPr>
          <a:xfrm>
            <a:off x="6044184"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0" name="Shape 17"/>
          <p:cNvSpPr/>
          <p:nvPr/>
        </p:nvSpPr>
        <p:spPr>
          <a:xfrm>
            <a:off x="6775704" y="2331720"/>
            <a:ext cx="1005840" cy="1005840"/>
          </a:xfrm>
          <a:prstGeom prst="line">
            <a:avLst/>
          </a:prstGeom>
          <a:solidFill>
            <a:srgbClr val="086072"/>
          </a:solidFill>
          <a:ln/>
        </p:spPr>
        <p:txBody>
          <a:bodyPr/>
          <a:p/>
        </p:txBody>
      </p:sp>
      <p:sp>
        <p:nvSpPr>
          <p:cNvPr id="21" name="Text 18"/>
          <p:cNvSpPr/>
          <p:nvPr/>
        </p:nvSpPr>
        <p:spPr>
          <a:xfrm>
            <a:off x="6775704"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2" name="Text 19"/>
          <p:cNvSpPr/>
          <p:nvPr/>
        </p:nvSpPr>
        <p:spPr>
          <a:xfrm>
            <a:off x="6181344"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3" name="Text 20"/>
          <p:cNvSpPr/>
          <p:nvPr/>
        </p:nvSpPr>
        <p:spPr>
          <a:xfrm>
            <a:off x="6181344"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3</a:t>
            </a:r>
            <a:endParaRPr lang="en-US" sz="1500" dirty="0"/>
          </a:p>
        </p:txBody>
      </p:sp>
      <p:sp>
        <p:nvSpPr>
          <p:cNvPr id="24" name="Text 21"/>
          <p:cNvSpPr/>
          <p:nvPr/>
        </p:nvSpPr>
        <p:spPr>
          <a:xfrm>
            <a:off x="6227064"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Good Health &amp; Well-being</a:t>
            </a:r>
            <a:endParaRPr lang="en-US" sz="1300" dirty="0"/>
          </a:p>
        </p:txBody>
      </p:sp>
      <p:sp>
        <p:nvSpPr>
          <p:cNvPr id="25" name="Shape 22"/>
          <p:cNvSpPr/>
          <p:nvPr/>
        </p:nvSpPr>
        <p:spPr>
          <a:xfrm>
            <a:off x="8769096"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6" name="Shape 23"/>
          <p:cNvSpPr/>
          <p:nvPr/>
        </p:nvSpPr>
        <p:spPr>
          <a:xfrm>
            <a:off x="9500616" y="2331720"/>
            <a:ext cx="1005840" cy="1005840"/>
          </a:xfrm>
          <a:prstGeom prst="line">
            <a:avLst/>
          </a:prstGeom>
          <a:solidFill>
            <a:srgbClr val="086072"/>
          </a:solidFill>
          <a:ln/>
        </p:spPr>
        <p:txBody>
          <a:bodyPr/>
          <a:p/>
        </p:txBody>
      </p:sp>
      <p:sp>
        <p:nvSpPr>
          <p:cNvPr id="27" name="Text 24"/>
          <p:cNvSpPr/>
          <p:nvPr/>
        </p:nvSpPr>
        <p:spPr>
          <a:xfrm>
            <a:off x="9500616"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28" name="Text 25"/>
          <p:cNvSpPr/>
          <p:nvPr/>
        </p:nvSpPr>
        <p:spPr>
          <a:xfrm>
            <a:off x="8906256"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9" name="Text 26"/>
          <p:cNvSpPr/>
          <p:nvPr/>
        </p:nvSpPr>
        <p:spPr>
          <a:xfrm>
            <a:off x="8906256"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9</a:t>
            </a:r>
            <a:endParaRPr lang="en-US" sz="1500" dirty="0"/>
          </a:p>
        </p:txBody>
      </p:sp>
      <p:sp>
        <p:nvSpPr>
          <p:cNvPr id="30" name="Text 27"/>
          <p:cNvSpPr/>
          <p:nvPr/>
        </p:nvSpPr>
        <p:spPr>
          <a:xfrm>
            <a:off x="8951976"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Industry, Innovation &amp; Infrastructure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06.2 — HOW THE CASE STUDY RELATES</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1234440" cy="932688"/>
          </a:xfrm>
          <a:prstGeom prst="rect">
            <a:avLst/>
          </a:prstGeom>
          <a:solidFill>
            <a:srgbClr val="B6114D"/>
          </a:solidFill>
          <a:ln/>
        </p:spPr>
        <p:txBody>
          <a:bodyPr/>
          <a:p/>
        </p:txBody>
      </p:sp>
      <p:sp>
        <p:nvSpPr>
          <p:cNvPr id="8" name="Text 5"/>
          <p:cNvSpPr/>
          <p:nvPr/>
        </p:nvSpPr>
        <p:spPr>
          <a:xfrm>
            <a:off x="594360" y="1737360"/>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10</a:t>
            </a:r>
            <a:endParaRPr lang="en-US" sz="1500" dirty="0"/>
          </a:p>
        </p:txBody>
      </p:sp>
      <p:sp>
        <p:nvSpPr>
          <p:cNvPr id="9" name="Text 6"/>
          <p:cNvSpPr/>
          <p:nvPr/>
        </p:nvSpPr>
        <p:spPr>
          <a:xfrm>
            <a:off x="2011680" y="1737360"/>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Directly reduces communication inequality for the deaf and hard-of-hearing community, giving them equal participation in conversations, education, and workplaces without dependence on scarce interpreters.</a:t>
            </a:r>
            <a:endParaRPr lang="en-US" sz="1300" dirty="0"/>
          </a:p>
        </p:txBody>
      </p:sp>
      <p:sp>
        <p:nvSpPr>
          <p:cNvPr id="10" name="Shape 7"/>
          <p:cNvSpPr/>
          <p:nvPr/>
        </p:nvSpPr>
        <p:spPr>
          <a:xfrm>
            <a:off x="594360" y="2779776"/>
            <a:ext cx="1234440" cy="932688"/>
          </a:xfrm>
          <a:prstGeom prst="rect">
            <a:avLst/>
          </a:prstGeom>
          <a:solidFill>
            <a:srgbClr val="B6114D"/>
          </a:solidFill>
          <a:ln/>
        </p:spPr>
        <p:txBody>
          <a:bodyPr/>
          <a:p/>
        </p:txBody>
      </p:sp>
      <p:sp>
        <p:nvSpPr>
          <p:cNvPr id="11" name="Text 8"/>
          <p:cNvSpPr/>
          <p:nvPr/>
        </p:nvSpPr>
        <p:spPr>
          <a:xfrm>
            <a:off x="594360" y="2779776"/>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4</a:t>
            </a:r>
            <a:endParaRPr lang="en-US" sz="1500" dirty="0"/>
          </a:p>
        </p:txBody>
      </p:sp>
      <p:sp>
        <p:nvSpPr>
          <p:cNvPr id="12" name="Text 9"/>
          <p:cNvSpPr/>
          <p:nvPr/>
        </p:nvSpPr>
        <p:spPr>
          <a:xfrm>
            <a:off x="2011680" y="2779776"/>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Enables inclusive classrooms — teachers and hearing students can communicate with deaf students in real time, removing a major barrier to quality education.</a:t>
            </a:r>
            <a:endParaRPr lang="en-US" sz="1300" dirty="0"/>
          </a:p>
        </p:txBody>
      </p:sp>
      <p:sp>
        <p:nvSpPr>
          <p:cNvPr id="13" name="Shape 10"/>
          <p:cNvSpPr/>
          <p:nvPr/>
        </p:nvSpPr>
        <p:spPr>
          <a:xfrm>
            <a:off x="594360" y="3822192"/>
            <a:ext cx="1234440" cy="932688"/>
          </a:xfrm>
          <a:prstGeom prst="rect">
            <a:avLst/>
          </a:prstGeom>
          <a:solidFill>
            <a:srgbClr val="086072"/>
          </a:solidFill>
          <a:ln/>
        </p:spPr>
        <p:txBody>
          <a:bodyPr/>
          <a:p/>
        </p:txBody>
      </p:sp>
      <p:sp>
        <p:nvSpPr>
          <p:cNvPr id="14" name="Text 11"/>
          <p:cNvSpPr/>
          <p:nvPr/>
        </p:nvSpPr>
        <p:spPr>
          <a:xfrm>
            <a:off x="594360" y="3822192"/>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3</a:t>
            </a:r>
            <a:endParaRPr lang="en-US" sz="1500" dirty="0"/>
          </a:p>
        </p:txBody>
      </p:sp>
      <p:sp>
        <p:nvSpPr>
          <p:cNvPr id="15" name="Text 12"/>
          <p:cNvSpPr/>
          <p:nvPr/>
        </p:nvSpPr>
        <p:spPr>
          <a:xfrm>
            <a:off x="2011680" y="3822192"/>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Improves doctor–patient communication in clinics and hospitals where interpreters are rarely available, contributing to more equitable healthcare access.</a:t>
            </a:r>
            <a:endParaRPr lang="en-US" sz="1300" dirty="0"/>
          </a:p>
        </p:txBody>
      </p:sp>
      <p:sp>
        <p:nvSpPr>
          <p:cNvPr id="16" name="Shape 13"/>
          <p:cNvSpPr/>
          <p:nvPr/>
        </p:nvSpPr>
        <p:spPr>
          <a:xfrm>
            <a:off x="594360" y="4864608"/>
            <a:ext cx="1234440" cy="932688"/>
          </a:xfrm>
          <a:prstGeom prst="rect">
            <a:avLst/>
          </a:prstGeom>
          <a:solidFill>
            <a:srgbClr val="086072"/>
          </a:solidFill>
          <a:ln/>
        </p:spPr>
        <p:txBody>
          <a:bodyPr/>
          <a:p/>
        </p:txBody>
      </p:sp>
      <p:sp>
        <p:nvSpPr>
          <p:cNvPr id="17" name="Text 14"/>
          <p:cNvSpPr/>
          <p:nvPr/>
        </p:nvSpPr>
        <p:spPr>
          <a:xfrm>
            <a:off x="594360" y="4864608"/>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9</a:t>
            </a:r>
            <a:endParaRPr lang="en-US" sz="1500" dirty="0"/>
          </a:p>
        </p:txBody>
      </p:sp>
      <p:sp>
        <p:nvSpPr>
          <p:cNvPr id="18" name="Text 15"/>
          <p:cNvSpPr/>
          <p:nvPr/>
        </p:nvSpPr>
        <p:spPr>
          <a:xfrm>
            <a:off x="2011680" y="4864608"/>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Demonstrates innovative use of accessible, browser-native AI infrastructure (no GPU, no special hardware) that can be deployed at population scale.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07.1 — DATASET DESCRIPTION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777240"/>
          </a:xfrm>
          <a:prstGeom prst="rect">
            <a:avLst/>
          </a:prstGeom>
          <a:noFill/>
          <a:ln/>
        </p:spPr>
        <p:txBody>
          <a:bodyPr wrap="square" rtlCol="0" anchor="ctr"/>
          <a:lstStyle/>
          <a:p>
            <a:pPr marL="0" indent="0">
              <a:lnSpc>
                <a:spcPct val="115000"/>
              </a:lnSpc>
              <a:buNone/>
            </a:pPr>
            <a:r>
              <a:rPr lang="en-US" sz="1450" b="1" dirty="0">
                <a:solidFill>
                  <a:srgbClr val="086072"/>
                </a:solidFill>
                <a:latin typeface="Calibri" pitchFamily="34" charset="0"/>
                <a:ea typeface="Calibri" pitchFamily="34" charset="-122"/>
                <a:cs typeface="Calibri" pitchFamily="34" charset="-120"/>
              </a:rPr>
              <a:t>Dataset Source: </a:t>
            </a:r>
            <a:r>
              <a:rPr lang="en-US" sz="1450" dirty="0">
                <a:solidFill>
                  <a:srgbClr val="222222"/>
                </a:solidFill>
                <a:latin typeface="Calibri" pitchFamily="34" charset="0"/>
                <a:ea typeface="Calibri" pitchFamily="34" charset="-122"/>
                <a:cs typeface="Calibri" pitchFamily="34" charset="-120"/>
              </a:rPr>
              <a:t>INCLUDE-50 — a curated Kaggle subset of the IIT Bombay INCLUDE corpus (also indexed via IEEE Dataport as an ISL benchmark reference).</a:t>
            </a:r>
            <a:endParaRPr lang="en-US" sz="1450" dirty="0"/>
          </a:p>
        </p:txBody>
      </p:sp>
      <p:sp>
        <p:nvSpPr>
          <p:cNvPr id="8" name="Shape 5"/>
          <p:cNvSpPr/>
          <p:nvPr/>
        </p:nvSpPr>
        <p:spPr>
          <a:xfrm>
            <a:off x="594360" y="2606040"/>
            <a:ext cx="10424160" cy="3246120"/>
          </a:xfrm>
          <a:prstGeom prst="rect">
            <a:avLst/>
          </a:prstGeom>
          <a:solidFill>
            <a:srgbClr val="F7F4F5"/>
          </a:solidFill>
          <a:ln w="12700">
            <a:solidFill>
              <a:srgbClr val="E4D9DD"/>
            </a:solidFill>
            <a:prstDash val="solid"/>
          </a:ln>
        </p:spPr>
        <p:txBody>
          <a:bodyPr/>
          <a:p/>
        </p:txBody>
      </p:sp>
      <p:sp>
        <p:nvSpPr>
          <p:cNvPr id="9" name="Text 6"/>
          <p:cNvSpPr/>
          <p:nvPr/>
        </p:nvSpPr>
        <p:spPr>
          <a:xfrm>
            <a:off x="868680" y="2834640"/>
            <a:ext cx="9875520" cy="2788920"/>
          </a:xfrm>
          <a:prstGeom prst="rect">
            <a:avLst/>
          </a:prstGeom>
          <a:noFill/>
          <a:ln/>
        </p:spPr>
        <p:txBody>
          <a:bodyPr wrap="square" rtlCol="0" anchor="t"/>
          <a:lstStyle/>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The INCLUDE corpus, released by IIT Bombay, is one of the largest publicly available Indian Sign Language video datasets. INCLUDE-50 is a widely used 50-class subset consisting of 800+ isolated sign video clips covering common ISL vocabulary (greetings, actions, objects, questions). Clips are recorded by multiple signers under varied lighting and background conditions, ensuring signer diversity. Each clip is short (2–4 seconds) and depicts a single isolated ISL sign. For this project, the raw videos are preprocessed using MediaPipe Holistic into landmark tensors of shape (T=60 frames × 258 landmark features), producing a compact ~50 MB .npy dataset that trains in under an hour on a single Colab T4 GPU. The dataset is split by signer identity to guarantee generalization to unseen signers.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07.2 — CHALLENGES ADDRESSED IN THE DATASET</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8" name="Shape 5"/>
          <p:cNvSpPr/>
          <p:nvPr/>
        </p:nvSpPr>
        <p:spPr>
          <a:xfrm>
            <a:off x="594360" y="1737360"/>
            <a:ext cx="73152" cy="1170432"/>
          </a:xfrm>
          <a:prstGeom prst="rect">
            <a:avLst/>
          </a:prstGeom>
          <a:solidFill>
            <a:srgbClr val="B6114D"/>
          </a:solidFill>
          <a:ln/>
        </p:spPr>
        <p:txBody>
          <a:bodyPr/>
          <a:p/>
        </p:txBody>
      </p:sp>
      <p:sp>
        <p:nvSpPr>
          <p:cNvPr id="9" name="Text 6"/>
          <p:cNvSpPr/>
          <p:nvPr/>
        </p:nvSpPr>
        <p:spPr>
          <a:xfrm>
            <a:off x="86868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Preprocessing</a:t>
            </a:r>
            <a:endParaRPr lang="en-US" sz="1300" dirty="0"/>
          </a:p>
        </p:txBody>
      </p:sp>
      <p:sp>
        <p:nvSpPr>
          <p:cNvPr id="10" name="Text 7"/>
          <p:cNvSpPr/>
          <p:nvPr/>
        </p:nvSpPr>
        <p:spPr>
          <a:xfrm>
            <a:off x="86868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Raw MP4 videos converted to MediaPipe Holistic landmarks, eliminating background pixels and reducing dimensionality from millions of pixels to 225 features per frame.</a:t>
            </a:r>
            <a:endParaRPr lang="en-US" sz="1050" dirty="0"/>
          </a:p>
        </p:txBody>
      </p:sp>
      <p:sp>
        <p:nvSpPr>
          <p:cNvPr id="11" name="Shape 8"/>
          <p:cNvSpPr/>
          <p:nvPr/>
        </p:nvSpPr>
        <p:spPr>
          <a:xfrm>
            <a:off x="598932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2" name="Shape 9"/>
          <p:cNvSpPr/>
          <p:nvPr/>
        </p:nvSpPr>
        <p:spPr>
          <a:xfrm>
            <a:off x="5989320" y="1737360"/>
            <a:ext cx="73152" cy="1170432"/>
          </a:xfrm>
          <a:prstGeom prst="rect">
            <a:avLst/>
          </a:prstGeom>
          <a:solidFill>
            <a:srgbClr val="B6114D"/>
          </a:solidFill>
          <a:ln/>
        </p:spPr>
        <p:txBody>
          <a:bodyPr/>
          <a:p/>
        </p:txBody>
      </p:sp>
      <p:sp>
        <p:nvSpPr>
          <p:cNvPr id="13" name="Text 10"/>
          <p:cNvSpPr/>
          <p:nvPr/>
        </p:nvSpPr>
        <p:spPr>
          <a:xfrm>
            <a:off x="626364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Noise Removal</a:t>
            </a:r>
            <a:endParaRPr lang="en-US" sz="1300" dirty="0"/>
          </a:p>
        </p:txBody>
      </p:sp>
      <p:sp>
        <p:nvSpPr>
          <p:cNvPr id="14" name="Text 11"/>
          <p:cNvSpPr/>
          <p:nvPr/>
        </p:nvSpPr>
        <p:spPr>
          <a:xfrm>
            <a:off x="626364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Frames with missing or occluded hand landmarks are automatically dropped or interpolated.</a:t>
            </a:r>
            <a:endParaRPr lang="en-US" sz="1050" dirty="0"/>
          </a:p>
        </p:txBody>
      </p:sp>
      <p:sp>
        <p:nvSpPr>
          <p:cNvPr id="15" name="Shape 12"/>
          <p:cNvSpPr/>
          <p:nvPr/>
        </p:nvSpPr>
        <p:spPr>
          <a:xfrm>
            <a:off x="59436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6" name="Shape 13"/>
          <p:cNvSpPr/>
          <p:nvPr/>
        </p:nvSpPr>
        <p:spPr>
          <a:xfrm>
            <a:off x="594360" y="3072384"/>
            <a:ext cx="73152" cy="1170432"/>
          </a:xfrm>
          <a:prstGeom prst="rect">
            <a:avLst/>
          </a:prstGeom>
          <a:solidFill>
            <a:srgbClr val="B6114D"/>
          </a:solidFill>
          <a:ln/>
        </p:spPr>
        <p:txBody>
          <a:bodyPr/>
          <a:p/>
        </p:txBody>
      </p:sp>
      <p:sp>
        <p:nvSpPr>
          <p:cNvPr id="17" name="Text 14"/>
          <p:cNvSpPr/>
          <p:nvPr/>
        </p:nvSpPr>
        <p:spPr>
          <a:xfrm>
            <a:off x="86868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Temporal Normalization</a:t>
            </a:r>
            <a:endParaRPr lang="en-US" sz="1300" dirty="0"/>
          </a:p>
        </p:txBody>
      </p:sp>
      <p:sp>
        <p:nvSpPr>
          <p:cNvPr id="18" name="Text 15"/>
          <p:cNvSpPr/>
          <p:nvPr/>
        </p:nvSpPr>
        <p:spPr>
          <a:xfrm>
            <a:off x="86868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Variable-length clips resampled to a fixed T=60 frames using linear interpolation for stable batching.</a:t>
            </a:r>
            <a:endParaRPr lang="en-US" sz="1050" dirty="0"/>
          </a:p>
        </p:txBody>
      </p:sp>
      <p:sp>
        <p:nvSpPr>
          <p:cNvPr id="19" name="Shape 16"/>
          <p:cNvSpPr/>
          <p:nvPr/>
        </p:nvSpPr>
        <p:spPr>
          <a:xfrm>
            <a:off x="598932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0" name="Shape 17"/>
          <p:cNvSpPr/>
          <p:nvPr/>
        </p:nvSpPr>
        <p:spPr>
          <a:xfrm>
            <a:off x="5989320" y="3072384"/>
            <a:ext cx="73152" cy="1170432"/>
          </a:xfrm>
          <a:prstGeom prst="rect">
            <a:avLst/>
          </a:prstGeom>
          <a:solidFill>
            <a:srgbClr val="B6114D"/>
          </a:solidFill>
          <a:ln/>
        </p:spPr>
        <p:txBody>
          <a:bodyPr/>
          <a:p/>
        </p:txBody>
      </p:sp>
      <p:sp>
        <p:nvSpPr>
          <p:cNvPr id="21" name="Text 18"/>
          <p:cNvSpPr/>
          <p:nvPr/>
        </p:nvSpPr>
        <p:spPr>
          <a:xfrm>
            <a:off x="626364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Data Cleaning</a:t>
            </a:r>
            <a:endParaRPr lang="en-US" sz="1300" dirty="0"/>
          </a:p>
        </p:txBody>
      </p:sp>
      <p:sp>
        <p:nvSpPr>
          <p:cNvPr id="22" name="Text 19"/>
          <p:cNvSpPr/>
          <p:nvPr/>
        </p:nvSpPr>
        <p:spPr>
          <a:xfrm>
            <a:off x="626364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Mislabeled and corrupt clips filtered; near-duplicate frames deduped.</a:t>
            </a:r>
            <a:endParaRPr lang="en-US" sz="1050" dirty="0"/>
          </a:p>
        </p:txBody>
      </p:sp>
      <p:sp>
        <p:nvSpPr>
          <p:cNvPr id="23" name="Shape 20"/>
          <p:cNvSpPr/>
          <p:nvPr/>
        </p:nvSpPr>
        <p:spPr>
          <a:xfrm>
            <a:off x="59436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4" name="Shape 21"/>
          <p:cNvSpPr/>
          <p:nvPr/>
        </p:nvSpPr>
        <p:spPr>
          <a:xfrm>
            <a:off x="594360" y="4407408"/>
            <a:ext cx="73152" cy="1170432"/>
          </a:xfrm>
          <a:prstGeom prst="rect">
            <a:avLst/>
          </a:prstGeom>
          <a:solidFill>
            <a:srgbClr val="B6114D"/>
          </a:solidFill>
          <a:ln/>
        </p:spPr>
        <p:txBody>
          <a:bodyPr/>
          <a:p/>
        </p:txBody>
      </p:sp>
      <p:sp>
        <p:nvSpPr>
          <p:cNvPr id="25" name="Text 22"/>
          <p:cNvSpPr/>
          <p:nvPr/>
        </p:nvSpPr>
        <p:spPr>
          <a:xfrm>
            <a:off x="86868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Class Imbalance</a:t>
            </a:r>
            <a:endParaRPr lang="en-US" sz="1300" dirty="0"/>
          </a:p>
        </p:txBody>
      </p:sp>
      <p:sp>
        <p:nvSpPr>
          <p:cNvPr id="26" name="Text 23"/>
          <p:cNvSpPr/>
          <p:nvPr/>
        </p:nvSpPr>
        <p:spPr>
          <a:xfrm>
            <a:off x="86868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Weighted cross-entropy loss applied because some classes have more clips than others.</a:t>
            </a:r>
            <a:endParaRPr lang="en-US" sz="1050" dirty="0"/>
          </a:p>
        </p:txBody>
      </p:sp>
      <p:sp>
        <p:nvSpPr>
          <p:cNvPr id="27" name="Shape 24"/>
          <p:cNvSpPr/>
          <p:nvPr/>
        </p:nvSpPr>
        <p:spPr>
          <a:xfrm>
            <a:off x="598932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8" name="Shape 25"/>
          <p:cNvSpPr/>
          <p:nvPr/>
        </p:nvSpPr>
        <p:spPr>
          <a:xfrm>
            <a:off x="5989320" y="4407408"/>
            <a:ext cx="73152" cy="1170432"/>
          </a:xfrm>
          <a:prstGeom prst="rect">
            <a:avLst/>
          </a:prstGeom>
          <a:solidFill>
            <a:srgbClr val="B6114D"/>
          </a:solidFill>
          <a:ln/>
        </p:spPr>
        <p:txBody>
          <a:bodyPr/>
          <a:p/>
        </p:txBody>
      </p:sp>
      <p:sp>
        <p:nvSpPr>
          <p:cNvPr id="29" name="Text 26"/>
          <p:cNvSpPr/>
          <p:nvPr/>
        </p:nvSpPr>
        <p:spPr>
          <a:xfrm>
            <a:off x="626364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Signer Variability</a:t>
            </a:r>
            <a:endParaRPr lang="en-US" sz="1300" dirty="0"/>
          </a:p>
        </p:txBody>
      </p:sp>
      <p:sp>
        <p:nvSpPr>
          <p:cNvPr id="30" name="Text 27"/>
          <p:cNvSpPr/>
          <p:nvPr/>
        </p:nvSpPr>
        <p:spPr>
          <a:xfrm>
            <a:off x="626364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Stratified 70/15/15 split with a fixed seed, so every architecture is trained and scored on exactly the same clips.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08</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Novelty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64792"/>
            <a:ext cx="256032" cy="256032"/>
          </a:xfrm>
          <a:prstGeom prst="line">
            <a:avLst/>
          </a:prstGeom>
          <a:solidFill>
            <a:srgbClr val="B6114D"/>
          </a:solidFill>
          <a:ln/>
        </p:spPr>
        <p:txBody>
          <a:bodyPr/>
          <a:p/>
        </p:txBody>
      </p:sp>
      <p:sp>
        <p:nvSpPr>
          <p:cNvPr id="8" name="Text 5"/>
          <p:cNvSpPr/>
          <p:nvPr/>
        </p:nvSpPr>
        <p:spPr>
          <a:xfrm>
            <a:off x="59436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96012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Browser-native, no-install real-time ISL ↔ English translator — </a:t>
            </a:r>
            <a:r>
              <a:rPr lang="en-US" sz="1100" dirty="0">
                <a:solidFill>
                  <a:srgbClr val="222222"/>
                </a:solidFill>
                <a:latin typeface="Calibri" pitchFamily="34" charset="0"/>
                <a:ea typeface="Calibri" pitchFamily="34" charset="-122"/>
                <a:cs typeface="Calibri" pitchFamily="34" charset="-120"/>
              </a:rPr>
              <a:t>Runs on any laptop/phone webcam — among a small number of tools attempting full bidirectional translation rather than one-way recognition.</a:t>
            </a:r>
            <a:endParaRPr lang="en-US" sz="1100" dirty="0"/>
          </a:p>
        </p:txBody>
      </p:sp>
      <p:sp>
        <p:nvSpPr>
          <p:cNvPr id="10" name="Shape 7"/>
          <p:cNvSpPr/>
          <p:nvPr/>
        </p:nvSpPr>
        <p:spPr>
          <a:xfrm>
            <a:off x="5989320" y="1764792"/>
            <a:ext cx="256032" cy="256032"/>
          </a:xfrm>
          <a:prstGeom prst="line">
            <a:avLst/>
          </a:prstGeom>
          <a:solidFill>
            <a:srgbClr val="B6114D"/>
          </a:solidFill>
          <a:ln/>
        </p:spPr>
        <p:txBody>
          <a:bodyPr/>
          <a:p/>
        </p:txBody>
      </p:sp>
      <p:sp>
        <p:nvSpPr>
          <p:cNvPr id="11" name="Text 8"/>
          <p:cNvSpPr/>
          <p:nvPr/>
        </p:nvSpPr>
        <p:spPr>
          <a:xfrm>
            <a:off x="598932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35508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Privacy by design — </a:t>
            </a:r>
            <a:r>
              <a:rPr lang="en-US" sz="1100" dirty="0">
                <a:solidFill>
                  <a:srgbClr val="222222"/>
                </a:solidFill>
                <a:latin typeface="Calibri" pitchFamily="34" charset="0"/>
                <a:ea typeface="Calibri" pitchFamily="34" charset="-122"/>
                <a:cs typeface="Calibri" pitchFamily="34" charset="-120"/>
              </a:rPr>
              <a:t>MediaPipe landmark extraction happens entirely inside the browser; raw video never leaves the device.</a:t>
            </a:r>
            <a:endParaRPr lang="en-US" sz="1100" dirty="0"/>
          </a:p>
        </p:txBody>
      </p:sp>
      <p:sp>
        <p:nvSpPr>
          <p:cNvPr id="13" name="Shape 10"/>
          <p:cNvSpPr/>
          <p:nvPr/>
        </p:nvSpPr>
        <p:spPr>
          <a:xfrm>
            <a:off x="594360" y="2807208"/>
            <a:ext cx="256032" cy="256032"/>
          </a:xfrm>
          <a:prstGeom prst="line">
            <a:avLst/>
          </a:prstGeom>
          <a:solidFill>
            <a:srgbClr val="B6114D"/>
          </a:solidFill>
          <a:ln/>
        </p:spPr>
        <p:txBody>
          <a:bodyPr/>
          <a:p/>
        </p:txBody>
      </p:sp>
      <p:sp>
        <p:nvSpPr>
          <p:cNvPr id="14" name="Text 11"/>
          <p:cNvSpPr/>
          <p:nvPr/>
        </p:nvSpPr>
        <p:spPr>
          <a:xfrm>
            <a:off x="59436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96012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Dual-model A/B architecture — BiLSTM and 1D temporal CNN trained on identical splits and served behind one endpoint, so the architectures can be swapped per request and compared on measured numbers.</a:t>
            </a:r>
            <a:r>
              <a:rPr lang="en-US" sz="1100" dirty="0">
                <a:solidFill>
                  <a:srgbClr val="222222"/>
                </a:solidFill>
                <a:latin typeface="Calibri" pitchFamily="34" charset="0"/>
                <a:ea typeface="Calibri" pitchFamily="34" charset="-122"/>
                <a:cs typeface="Calibri" pitchFamily="34" charset="-120"/>
              </a:rPr>
              <a:t/>
            </a:r>
            <a:endParaRPr lang="en-US" sz="1100" dirty="0"/>
          </a:p>
        </p:txBody>
      </p:sp>
      <p:sp>
        <p:nvSpPr>
          <p:cNvPr id="16" name="Shape 13"/>
          <p:cNvSpPr/>
          <p:nvPr/>
        </p:nvSpPr>
        <p:spPr>
          <a:xfrm>
            <a:off x="5989320" y="2807208"/>
            <a:ext cx="256032" cy="256032"/>
          </a:xfrm>
          <a:prstGeom prst="line">
            <a:avLst/>
          </a:prstGeom>
          <a:solidFill>
            <a:srgbClr val="B6114D"/>
          </a:solidFill>
          <a:ln/>
        </p:spPr>
        <p:txBody>
          <a:bodyPr/>
          <a:p/>
        </p:txBody>
      </p:sp>
      <p:sp>
        <p:nvSpPr>
          <p:cNvPr id="17" name="Text 14"/>
          <p:cNvSpPr/>
          <p:nvPr/>
        </p:nvSpPr>
        <p:spPr>
          <a:xfrm>
            <a:off x="598932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635508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Bidirectional pipeline — </a:t>
            </a:r>
            <a:r>
              <a:rPr lang="en-US" sz="1100" dirty="0">
                <a:solidFill>
                  <a:srgbClr val="222222"/>
                </a:solidFill>
                <a:latin typeface="Calibri" pitchFamily="34" charset="0"/>
                <a:ea typeface="Calibri" pitchFamily="34" charset="-122"/>
                <a:cs typeface="Calibri" pitchFamily="34" charset="-120"/>
              </a:rPr>
              <a:t>Not just ISL→English, but English→ISL via gloss reordering (SVO→SOV, article dropping, OOV fingerspelling) with cinematic playback.</a:t>
            </a:r>
            <a:endParaRPr lang="en-US" sz="1100" dirty="0"/>
          </a:p>
        </p:txBody>
      </p:sp>
      <p:sp>
        <p:nvSpPr>
          <p:cNvPr id="19" name="Shape 16"/>
          <p:cNvSpPr/>
          <p:nvPr/>
        </p:nvSpPr>
        <p:spPr>
          <a:xfrm>
            <a:off x="594360" y="3849624"/>
            <a:ext cx="256032" cy="256032"/>
          </a:xfrm>
          <a:prstGeom prst="line">
            <a:avLst/>
          </a:prstGeom>
          <a:solidFill>
            <a:srgbClr val="B6114D"/>
          </a:solidFill>
          <a:ln/>
        </p:spPr>
        <p:txBody>
          <a:bodyPr/>
          <a:p/>
        </p:txBody>
      </p:sp>
      <p:sp>
        <p:nvSpPr>
          <p:cNvPr id="20" name="Text 17"/>
          <p:cNvSpPr/>
          <p:nvPr/>
        </p:nvSpPr>
        <p:spPr>
          <a:xfrm>
            <a:off x="59436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p:nvPr/>
        </p:nvSpPr>
        <p:spPr>
          <a:xfrm>
            <a:off x="96012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Hybrid NLP layer — </a:t>
            </a:r>
            <a:r>
              <a:rPr lang="en-US" sz="1100" dirty="0">
                <a:solidFill>
                  <a:srgbClr val="222222"/>
                </a:solidFill>
                <a:latin typeface="Calibri" pitchFamily="34" charset="0"/>
                <a:ea typeface="Calibri" pitchFamily="34" charset="-122"/>
                <a:cs typeface="Calibri" pitchFamily="34" charset="-120"/>
              </a:rPr>
              <a:t>Gemini 3 Flash LLM produces natural English from ISL gloss, backed by a deterministic rule-based fallback (~80% coverage).</a:t>
            </a:r>
            <a:endParaRPr lang="en-US" sz="1100" dirty="0"/>
          </a:p>
        </p:txBody>
      </p:sp>
      <p:sp>
        <p:nvSpPr>
          <p:cNvPr id="22" name="Shape 19"/>
          <p:cNvSpPr/>
          <p:nvPr/>
        </p:nvSpPr>
        <p:spPr>
          <a:xfrm>
            <a:off x="5989320" y="3849624"/>
            <a:ext cx="256032" cy="256032"/>
          </a:xfrm>
          <a:prstGeom prst="line">
            <a:avLst/>
          </a:prstGeom>
          <a:solidFill>
            <a:srgbClr val="B6114D"/>
          </a:solidFill>
          <a:ln/>
        </p:spPr>
        <p:txBody>
          <a:bodyPr/>
          <a:p/>
        </p:txBody>
      </p:sp>
      <p:sp>
        <p:nvSpPr>
          <p:cNvPr id="23" name="Text 20"/>
          <p:cNvSpPr/>
          <p:nvPr/>
        </p:nvSpPr>
        <p:spPr>
          <a:xfrm>
            <a:off x="598932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1"/>
          <p:cNvSpPr/>
          <p:nvPr/>
        </p:nvSpPr>
        <p:spPr>
          <a:xfrm>
            <a:off x="635508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Correction chips UX — </a:t>
            </a:r>
            <a:r>
              <a:rPr lang="en-US" sz="1100" dirty="0">
                <a:solidFill>
                  <a:srgbClr val="222222"/>
                </a:solidFill>
                <a:latin typeface="Calibri" pitchFamily="34" charset="0"/>
                <a:ea typeface="Calibri" pitchFamily="34" charset="-122"/>
                <a:cs typeface="Calibri" pitchFamily="34" charset="-120"/>
              </a:rPr>
              <a:t>When confidence drops below 70%, top-k alternatives surface as clickable chips — a first for ISL systems.</a:t>
            </a:r>
            <a:endParaRPr lang="en-US" sz="1100" dirty="0"/>
          </a:p>
        </p:txBody>
      </p:sp>
      <p:sp>
        <p:nvSpPr>
          <p:cNvPr id="25" name="Shape 22"/>
          <p:cNvSpPr/>
          <p:nvPr/>
        </p:nvSpPr>
        <p:spPr>
          <a:xfrm>
            <a:off x="594360" y="4892040"/>
            <a:ext cx="256032" cy="256032"/>
          </a:xfrm>
          <a:prstGeom prst="line">
            <a:avLst/>
          </a:prstGeom>
          <a:solidFill>
            <a:srgbClr val="B6114D"/>
          </a:solidFill>
          <a:ln/>
        </p:spPr>
        <p:txBody>
          <a:bodyPr/>
          <a:p/>
        </p:txBody>
      </p:sp>
      <p:sp>
        <p:nvSpPr>
          <p:cNvPr id="26" name="Text 23"/>
          <p:cNvSpPr/>
          <p:nvPr/>
        </p:nvSpPr>
        <p:spPr>
          <a:xfrm>
            <a:off x="59436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4"/>
          <p:cNvSpPr/>
          <p:nvPr/>
        </p:nvSpPr>
        <p:spPr>
          <a:xfrm>
            <a:off x="96012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Practice mode — </a:t>
            </a:r>
            <a:r>
              <a:rPr lang="en-US" sz="1100" dirty="0">
                <a:solidFill>
                  <a:srgbClr val="222222"/>
                </a:solidFill>
                <a:latin typeface="Calibri" pitchFamily="34" charset="0"/>
                <a:ea typeface="Calibri" pitchFamily="34" charset="-122"/>
                <a:cs typeface="Calibri" pitchFamily="34" charset="-120"/>
              </a:rPr>
              <a:t>Learners compare attempts against reference clips with similarity-based feedback — an educational layer.</a:t>
            </a:r>
            <a:endParaRPr lang="en-US" sz="1100" dirty="0"/>
          </a:p>
        </p:txBody>
      </p:sp>
      <p:sp>
        <p:nvSpPr>
          <p:cNvPr id="28" name="Shape 25"/>
          <p:cNvSpPr/>
          <p:nvPr/>
        </p:nvSpPr>
        <p:spPr>
          <a:xfrm>
            <a:off x="5989320" y="4892040"/>
            <a:ext cx="256032" cy="256032"/>
          </a:xfrm>
          <a:prstGeom prst="line">
            <a:avLst/>
          </a:prstGeom>
          <a:solidFill>
            <a:srgbClr val="B6114D"/>
          </a:solidFill>
          <a:ln/>
        </p:spPr>
        <p:txBody>
          <a:bodyPr/>
          <a:p/>
        </p:txBody>
      </p:sp>
      <p:sp>
        <p:nvSpPr>
          <p:cNvPr id="29" name="Text 26"/>
          <p:cNvSpPr/>
          <p:nvPr/>
        </p:nvSpPr>
        <p:spPr>
          <a:xfrm>
            <a:off x="598932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7"/>
          <p:cNvSpPr/>
          <p:nvPr/>
        </p:nvSpPr>
        <p:spPr>
          <a:xfrm>
            <a:off x="635508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Landmark-based modeling — </a:t>
            </a:r>
            <a:r>
              <a:rPr lang="en-US" sz="1100" dirty="0">
                <a:solidFill>
                  <a:srgbClr val="222222"/>
                </a:solidFill>
                <a:latin typeface="Calibri" pitchFamily="34" charset="0"/>
                <a:ea typeface="Calibri" pitchFamily="34" charset="-122"/>
                <a:cs typeface="Calibri" pitchFamily="34" charset="-120"/>
              </a:rPr>
              <a:t>10× smaller models, mobile-grade inference, independent of lighting or background.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651760"/>
            <a:ext cx="12191695" cy="1005840"/>
          </a:xfrm>
          <a:prstGeom prst="rect">
            <a:avLst/>
          </a:prstGeom>
          <a:noFill/>
          <a:ln/>
        </p:spPr>
        <p:txBody>
          <a:bodyPr wrap="square" rtlCol="0" anchor="ctr"/>
          <a:lstStyle/>
          <a:p>
            <a:pPr marL="0" indent="0" algn="ctr">
              <a:buNone/>
            </a:pPr>
            <a:r>
              <a:rPr lang="en-US" sz="5200" b="1" dirty="0">
                <a:solidFill>
                  <a:srgbClr val="086072"/>
                </a:solidFill>
                <a:latin typeface="Cambria" pitchFamily="34" charset="0"/>
                <a:ea typeface="Cambria" pitchFamily="34" charset="-122"/>
                <a:cs typeface="Cambria" pitchFamily="34" charset="-120"/>
              </a:rPr>
              <a:t>Thank You</a:t>
            </a:r>
            <a:endParaRPr lang="en-US" sz="5200" dirty="0"/>
          </a:p>
        </p:txBody>
      </p:sp>
      <p:sp>
        <p:nvSpPr>
          <p:cNvPr id="7" name="Text 3"/>
          <p:cNvSpPr/>
          <p:nvPr/>
        </p:nvSpPr>
        <p:spPr>
          <a:xfrm>
            <a:off x="0" y="3657600"/>
            <a:ext cx="12191695" cy="548640"/>
          </a:xfrm>
          <a:prstGeom prst="rect">
            <a:avLst/>
          </a:prstGeom>
          <a:noFill/>
          <a:ln/>
        </p:spPr>
        <p:txBody>
          <a:bodyPr wrap="square" rtlCol="0" anchor="ctr"/>
          <a:lstStyle/>
          <a:p>
            <a:pPr marL="0" indent="0" algn="ctr">
              <a:buNone/>
            </a:pPr>
            <a:r>
              <a:rPr lang="en-US" sz="1800" i="1" dirty="0">
                <a:solidFill>
                  <a:srgbClr val="222222"/>
                </a:solidFill>
                <a:latin typeface="Cambria" pitchFamily="34" charset="0"/>
                <a:ea typeface="Cambria" pitchFamily="34" charset="-122"/>
                <a:cs typeface="Cambria" pitchFamily="34" charset="-120"/>
              </a:rPr>
              <a:t>Silent Voice  —  "Every Sign Deserves to Be Heard."</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09 — SYSTEM ARCHITECTURE</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Overall Architecture</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627632"/>
            <a:ext cx="10424160" cy="201168"/>
          </a:xfrm>
          <a:prstGeom prst="rect">
            <a:avLst/>
          </a:prstGeom>
          <a:noFill/>
        </p:spPr>
        <p:txBody>
          <a:bodyPr wrap="square" anchor="t" lIns="0" rIns="0" tIns="0" bIns="0">
            <a:spAutoFit/>
          </a:bodyPr>
          <a:lstStyle/>
          <a:p>
            <a:r>
              <a:rPr sz="900" b="1" i="0" spc="160">
                <a:solidFill>
                  <a:srgbClr val="B6114D"/>
                </a:solidFill>
                <a:latin typeface="Calibri"/>
              </a:rPr>
              <a:t>CLIENT TIER  ·  BROWSER</a:t>
            </a:r>
          </a:p>
        </p:txBody>
      </p:sp>
      <p:sp>
        <p:nvSpPr>
          <p:cNvPr id="8" name="Rectangle 7"/>
          <p:cNvSpPr/>
          <p:nvPr/>
        </p:nvSpPr>
        <p:spPr>
          <a:xfrm>
            <a:off x="594360"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94360"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1993392"/>
            <a:ext cx="2272284" cy="201168"/>
          </a:xfrm>
          <a:prstGeom prst="rect">
            <a:avLst/>
          </a:prstGeom>
          <a:noFill/>
        </p:spPr>
        <p:txBody>
          <a:bodyPr wrap="square" anchor="t" lIns="0" rIns="0" tIns="0" bIns="0">
            <a:spAutoFit/>
          </a:bodyPr>
          <a:lstStyle/>
          <a:p>
            <a:r>
              <a:rPr sz="1050" b="1" i="0">
                <a:solidFill>
                  <a:srgbClr val="086072"/>
                </a:solidFill>
                <a:latin typeface="Calibri"/>
              </a:rPr>
              <a:t>Webcam capture</a:t>
            </a:r>
          </a:p>
        </p:txBody>
      </p:sp>
      <p:sp>
        <p:nvSpPr>
          <p:cNvPr id="11" name="TextBox 10"/>
          <p:cNvSpPr txBox="1"/>
          <p:nvPr/>
        </p:nvSpPr>
        <p:spPr>
          <a:xfrm>
            <a:off x="713232"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getUserMedia; frame drawn to canvas, encoded JPEG.</a:t>
            </a:r>
          </a:p>
        </p:txBody>
      </p:sp>
      <p:sp>
        <p:nvSpPr>
          <p:cNvPr id="12" name="Rectangle 11"/>
          <p:cNvSpPr/>
          <p:nvPr/>
        </p:nvSpPr>
        <p:spPr>
          <a:xfrm>
            <a:off x="3232404"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232404"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351276" y="1993392"/>
            <a:ext cx="2272284" cy="201168"/>
          </a:xfrm>
          <a:prstGeom prst="rect">
            <a:avLst/>
          </a:prstGeom>
          <a:noFill/>
        </p:spPr>
        <p:txBody>
          <a:bodyPr wrap="square" anchor="t" lIns="0" rIns="0" tIns="0" bIns="0">
            <a:spAutoFit/>
          </a:bodyPr>
          <a:lstStyle/>
          <a:p>
            <a:r>
              <a:rPr sz="1050" b="1" i="0">
                <a:solidFill>
                  <a:srgbClr val="086072"/>
                </a:solidFill>
                <a:latin typeface="Calibri"/>
              </a:rPr>
              <a:t>Throttle ~12 fps</a:t>
            </a:r>
          </a:p>
        </p:txBody>
      </p:sp>
      <p:sp>
        <p:nvSpPr>
          <p:cNvPr id="15" name="TextBox 14"/>
          <p:cNvSpPr txBox="1"/>
          <p:nvPr/>
        </p:nvSpPr>
        <p:spPr>
          <a:xfrm>
            <a:off x="3351276"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Caps request rate; 60-frame window still fills in ~5 s.</a:t>
            </a:r>
          </a:p>
        </p:txBody>
      </p:sp>
      <p:sp>
        <p:nvSpPr>
          <p:cNvPr id="16" name="Rectangle 15"/>
          <p:cNvSpPr/>
          <p:nvPr/>
        </p:nvSpPr>
        <p:spPr>
          <a:xfrm>
            <a:off x="5870448"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870448"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989320" y="1993392"/>
            <a:ext cx="2272284" cy="201168"/>
          </a:xfrm>
          <a:prstGeom prst="rect">
            <a:avLst/>
          </a:prstGeom>
          <a:noFill/>
        </p:spPr>
        <p:txBody>
          <a:bodyPr wrap="square" anchor="t" lIns="0" rIns="0" tIns="0" bIns="0">
            <a:spAutoFit/>
          </a:bodyPr>
          <a:lstStyle/>
          <a:p>
            <a:r>
              <a:rPr sz="1050" b="1" i="0">
                <a:solidFill>
                  <a:srgbClr val="086072"/>
                </a:solidFill>
                <a:latin typeface="Calibri"/>
              </a:rPr>
              <a:t>React UI · 9 routes</a:t>
            </a:r>
          </a:p>
        </p:txBody>
      </p:sp>
      <p:sp>
        <p:nvSpPr>
          <p:cNvPr id="19" name="TextBox 18"/>
          <p:cNvSpPr txBox="1"/>
          <p:nvPr/>
        </p:nvSpPr>
        <p:spPr>
          <a:xfrm>
            <a:off x="5989320"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CRA + Tailwind + framer-motion. Landmark overlay, captions.</a:t>
            </a:r>
          </a:p>
        </p:txBody>
      </p:sp>
      <p:sp>
        <p:nvSpPr>
          <p:cNvPr id="20" name="Rectangle 19"/>
          <p:cNvSpPr/>
          <p:nvPr/>
        </p:nvSpPr>
        <p:spPr>
          <a:xfrm>
            <a:off x="8508492"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508492"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27364" y="1993392"/>
            <a:ext cx="2272284" cy="201168"/>
          </a:xfrm>
          <a:prstGeom prst="rect">
            <a:avLst/>
          </a:prstGeom>
          <a:noFill/>
        </p:spPr>
        <p:txBody>
          <a:bodyPr wrap="square" anchor="t" lIns="0" rIns="0" tIns="0" bIns="0">
            <a:spAutoFit/>
          </a:bodyPr>
          <a:lstStyle/>
          <a:p>
            <a:r>
              <a:rPr sz="1050" b="1" i="0">
                <a:solidFill>
                  <a:srgbClr val="086072"/>
                </a:solidFill>
                <a:latin typeface="Calibri"/>
              </a:rPr>
              <a:t>Web Speech TTS</a:t>
            </a:r>
          </a:p>
        </p:txBody>
      </p:sp>
      <p:sp>
        <p:nvSpPr>
          <p:cNvPr id="23" name="TextBox 22"/>
          <p:cNvSpPr txBox="1"/>
          <p:nvPr/>
        </p:nvSpPr>
        <p:spPr>
          <a:xfrm>
            <a:off x="8627364"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Caption read aloud in the user's chosen voice.</a:t>
            </a:r>
          </a:p>
        </p:txBody>
      </p:sp>
      <p:sp>
        <p:nvSpPr>
          <p:cNvPr id="24" name="TextBox 23"/>
          <p:cNvSpPr txBox="1"/>
          <p:nvPr/>
        </p:nvSpPr>
        <p:spPr>
          <a:xfrm>
            <a:off x="594360" y="2798064"/>
            <a:ext cx="10424160" cy="201168"/>
          </a:xfrm>
          <a:prstGeom prst="rect">
            <a:avLst/>
          </a:prstGeom>
          <a:noFill/>
        </p:spPr>
        <p:txBody>
          <a:bodyPr wrap="square" anchor="t" lIns="0" rIns="0" tIns="0" bIns="0">
            <a:spAutoFit/>
          </a:bodyPr>
          <a:lstStyle/>
          <a:p>
            <a:r>
              <a:rPr sz="900" b="1" i="0" spc="160">
                <a:solidFill>
                  <a:srgbClr val="086072"/>
                </a:solidFill>
                <a:latin typeface="Calibri"/>
              </a:rPr>
              <a:t>SERVER TIER  ·  FASTAPI  (backend/server.py)</a:t>
            </a:r>
          </a:p>
        </p:txBody>
      </p:sp>
      <p:sp>
        <p:nvSpPr>
          <p:cNvPr id="25" name="Rectangle 24"/>
          <p:cNvSpPr/>
          <p:nvPr/>
        </p:nvSpPr>
        <p:spPr>
          <a:xfrm>
            <a:off x="59436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9436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13232" y="3163824"/>
            <a:ext cx="1744675" cy="201168"/>
          </a:xfrm>
          <a:prstGeom prst="rect">
            <a:avLst/>
          </a:prstGeom>
          <a:noFill/>
        </p:spPr>
        <p:txBody>
          <a:bodyPr wrap="square" anchor="t" lIns="0" rIns="0" tIns="0" bIns="0">
            <a:spAutoFit/>
          </a:bodyPr>
          <a:lstStyle/>
          <a:p>
            <a:r>
              <a:rPr sz="1050" b="1" i="0">
                <a:solidFill>
                  <a:srgbClr val="086072"/>
                </a:solidFill>
                <a:latin typeface="Calibri"/>
              </a:rPr>
              <a:t>POST /api/frame</a:t>
            </a:r>
          </a:p>
        </p:txBody>
      </p:sp>
      <p:sp>
        <p:nvSpPr>
          <p:cNvPr id="28" name="TextBox 27"/>
          <p:cNvSpPr txBox="1"/>
          <p:nvPr/>
        </p:nvSpPr>
        <p:spPr>
          <a:xfrm>
            <a:off x="71323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Decodes JPEG, runs Holistic, buffers, returns prediction.</a:t>
            </a:r>
          </a:p>
        </p:txBody>
      </p:sp>
      <p:sp>
        <p:nvSpPr>
          <p:cNvPr id="29" name="Rectangle 28"/>
          <p:cNvSpPr/>
          <p:nvPr/>
        </p:nvSpPr>
        <p:spPr>
          <a:xfrm>
            <a:off x="270479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0479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823667" y="3163824"/>
            <a:ext cx="1744675" cy="201168"/>
          </a:xfrm>
          <a:prstGeom prst="rect">
            <a:avLst/>
          </a:prstGeom>
          <a:noFill/>
        </p:spPr>
        <p:txBody>
          <a:bodyPr wrap="square" anchor="t" lIns="0" rIns="0" tIns="0" bIns="0">
            <a:spAutoFit/>
          </a:bodyPr>
          <a:lstStyle/>
          <a:p>
            <a:r>
              <a:rPr sz="1050" b="1" i="0">
                <a:solidFill>
                  <a:srgbClr val="086072"/>
                </a:solidFill>
                <a:latin typeface="Calibri"/>
              </a:rPr>
              <a:t>MediaPipe Holistic</a:t>
            </a:r>
          </a:p>
        </p:txBody>
      </p:sp>
      <p:sp>
        <p:nvSpPr>
          <p:cNvPr id="32" name="TextBox 31"/>
          <p:cNvSpPr txBox="1"/>
          <p:nvPr/>
        </p:nvSpPr>
        <p:spPr>
          <a:xfrm>
            <a:off x="282366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21+21 hand + 33 pose landmarks per frame, server-side.</a:t>
            </a:r>
          </a:p>
        </p:txBody>
      </p:sp>
      <p:sp>
        <p:nvSpPr>
          <p:cNvPr id="33" name="Rectangle 32"/>
          <p:cNvSpPr/>
          <p:nvPr/>
        </p:nvSpPr>
        <p:spPr>
          <a:xfrm>
            <a:off x="481523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81523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934102" y="3163824"/>
            <a:ext cx="1744675" cy="201168"/>
          </a:xfrm>
          <a:prstGeom prst="rect">
            <a:avLst/>
          </a:prstGeom>
          <a:noFill/>
        </p:spPr>
        <p:txBody>
          <a:bodyPr wrap="square" anchor="t" lIns="0" rIns="0" tIns="0" bIns="0">
            <a:spAutoFit/>
          </a:bodyPr>
          <a:lstStyle/>
          <a:p>
            <a:r>
              <a:rPr sz="1050" b="1" i="0">
                <a:solidFill>
                  <a:srgbClr val="086072"/>
                </a:solidFill>
                <a:latin typeface="Calibri"/>
              </a:rPr>
              <a:t>Preprocess</a:t>
            </a:r>
          </a:p>
        </p:txBody>
      </p:sp>
      <p:sp>
        <p:nvSpPr>
          <p:cNvPr id="36" name="TextBox 35"/>
          <p:cNvSpPr txBox="1"/>
          <p:nvPr/>
        </p:nvSpPr>
        <p:spPr>
          <a:xfrm>
            <a:off x="493410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Same code as training: wrist-origin, scale, z-score, T=60.</a:t>
            </a:r>
          </a:p>
        </p:txBody>
      </p:sp>
      <p:sp>
        <p:nvSpPr>
          <p:cNvPr id="37" name="Rectangle 36"/>
          <p:cNvSpPr/>
          <p:nvPr/>
        </p:nvSpPr>
        <p:spPr>
          <a:xfrm>
            <a:off x="692566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92566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044537" y="3163824"/>
            <a:ext cx="1744675" cy="201168"/>
          </a:xfrm>
          <a:prstGeom prst="rect">
            <a:avLst/>
          </a:prstGeom>
          <a:noFill/>
        </p:spPr>
        <p:txBody>
          <a:bodyPr wrap="square" anchor="t" lIns="0" rIns="0" tIns="0" bIns="0">
            <a:spAutoFit/>
          </a:bodyPr>
          <a:lstStyle/>
          <a:p>
            <a:r>
              <a:rPr sz="1050" b="1" i="0">
                <a:solidFill>
                  <a:srgbClr val="086072"/>
                </a:solidFill>
                <a:latin typeface="Calibri"/>
              </a:rPr>
              <a:t>Inference</a:t>
            </a:r>
          </a:p>
        </p:txBody>
      </p:sp>
      <p:sp>
        <p:nvSpPr>
          <p:cNvPr id="40" name="TextBox 39"/>
          <p:cNvSpPr txBox="1"/>
          <p:nvPr/>
        </p:nvSpPr>
        <p:spPr>
          <a:xfrm>
            <a:off x="704453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BiLSTM or CNN chosen per request via the model field.</a:t>
            </a:r>
          </a:p>
        </p:txBody>
      </p:sp>
      <p:sp>
        <p:nvSpPr>
          <p:cNvPr id="41" name="Rectangle 40"/>
          <p:cNvSpPr/>
          <p:nvPr/>
        </p:nvSpPr>
        <p:spPr>
          <a:xfrm>
            <a:off x="903610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03610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154972" y="3163824"/>
            <a:ext cx="1744675" cy="201168"/>
          </a:xfrm>
          <a:prstGeom prst="rect">
            <a:avLst/>
          </a:prstGeom>
          <a:noFill/>
        </p:spPr>
        <p:txBody>
          <a:bodyPr wrap="square" anchor="t" lIns="0" rIns="0" tIns="0" bIns="0">
            <a:spAutoFit/>
          </a:bodyPr>
          <a:lstStyle/>
          <a:p>
            <a:r>
              <a:rPr sz="1050" b="1" i="0">
                <a:solidFill>
                  <a:srgbClr val="086072"/>
                </a:solidFill>
                <a:latin typeface="Calibri"/>
              </a:rPr>
              <a:t>GET /api/comparison</a:t>
            </a:r>
          </a:p>
        </p:txBody>
      </p:sp>
      <p:sp>
        <p:nvSpPr>
          <p:cNvPr id="44" name="TextBox 43"/>
          <p:cNvSpPr txBox="1"/>
          <p:nvPr/>
        </p:nvSpPr>
        <p:spPr>
          <a:xfrm>
            <a:off x="915497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Serves ml/logs/comparison.json to the Research page.</a:t>
            </a:r>
          </a:p>
        </p:txBody>
      </p:sp>
      <p:sp>
        <p:nvSpPr>
          <p:cNvPr id="45" name="TextBox 44"/>
          <p:cNvSpPr txBox="1"/>
          <p:nvPr/>
        </p:nvSpPr>
        <p:spPr>
          <a:xfrm>
            <a:off x="594360" y="3968496"/>
            <a:ext cx="10424160" cy="201168"/>
          </a:xfrm>
          <a:prstGeom prst="rect">
            <a:avLst/>
          </a:prstGeom>
          <a:noFill/>
        </p:spPr>
        <p:txBody>
          <a:bodyPr wrap="square" anchor="t" lIns="0" rIns="0" tIns="0" bIns="0">
            <a:spAutoFit/>
          </a:bodyPr>
          <a:lstStyle/>
          <a:p>
            <a:r>
              <a:rPr sz="900" b="1" i="0" spc="160">
                <a:solidFill>
                  <a:srgbClr val="B6114D"/>
                </a:solidFill>
                <a:latin typeface="Calibri"/>
              </a:rPr>
              <a:t>OFFLINE TIER  ·  ML PIPELINE  (ml/)</a:t>
            </a:r>
          </a:p>
        </p:txBody>
      </p:sp>
      <p:sp>
        <p:nvSpPr>
          <p:cNvPr id="46" name="Rectangle 45"/>
          <p:cNvSpPr/>
          <p:nvPr/>
        </p:nvSpPr>
        <p:spPr>
          <a:xfrm>
            <a:off x="594360"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594360"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3232" y="4334256"/>
            <a:ext cx="2272284" cy="201168"/>
          </a:xfrm>
          <a:prstGeom prst="rect">
            <a:avLst/>
          </a:prstGeom>
          <a:noFill/>
        </p:spPr>
        <p:txBody>
          <a:bodyPr wrap="square" anchor="t" lIns="0" rIns="0" tIns="0" bIns="0">
            <a:spAutoFit/>
          </a:bodyPr>
          <a:lstStyle/>
          <a:p>
            <a:r>
              <a:rPr sz="1050" b="1" i="0">
                <a:solidFill>
                  <a:srgbClr val="086072"/>
                </a:solidFill>
                <a:latin typeface="Calibri"/>
              </a:rPr>
              <a:t>preprocess.py</a:t>
            </a:r>
          </a:p>
        </p:txBody>
      </p:sp>
      <p:sp>
        <p:nvSpPr>
          <p:cNvPr id="49" name="TextBox 48"/>
          <p:cNvSpPr txBox="1"/>
          <p:nvPr/>
        </p:nvSpPr>
        <p:spPr>
          <a:xfrm>
            <a:off x="713232"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Video tree → (60, 225) .npy tensors + label_index.json.</a:t>
            </a:r>
          </a:p>
        </p:txBody>
      </p:sp>
      <p:sp>
        <p:nvSpPr>
          <p:cNvPr id="50" name="Rectangle 49"/>
          <p:cNvSpPr/>
          <p:nvPr/>
        </p:nvSpPr>
        <p:spPr>
          <a:xfrm>
            <a:off x="3232404"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232404"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351276" y="4334256"/>
            <a:ext cx="2272284" cy="201168"/>
          </a:xfrm>
          <a:prstGeom prst="rect">
            <a:avLst/>
          </a:prstGeom>
          <a:noFill/>
        </p:spPr>
        <p:txBody>
          <a:bodyPr wrap="square" anchor="t" lIns="0" rIns="0" tIns="0" bIns="0">
            <a:spAutoFit/>
          </a:bodyPr>
          <a:lstStyle/>
          <a:p>
            <a:r>
              <a:rPr sz="1050" b="1" i="0">
                <a:solidFill>
                  <a:srgbClr val="086072"/>
                </a:solidFill>
                <a:latin typeface="Calibri"/>
              </a:rPr>
              <a:t>train_*.py</a:t>
            </a:r>
          </a:p>
        </p:txBody>
      </p:sp>
      <p:sp>
        <p:nvSpPr>
          <p:cNvPr id="53" name="TextBox 52"/>
          <p:cNvSpPr txBox="1"/>
          <p:nvPr/>
        </p:nvSpPr>
        <p:spPr>
          <a:xfrm>
            <a:off x="3351276"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Shared loader, identical split, seed 42. Writes .pt + history.</a:t>
            </a:r>
          </a:p>
        </p:txBody>
      </p:sp>
      <p:sp>
        <p:nvSpPr>
          <p:cNvPr id="54" name="Rectangle 53"/>
          <p:cNvSpPr/>
          <p:nvPr/>
        </p:nvSpPr>
        <p:spPr>
          <a:xfrm>
            <a:off x="5870448"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5870448"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989320" y="4334256"/>
            <a:ext cx="2272284" cy="201168"/>
          </a:xfrm>
          <a:prstGeom prst="rect">
            <a:avLst/>
          </a:prstGeom>
          <a:noFill/>
        </p:spPr>
        <p:txBody>
          <a:bodyPr wrap="square" anchor="t" lIns="0" rIns="0" tIns="0" bIns="0">
            <a:spAutoFit/>
          </a:bodyPr>
          <a:lstStyle/>
          <a:p>
            <a:r>
              <a:rPr sz="1050" b="1" i="0">
                <a:solidFill>
                  <a:srgbClr val="086072"/>
                </a:solidFill>
                <a:latin typeface="Calibri"/>
              </a:rPr>
              <a:t>evaluate.py</a:t>
            </a:r>
          </a:p>
        </p:txBody>
      </p:sp>
      <p:sp>
        <p:nvSpPr>
          <p:cNvPr id="57" name="TextBox 56"/>
          <p:cNvSpPr txBox="1"/>
          <p:nvPr/>
        </p:nvSpPr>
        <p:spPr>
          <a:xfrm>
            <a:off x="5989320"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Test-set metrics, latency, confusion matrices.</a:t>
            </a:r>
          </a:p>
        </p:txBody>
      </p:sp>
      <p:sp>
        <p:nvSpPr>
          <p:cNvPr id="58" name="Rectangle 57"/>
          <p:cNvSpPr/>
          <p:nvPr/>
        </p:nvSpPr>
        <p:spPr>
          <a:xfrm>
            <a:off x="8508492"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508492"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627364" y="4334256"/>
            <a:ext cx="2272284" cy="201168"/>
          </a:xfrm>
          <a:prstGeom prst="rect">
            <a:avLst/>
          </a:prstGeom>
          <a:noFill/>
        </p:spPr>
        <p:txBody>
          <a:bodyPr wrap="square" anchor="t" lIns="0" rIns="0" tIns="0" bIns="0">
            <a:spAutoFit/>
          </a:bodyPr>
          <a:lstStyle/>
          <a:p>
            <a:r>
              <a:rPr sz="1050" b="1" i="0">
                <a:solidFill>
                  <a:srgbClr val="086072"/>
                </a:solidFill>
                <a:latin typeface="Calibri"/>
              </a:rPr>
              <a:t>comparison.json</a:t>
            </a:r>
          </a:p>
        </p:txBody>
      </p:sp>
      <p:sp>
        <p:nvSpPr>
          <p:cNvPr id="61" name="TextBox 60"/>
          <p:cNvSpPr txBox="1"/>
          <p:nvPr/>
        </p:nvSpPr>
        <p:spPr>
          <a:xfrm>
            <a:off x="8627364"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Single source of truth the UI reads. No hardcoded numbers.</a:t>
            </a:r>
          </a:p>
        </p:txBody>
      </p:sp>
      <p:sp>
        <p:nvSpPr>
          <p:cNvPr id="62" name="TextBox 61"/>
          <p:cNvSpPr txBox="1"/>
          <p:nvPr/>
        </p:nvSpPr>
        <p:spPr>
          <a:xfrm>
            <a:off x="594360" y="501091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Design decision: MediaPipe runs server-side in Python, not in the browser, so landmark extraction is byte-for-byte the same code path used to build the training tensors — eliminating train/serve skew.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10 — MODULES</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Modules &amp; Responsibilities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502920" y="1645920"/>
          <a:ext cx="11155680" cy="4187952"/>
        </p:xfrm>
        <a:graphic>
          <a:graphicData uri="http://schemas.openxmlformats.org/drawingml/2006/table">
            <a:tbl>
              <a:tblPr firstRow="1">
                <a:tableStyleId>{5C22544A-7EE6-4342-B048-85BDC9FD1C3A}</a:tableStyleId>
              </a:tblPr>
              <a:tblGrid>
                <a:gridCol w="1691640"/>
                <a:gridCol w="1965960"/>
                <a:gridCol w="4846320"/>
                <a:gridCol w="2651760"/>
              </a:tblGrid>
              <a:tr h="347472">
                <a:tc>
                  <a:txBody>
                    <a:bodyPr wrap="square"/>
                    <a:lstStyle/>
                    <a:p>
                      <a:r>
                        <a:rPr sz="1150" b="1" i="0">
                          <a:solidFill>
                            <a:srgbClr val="FFFFFF"/>
                          </a:solidFill>
                          <a:latin typeface="Calibri"/>
                        </a:rPr>
                        <a:t>Module</a:t>
                      </a:r>
                    </a:p>
                  </a:txBody>
                  <a:tcPr marL="82296" marR="82296" marT="27432" marB="27432" anchor="ctr">
                    <a:solidFill>
                      <a:srgbClr val="086072"/>
                    </a:solidFill>
                  </a:tcPr>
                </a:tc>
                <a:tc>
                  <a:txBody>
                    <a:bodyPr wrap="square"/>
                    <a:lstStyle/>
                    <a:p>
                      <a:r>
                        <a:rPr sz="1150" b="1" i="0">
                          <a:solidFill>
                            <a:srgbClr val="FFFFFF"/>
                          </a:solidFill>
                          <a:latin typeface="Calibri"/>
                        </a:rPr>
                        <a:t>Location</a:t>
                      </a:r>
                    </a:p>
                  </a:txBody>
                  <a:tcPr marL="82296" marR="82296" marT="27432" marB="27432" anchor="ctr">
                    <a:solidFill>
                      <a:srgbClr val="086072"/>
                    </a:solidFill>
                  </a:tcPr>
                </a:tc>
                <a:tc>
                  <a:txBody>
                    <a:bodyPr wrap="square"/>
                    <a:lstStyle/>
                    <a:p>
                      <a:r>
                        <a:rPr sz="1150" b="1" i="0">
                          <a:solidFill>
                            <a:srgbClr val="FFFFFF"/>
                          </a:solidFill>
                          <a:latin typeface="Calibri"/>
                        </a:rPr>
                        <a:t>Responsibility</a:t>
                      </a:r>
                    </a:p>
                  </a:txBody>
                  <a:tcPr marL="82296" marR="82296" marT="27432" marB="27432" anchor="ctr">
                    <a:solidFill>
                      <a:srgbClr val="086072"/>
                    </a:solidFill>
                  </a:tcPr>
                </a:tc>
                <a:tc>
                  <a:txBody>
                    <a:bodyPr wrap="square"/>
                    <a:lstStyle/>
                    <a:p>
                      <a:r>
                        <a:rPr sz="1150" b="1" i="0">
                          <a:solidFill>
                            <a:srgbClr val="FFFFFF"/>
                          </a:solidFill>
                          <a:latin typeface="Calibri"/>
                        </a:rPr>
                        <a:t>Key output</a:t>
                      </a:r>
                    </a:p>
                  </a:txBody>
                  <a:tcPr marL="82296" marR="82296" marT="27432" marB="27432" anchor="ctr">
                    <a:solidFill>
                      <a:srgbClr val="086072"/>
                    </a:solidFill>
                  </a:tcPr>
                </a:tc>
              </a:tr>
              <a:tr h="548640">
                <a:tc>
                  <a:txBody>
                    <a:bodyPr wrap="square"/>
                    <a:lstStyle/>
                    <a:p>
                      <a:r>
                        <a:rPr sz="950" b="1" i="0">
                          <a:solidFill>
                            <a:srgbClr val="222222"/>
                          </a:solidFill>
                          <a:latin typeface="Calibri"/>
                        </a:rPr>
                        <a:t>Capture &amp; UI</a:t>
                      </a:r>
                    </a:p>
                  </a:txBody>
                  <a:tcPr marL="82296" marR="82296" marT="27432" marB="27432" anchor="ctr">
                    <a:solidFill>
                      <a:srgbClr val="FFFFFF"/>
                    </a:solidFill>
                  </a:tcPr>
                </a:tc>
                <a:tc>
                  <a:txBody>
                    <a:bodyPr wrap="square"/>
                    <a:lstStyle/>
                    <a:p>
                      <a:r>
                        <a:rPr sz="950" b="0" i="0">
                          <a:solidFill>
                            <a:srgbClr val="222222"/>
                          </a:solidFill>
                          <a:latin typeface="Calibri"/>
                        </a:rPr>
                        <a:t>frontend/src/pages</a:t>
                      </a:r>
                    </a:p>
                  </a:txBody>
                  <a:tcPr marL="82296" marR="82296" marT="27432" marB="27432" anchor="ctr">
                    <a:solidFill>
                      <a:srgbClr val="FFFFFF"/>
                    </a:solidFill>
                  </a:tcPr>
                </a:tc>
                <a:tc>
                  <a:txBody>
                    <a:bodyPr wrap="square"/>
                    <a:lstStyle/>
                    <a:p>
                      <a:r>
                        <a:rPr sz="950" b="0" i="0">
                          <a:solidFill>
                            <a:srgbClr val="222222"/>
                          </a:solidFill>
                          <a:latin typeface="Calibri"/>
                        </a:rPr>
                        <a:t>9 routes; webcam capture, caption assembly, landmark overlay, confidence chips, research dashboard</a:t>
                      </a:r>
                    </a:p>
                  </a:txBody>
                  <a:tcPr marL="82296" marR="82296" marT="27432" marB="27432" anchor="ctr">
                    <a:solidFill>
                      <a:srgbClr val="FFFFFF"/>
                    </a:solidFill>
                  </a:tcPr>
                </a:tc>
                <a:tc>
                  <a:txBody>
                    <a:bodyPr wrap="square"/>
                    <a:lstStyle/>
                    <a:p>
                      <a:r>
                        <a:rPr sz="950" b="0" i="0">
                          <a:solidFill>
                            <a:srgbClr val="222222"/>
                          </a:solidFill>
                          <a:latin typeface="Calibri"/>
                        </a:rPr>
                        <a:t>Rendered UI + JPEG frames</a:t>
                      </a:r>
                    </a:p>
                  </a:txBody>
                  <a:tcPr marL="82296" marR="82296" marT="27432" marB="27432" anchor="ctr">
                    <a:solidFill>
                      <a:srgbClr val="FFFFFF"/>
                    </a:solidFill>
                  </a:tcPr>
                </a:tc>
              </a:tr>
              <a:tr h="548640">
                <a:tc>
                  <a:txBody>
                    <a:bodyPr wrap="square"/>
                    <a:lstStyle/>
                    <a:p>
                      <a:r>
                        <a:rPr sz="950" b="1" i="0">
                          <a:solidFill>
                            <a:srgbClr val="222222"/>
                          </a:solidFill>
                          <a:latin typeface="Calibri"/>
                        </a:rPr>
                        <a:t>Landmark extraction</a:t>
                      </a:r>
                    </a:p>
                  </a:txBody>
                  <a:tcPr marL="82296" marR="82296" marT="27432" marB="27432" anchor="ctr">
                    <a:solidFill>
                      <a:srgbClr val="F7F4F5"/>
                    </a:solidFill>
                  </a:tcPr>
                </a:tc>
                <a:tc>
                  <a:txBody>
                    <a:bodyPr wrap="square"/>
                    <a:lstStyle/>
                    <a:p>
                      <a:r>
                        <a:rPr sz="950" b="0" i="0">
                          <a:solidFill>
                            <a:srgbClr val="222222"/>
                          </a:solidFill>
                          <a:latin typeface="Calibri"/>
                        </a:rPr>
                        <a:t>ml/scripts/preprocess.py</a:t>
                      </a:r>
                    </a:p>
                  </a:txBody>
                  <a:tcPr marL="82296" marR="82296" marT="27432" marB="27432" anchor="ctr">
                    <a:solidFill>
                      <a:srgbClr val="F7F4F5"/>
                    </a:solidFill>
                  </a:tcPr>
                </a:tc>
                <a:tc>
                  <a:txBody>
                    <a:bodyPr wrap="square"/>
                    <a:lstStyle/>
                    <a:p>
                      <a:r>
                        <a:rPr sz="950" b="0" i="0">
                          <a:solidFill>
                            <a:srgbClr val="222222"/>
                          </a:solidFill>
                          <a:latin typeface="Calibri"/>
                        </a:rPr>
                        <a:t>MediaPipe Holistic over each frame; wrist-origin normalisation, shoulder scaling, resample to T=60</a:t>
                      </a:r>
                    </a:p>
                  </a:txBody>
                  <a:tcPr marL="82296" marR="82296" marT="27432" marB="27432" anchor="ctr">
                    <a:solidFill>
                      <a:srgbClr val="F7F4F5"/>
                    </a:solidFill>
                  </a:tcPr>
                </a:tc>
                <a:tc>
                  <a:txBody>
                    <a:bodyPr wrap="square"/>
                    <a:lstStyle/>
                    <a:p>
                      <a:r>
                        <a:rPr sz="950" b="0" i="0">
                          <a:solidFill>
                            <a:srgbClr val="222222"/>
                          </a:solidFill>
                          <a:latin typeface="Calibri"/>
                        </a:rPr>
                        <a:t>(60, 225) float32 tensor</a:t>
                      </a:r>
                    </a:p>
                  </a:txBody>
                  <a:tcPr marL="82296" marR="82296" marT="27432" marB="27432" anchor="ctr">
                    <a:solidFill>
                      <a:srgbClr val="F7F4F5"/>
                    </a:solidFill>
                  </a:tcPr>
                </a:tc>
              </a:tr>
              <a:tr h="548640">
                <a:tc>
                  <a:txBody>
                    <a:bodyPr wrap="square"/>
                    <a:lstStyle/>
                    <a:p>
                      <a:r>
                        <a:rPr sz="950" b="1" i="0">
                          <a:solidFill>
                            <a:srgbClr val="222222"/>
                          </a:solidFill>
                          <a:latin typeface="Calibri"/>
                        </a:rPr>
                        <a:t>Dataset &amp; splits</a:t>
                      </a:r>
                    </a:p>
                  </a:txBody>
                  <a:tcPr marL="82296" marR="82296" marT="27432" marB="27432" anchor="ctr">
                    <a:solidFill>
                      <a:srgbClr val="FFFFFF"/>
                    </a:solidFill>
                  </a:tcPr>
                </a:tc>
                <a:tc>
                  <a:txBody>
                    <a:bodyPr wrap="square"/>
                    <a:lstStyle/>
                    <a:p>
                      <a:r>
                        <a:rPr sz="950" b="0" i="0">
                          <a:solidFill>
                            <a:srgbClr val="222222"/>
                          </a:solidFill>
                          <a:latin typeface="Calibri"/>
                        </a:rPr>
                        <a:t>ml/scripts/dataset.py</a:t>
                      </a:r>
                    </a:p>
                  </a:txBody>
                  <a:tcPr marL="82296" marR="82296" marT="27432" marB="27432" anchor="ctr">
                    <a:solidFill>
                      <a:srgbClr val="FFFFFF"/>
                    </a:solidFill>
                  </a:tcPr>
                </a:tc>
                <a:tc>
                  <a:txBody>
                    <a:bodyPr wrap="square"/>
                    <a:lstStyle/>
                    <a:p>
                      <a:r>
                        <a:rPr sz="950" b="0" i="0">
                          <a:solidFill>
                            <a:srgbClr val="222222"/>
                          </a:solidFill>
                          <a:latin typeface="Calibri"/>
                        </a:rPr>
                        <a:t>Stratified 70/15/15 split, per-feature z-score stats, train-time augmentation</a:t>
                      </a:r>
                    </a:p>
                  </a:txBody>
                  <a:tcPr marL="82296" marR="82296" marT="27432" marB="27432" anchor="ctr">
                    <a:solidFill>
                      <a:srgbClr val="FFFFFF"/>
                    </a:solidFill>
                  </a:tcPr>
                </a:tc>
                <a:tc>
                  <a:txBody>
                    <a:bodyPr wrap="square"/>
                    <a:lstStyle/>
                    <a:p>
                      <a:r>
                        <a:rPr sz="950" b="0" i="0">
                          <a:solidFill>
                            <a:srgbClr val="222222"/>
                          </a:solidFill>
                          <a:latin typeface="Calibri"/>
                        </a:rPr>
                        <a:t>DataLoader + norm stats</a:t>
                      </a:r>
                    </a:p>
                  </a:txBody>
                  <a:tcPr marL="82296" marR="82296" marT="27432" marB="27432" anchor="ctr">
                    <a:solidFill>
                      <a:srgbClr val="FFFFFF"/>
                    </a:solidFill>
                  </a:tcPr>
                </a:tc>
              </a:tr>
              <a:tr h="548640">
                <a:tc>
                  <a:txBody>
                    <a:bodyPr wrap="square"/>
                    <a:lstStyle/>
                    <a:p>
                      <a:r>
                        <a:rPr sz="950" b="1" i="0">
                          <a:solidFill>
                            <a:srgbClr val="222222"/>
                          </a:solidFill>
                          <a:latin typeface="Calibri"/>
                        </a:rPr>
                        <a:t>Model definitions</a:t>
                      </a:r>
                    </a:p>
                  </a:txBody>
                  <a:tcPr marL="82296" marR="82296" marT="27432" marB="27432" anchor="ctr">
                    <a:solidFill>
                      <a:srgbClr val="F7F4F5"/>
                    </a:solidFill>
                  </a:tcPr>
                </a:tc>
                <a:tc>
                  <a:txBody>
                    <a:bodyPr wrap="square"/>
                    <a:lstStyle/>
                    <a:p>
                      <a:r>
                        <a:rPr sz="950" b="0" i="0">
                          <a:solidFill>
                            <a:srgbClr val="222222"/>
                          </a:solidFill>
                          <a:latin typeface="Calibri"/>
                        </a:rPr>
                        <a:t>ml/scripts/models.py</a:t>
                      </a:r>
                    </a:p>
                  </a:txBody>
                  <a:tcPr marL="82296" marR="82296" marT="27432" marB="27432" anchor="ctr">
                    <a:solidFill>
                      <a:srgbClr val="F7F4F5"/>
                    </a:solidFill>
                  </a:tcPr>
                </a:tc>
                <a:tc>
                  <a:txBody>
                    <a:bodyPr wrap="square"/>
                    <a:lstStyle/>
                    <a:p>
                      <a:r>
                        <a:rPr sz="950" b="0" i="0">
                          <a:solidFill>
                            <a:srgbClr val="222222"/>
                          </a:solidFill>
                          <a:latin typeface="Calibri"/>
                        </a:rPr>
                        <a:t>BiLSTMClassifier, CNN1DClassifier (and a Transformer variant kept as a third control)</a:t>
                      </a:r>
                    </a:p>
                  </a:txBody>
                  <a:tcPr marL="82296" marR="82296" marT="27432" marB="27432" anchor="ctr">
                    <a:solidFill>
                      <a:srgbClr val="F7F4F5"/>
                    </a:solidFill>
                  </a:tcPr>
                </a:tc>
                <a:tc>
                  <a:txBody>
                    <a:bodyPr wrap="square"/>
                    <a:lstStyle/>
                    <a:p>
                      <a:r>
                        <a:rPr sz="950" b="0" i="0">
                          <a:solidFill>
                            <a:srgbClr val="222222"/>
                          </a:solidFill>
                          <a:latin typeface="Calibri"/>
                        </a:rPr>
                        <a:t>nn.Module + param count</a:t>
                      </a:r>
                    </a:p>
                  </a:txBody>
                  <a:tcPr marL="82296" marR="82296" marT="27432" marB="27432" anchor="ctr">
                    <a:solidFill>
                      <a:srgbClr val="F7F4F5"/>
                    </a:solidFill>
                  </a:tcPr>
                </a:tc>
              </a:tr>
              <a:tr h="548640">
                <a:tc>
                  <a:txBody>
                    <a:bodyPr wrap="square"/>
                    <a:lstStyle/>
                    <a:p>
                      <a:r>
                        <a:rPr sz="950" b="1" i="0">
                          <a:solidFill>
                            <a:srgbClr val="222222"/>
                          </a:solidFill>
                          <a:latin typeface="Calibri"/>
                        </a:rPr>
                        <a:t>Training</a:t>
                      </a:r>
                    </a:p>
                  </a:txBody>
                  <a:tcPr marL="82296" marR="82296" marT="27432" marB="27432" anchor="ctr">
                    <a:solidFill>
                      <a:srgbClr val="FFFFFF"/>
                    </a:solidFill>
                  </a:tcPr>
                </a:tc>
                <a:tc>
                  <a:txBody>
                    <a:bodyPr wrap="square"/>
                    <a:lstStyle/>
                    <a:p>
                      <a:r>
                        <a:rPr sz="950" b="0" i="0">
                          <a:solidFill>
                            <a:srgbClr val="222222"/>
                          </a:solidFill>
                          <a:latin typeface="Calibri"/>
                        </a:rPr>
                        <a:t>ml/scripts/_train.py</a:t>
                      </a:r>
                    </a:p>
                  </a:txBody>
                  <a:tcPr marL="82296" marR="82296" marT="27432" marB="27432" anchor="ctr">
                    <a:solidFill>
                      <a:srgbClr val="FFFFFF"/>
                    </a:solidFill>
                  </a:tcPr>
                </a:tc>
                <a:tc>
                  <a:txBody>
                    <a:bodyPr wrap="square"/>
                    <a:lstStyle/>
                    <a:p>
                      <a:r>
                        <a:rPr sz="950" b="0" i="0">
                          <a:solidFill>
                            <a:srgbClr val="222222"/>
                          </a:solidFill>
                          <a:latin typeface="Calibri"/>
                        </a:rPr>
                        <a:t>Shared loop: AdamW, cosine schedule, label smoothing, early stopping on val accuracy</a:t>
                      </a:r>
                    </a:p>
                  </a:txBody>
                  <a:tcPr marL="82296" marR="82296" marT="27432" marB="27432" anchor="ctr">
                    <a:solidFill>
                      <a:srgbClr val="FFFFFF"/>
                    </a:solidFill>
                  </a:tcPr>
                </a:tc>
                <a:tc>
                  <a:txBody>
                    <a:bodyPr wrap="square"/>
                    <a:lstStyle/>
                    <a:p>
                      <a:r>
                        <a:rPr sz="950" b="0" i="0">
                          <a:solidFill>
                            <a:srgbClr val="222222"/>
                          </a:solidFill>
                          <a:latin typeface="Calibri"/>
                        </a:rPr>
                        <a:t>.pt checkpoint + history.json</a:t>
                      </a:r>
                    </a:p>
                  </a:txBody>
                  <a:tcPr marL="82296" marR="82296" marT="27432" marB="27432" anchor="ctr">
                    <a:solidFill>
                      <a:srgbClr val="FFFFFF"/>
                    </a:solidFill>
                  </a:tcPr>
                </a:tc>
              </a:tr>
              <a:tr h="548640">
                <a:tc>
                  <a:txBody>
                    <a:bodyPr wrap="square"/>
                    <a:lstStyle/>
                    <a:p>
                      <a:r>
                        <a:rPr sz="950" b="1" i="0">
                          <a:solidFill>
                            <a:srgbClr val="222222"/>
                          </a:solidFill>
                          <a:latin typeface="Calibri"/>
                        </a:rPr>
                        <a:t>Evaluation</a:t>
                      </a:r>
                    </a:p>
                  </a:txBody>
                  <a:tcPr marL="82296" marR="82296" marT="27432" marB="27432" anchor="ctr">
                    <a:solidFill>
                      <a:srgbClr val="F7F4F5"/>
                    </a:solidFill>
                  </a:tcPr>
                </a:tc>
                <a:tc>
                  <a:txBody>
                    <a:bodyPr wrap="square"/>
                    <a:lstStyle/>
                    <a:p>
                      <a:r>
                        <a:rPr sz="950" b="0" i="0">
                          <a:solidFill>
                            <a:srgbClr val="222222"/>
                          </a:solidFill>
                          <a:latin typeface="Calibri"/>
                        </a:rPr>
                        <a:t>ml/scripts/evaluate.py</a:t>
                      </a:r>
                    </a:p>
                  </a:txBody>
                  <a:tcPr marL="82296" marR="82296" marT="27432" marB="27432" anchor="ctr">
                    <a:solidFill>
                      <a:srgbClr val="F7F4F5"/>
                    </a:solidFill>
                  </a:tcPr>
                </a:tc>
                <a:tc>
                  <a:txBody>
                    <a:bodyPr wrap="square"/>
                    <a:lstStyle/>
                    <a:p>
                      <a:r>
                        <a:rPr sz="950" b="0" i="0">
                          <a:solidFill>
                            <a:srgbClr val="222222"/>
                          </a:solidFill>
                          <a:latin typeface="Calibri"/>
                        </a:rPr>
                        <a:t>Test accuracy, top-k, macro/weighted F1, per-class F1, latency, confusion matrices</a:t>
                      </a:r>
                    </a:p>
                  </a:txBody>
                  <a:tcPr marL="82296" marR="82296" marT="27432" marB="27432" anchor="ctr">
                    <a:solidFill>
                      <a:srgbClr val="F7F4F5"/>
                    </a:solidFill>
                  </a:tcPr>
                </a:tc>
                <a:tc>
                  <a:txBody>
                    <a:bodyPr wrap="square"/>
                    <a:lstStyle/>
                    <a:p>
                      <a:r>
                        <a:rPr sz="950" b="0" i="0">
                          <a:solidFill>
                            <a:srgbClr val="222222"/>
                          </a:solidFill>
                          <a:latin typeface="Calibri"/>
                        </a:rPr>
                        <a:t>comparison.json + PNGs</a:t>
                      </a:r>
                    </a:p>
                  </a:txBody>
                  <a:tcPr marL="82296" marR="82296" marT="27432" marB="27432" anchor="ctr">
                    <a:solidFill>
                      <a:srgbClr val="F7F4F5"/>
                    </a:solidFill>
                  </a:tcPr>
                </a:tc>
              </a:tr>
              <a:tr h="548640">
                <a:tc>
                  <a:txBody>
                    <a:bodyPr wrap="square"/>
                    <a:lstStyle/>
                    <a:p>
                      <a:r>
                        <a:rPr sz="950" b="1" i="0">
                          <a:solidFill>
                            <a:srgbClr val="222222"/>
                          </a:solidFill>
                          <a:latin typeface="Calibri"/>
                        </a:rPr>
                        <a:t>Inference service</a:t>
                      </a:r>
                    </a:p>
                  </a:txBody>
                  <a:tcPr marL="82296" marR="82296" marT="27432" marB="27432" anchor="ctr">
                    <a:solidFill>
                      <a:srgbClr val="FFFFFF"/>
                    </a:solidFill>
                  </a:tcPr>
                </a:tc>
                <a:tc>
                  <a:txBody>
                    <a:bodyPr wrap="square"/>
                    <a:lstStyle/>
                    <a:p>
                      <a:r>
                        <a:rPr sz="950" b="0" i="0">
                          <a:solidFill>
                            <a:srgbClr val="222222"/>
                          </a:solidFill>
                          <a:latin typeface="Calibri"/>
                        </a:rPr>
                        <a:t>backend/inference.py</a:t>
                      </a:r>
                    </a:p>
                  </a:txBody>
                  <a:tcPr marL="82296" marR="82296" marT="27432" marB="27432" anchor="ctr">
                    <a:solidFill>
                      <a:srgbClr val="FFFFFF"/>
                    </a:solidFill>
                  </a:tcPr>
                </a:tc>
                <a:tc>
                  <a:txBody>
                    <a:bodyPr wrap="square"/>
                    <a:lstStyle/>
                    <a:p>
                      <a:r>
                        <a:rPr sz="950" b="0" i="0">
                          <a:solidFill>
                            <a:srgbClr val="222222"/>
                          </a:solidFill>
                          <a:latin typeface="Calibri"/>
                        </a:rPr>
                        <a:t>Loads checkpoints at boot, exposes predict(); falls back to a mock predictor when no weights exist</a:t>
                      </a:r>
                    </a:p>
                  </a:txBody>
                  <a:tcPr marL="82296" marR="82296" marT="27432" marB="27432" anchor="ctr">
                    <a:solidFill>
                      <a:srgbClr val="FFFFFF"/>
                    </a:solidFill>
                  </a:tcPr>
                </a:tc>
                <a:tc>
                  <a:txBody>
                    <a:bodyPr wrap="square"/>
                    <a:lstStyle/>
                    <a:p>
                      <a:r>
                        <a:rPr sz="950" b="0" i="0">
                          <a:solidFill>
                            <a:srgbClr val="222222"/>
                          </a:solidFill>
                          <a:latin typeface="Calibri"/>
                        </a:rPr>
                        <a:t>Gloss + confidence</a:t>
                      </a:r>
                    </a:p>
                  </a:txBody>
                  <a:tcPr marL="82296" marR="82296"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11.1 — DATASET DESCRIPTION</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INCLUDE (Full Corpus)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27632"/>
            <a:ext cx="10424160" cy="621792"/>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27632"/>
            <a:ext cx="73152" cy="6217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37360"/>
            <a:ext cx="9921240" cy="402336"/>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Source:  </a:t>
            </a:r>
            <a:r>
              <a:rPr sz="1150" b="0" i="0">
                <a:solidFill>
                  <a:srgbClr val="222222"/>
                </a:solidFill>
                <a:latin typeface="Calibri"/>
              </a:rPr>
              <a:t>INCLUDE — Indian Lexicon Sign Language Dataset, IIT Bombay (ACM MM 2020). Distributed via Zenodo; indexed as an ISL benchmark reference on IEEE DataPort. This project uses the FULL corpus (262 classes), not the 50-class INCLUDE-50 subset commonly redistributed on Kaggle.</a:t>
            </a:r>
          </a:p>
        </p:txBody>
      </p:sp>
      <p:sp>
        <p:nvSpPr>
          <p:cNvPr id="10" name="Rectangle 9"/>
          <p:cNvSpPr/>
          <p:nvPr/>
        </p:nvSpPr>
        <p:spPr>
          <a:xfrm>
            <a:off x="59436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895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4,284</a:t>
            </a:r>
          </a:p>
        </p:txBody>
      </p:sp>
      <p:sp>
        <p:nvSpPr>
          <p:cNvPr id="12" name="TextBox 11"/>
          <p:cNvSpPr txBox="1"/>
          <p:nvPr/>
        </p:nvSpPr>
        <p:spPr>
          <a:xfrm>
            <a:off x="72237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VIDEOS ON DISK</a:t>
            </a:r>
          </a:p>
        </p:txBody>
      </p:sp>
      <p:sp>
        <p:nvSpPr>
          <p:cNvPr id="13" name="TextBox 12"/>
          <p:cNvSpPr txBox="1"/>
          <p:nvPr/>
        </p:nvSpPr>
        <p:spPr>
          <a:xfrm>
            <a:off x="72237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Counted in the local copy of the archive</a:t>
            </a:r>
          </a:p>
        </p:txBody>
      </p:sp>
      <p:sp>
        <p:nvSpPr>
          <p:cNvPr id="14" name="Rectangle 13"/>
          <p:cNvSpPr/>
          <p:nvPr/>
        </p:nvSpPr>
        <p:spPr>
          <a:xfrm>
            <a:off x="324612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1071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262</a:t>
            </a:r>
          </a:p>
        </p:txBody>
      </p:sp>
      <p:sp>
        <p:nvSpPr>
          <p:cNvPr id="16" name="TextBox 15"/>
          <p:cNvSpPr txBox="1"/>
          <p:nvPr/>
        </p:nvSpPr>
        <p:spPr>
          <a:xfrm>
            <a:off x="337413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SIGN CLASSES</a:t>
            </a:r>
          </a:p>
        </p:txBody>
      </p:sp>
      <p:sp>
        <p:nvSpPr>
          <p:cNvPr id="17" name="TextBox 16"/>
          <p:cNvSpPr txBox="1"/>
          <p:nvPr/>
        </p:nvSpPr>
        <p:spPr>
          <a:xfrm>
            <a:off x="337413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vs 50 in the INCLUDE-50 subset — a 5× larger label space</a:t>
            </a:r>
          </a:p>
        </p:txBody>
      </p:sp>
      <p:sp>
        <p:nvSpPr>
          <p:cNvPr id="18" name="Rectangle 17"/>
          <p:cNvSpPr/>
          <p:nvPr/>
        </p:nvSpPr>
        <p:spPr>
          <a:xfrm>
            <a:off x="589788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6247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54 GB</a:t>
            </a:r>
          </a:p>
        </p:txBody>
      </p:sp>
      <p:sp>
        <p:nvSpPr>
          <p:cNvPr id="20" name="TextBox 19"/>
          <p:cNvSpPr txBox="1"/>
          <p:nvPr/>
        </p:nvSpPr>
        <p:spPr>
          <a:xfrm>
            <a:off x="602589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RAW FOOTAGE</a:t>
            </a:r>
          </a:p>
        </p:txBody>
      </p:sp>
      <p:sp>
        <p:nvSpPr>
          <p:cNvPr id="21" name="TextBox 20"/>
          <p:cNvSpPr txBox="1"/>
          <p:nvPr/>
        </p:nvSpPr>
        <p:spPr>
          <a:xfrm>
            <a:off x="602589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Reduced to ~10–20 MB of tensors after extraction</a:t>
            </a:r>
          </a:p>
        </p:txBody>
      </p:sp>
      <p:sp>
        <p:nvSpPr>
          <p:cNvPr id="22" name="Rectangle 21"/>
          <p:cNvSpPr/>
          <p:nvPr/>
        </p:nvSpPr>
        <p:spPr>
          <a:xfrm>
            <a:off x="854964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1423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20</a:t>
            </a:r>
          </a:p>
        </p:txBody>
      </p:sp>
      <p:sp>
        <p:nvSpPr>
          <p:cNvPr id="24" name="TextBox 23"/>
          <p:cNvSpPr txBox="1"/>
          <p:nvPr/>
        </p:nvSpPr>
        <p:spPr>
          <a:xfrm>
            <a:off x="867765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CLASSES IN USE</a:t>
            </a:r>
          </a:p>
        </p:txBody>
      </p:sp>
      <p:sp>
        <p:nvSpPr>
          <p:cNvPr id="25" name="TextBox 24"/>
          <p:cNvSpPr txBox="1"/>
          <p:nvPr/>
        </p:nvSpPr>
        <p:spPr>
          <a:xfrm>
            <a:off x="867765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ISL-20 working subset for this case study</a:t>
            </a:r>
          </a:p>
        </p:txBody>
      </p:sp>
      <p:sp>
        <p:nvSpPr>
          <p:cNvPr id="26" name="TextBox 25"/>
          <p:cNvSpPr txBox="1"/>
          <p:nvPr/>
        </p:nvSpPr>
        <p:spPr>
          <a:xfrm>
            <a:off x="594360" y="4133087"/>
            <a:ext cx="10424160" cy="1097280"/>
          </a:xfrm>
          <a:prstGeom prst="rect">
            <a:avLst/>
          </a:prstGeom>
          <a:noFill/>
        </p:spPr>
        <p:txBody>
          <a:bodyPr wrap="square" anchor="t" lIns="0" rIns="0" tIns="0" bIns="0">
            <a:spAutoFit/>
          </a:bodyPr>
          <a:lstStyle/>
          <a:p>
            <a:pPr marL="342900" indent="-342900">
              <a:lnSpc>
                <a:spcPct val="115000"/>
              </a:lnSpc>
              <a:spcAft>
                <a:spcPts val="1400"/>
              </a:spcAft>
              <a:buChar char="✦"/>
            </a:pPr>
            <a:r>
              <a:rPr sz="1250" b="1" i="0">
                <a:solidFill>
                  <a:srgbClr val="086072"/>
                </a:solidFill>
                <a:latin typeface="Calibri"/>
              </a:rPr>
              <a:t>Category structure:  </a:t>
            </a:r>
            <a:r>
              <a:rPr sz="1250" b="0" i="0">
                <a:solidFill>
                  <a:srgbClr val="222222"/>
                </a:solidFill>
                <a:latin typeface="Calibri"/>
              </a:rPr>
              <a:t>videos are grouped into 15 semantic folders (Adjectives, Animals, Colours, Days_and_Time, Greetings, People, Places, Pronouns …), each containing one sub-folder per sign label.</a:t>
            </a:r>
          </a:p>
          <a:p>
            <a:pPr marL="342900" indent="-342900">
              <a:lnSpc>
                <a:spcPct val="115000"/>
              </a:lnSpc>
              <a:spcAft>
                <a:spcPts val="1400"/>
              </a:spcAft>
              <a:buChar char="✦"/>
            </a:pPr>
            <a:r>
              <a:rPr sz="1250" b="1" i="0">
                <a:solidFill>
                  <a:srgbClr val="086072"/>
                </a:solidFill>
                <a:latin typeface="Calibri"/>
              </a:rPr>
              <a:t>Recording conditions:  </a:t>
            </a:r>
            <a:r>
              <a:rPr sz="1250" b="0" i="0">
                <a:solidFill>
                  <a:srgbClr val="222222"/>
                </a:solidFill>
                <a:latin typeface="Calibri"/>
              </a:rPr>
              <a:t>multiple signers per class, plain indoor backgrounds, front-facing camera — the multi-signer property is what makes signer-invariance testable.</a:t>
            </a:r>
          </a:p>
        </p:txBody>
      </p:sp>
      <p:sp>
        <p:nvSpPr>
          <p:cNvPr id="27" name="TextBox 26"/>
          <p:cNvSpPr txBox="1"/>
          <p:nvPr/>
        </p:nvSpPr>
        <p:spPr>
          <a:xfrm>
            <a:off x="594360" y="54132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Working subset defined in ml/scripts/classes_isl20.txt — the intersection of the classes physically present in the archive and the vocabulary the application actually needs.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11.2 — DATASET CREATION</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From Raw Video to Training Tensors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2237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10" name="TextBox 9"/>
          <p:cNvSpPr txBox="1"/>
          <p:nvPr/>
        </p:nvSpPr>
        <p:spPr>
          <a:xfrm>
            <a:off x="722376" y="1975104"/>
            <a:ext cx="1359408" cy="219456"/>
          </a:xfrm>
          <a:prstGeom prst="rect">
            <a:avLst/>
          </a:prstGeom>
          <a:noFill/>
        </p:spPr>
        <p:txBody>
          <a:bodyPr wrap="square" anchor="t" lIns="0" rIns="0" tIns="0" bIns="0">
            <a:spAutoFit/>
          </a:bodyPr>
          <a:lstStyle/>
          <a:p>
            <a:r>
              <a:rPr sz="1100" b="1" i="0">
                <a:solidFill>
                  <a:srgbClr val="086072"/>
                </a:solidFill>
                <a:latin typeface="Calibri"/>
              </a:rPr>
              <a:t>Enumerate</a:t>
            </a:r>
          </a:p>
        </p:txBody>
      </p:sp>
      <p:sp>
        <p:nvSpPr>
          <p:cNvPr id="11" name="TextBox 10"/>
          <p:cNvSpPr txBox="1"/>
          <p:nvPr/>
        </p:nvSpPr>
        <p:spPr>
          <a:xfrm>
            <a:off x="72237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Recursive scan; label inferred from the parent folder name, snake-cased.</a:t>
            </a:r>
          </a:p>
        </p:txBody>
      </p:sp>
      <p:sp>
        <p:nvSpPr>
          <p:cNvPr id="12" name="TextBox 11"/>
          <p:cNvSpPr txBox="1"/>
          <p:nvPr/>
        </p:nvSpPr>
        <p:spPr>
          <a:xfrm>
            <a:off x="2214372"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3" name="Rectangle 12"/>
          <p:cNvSpPr/>
          <p:nvPr/>
        </p:nvSpPr>
        <p:spPr>
          <a:xfrm>
            <a:off x="2356104"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356104"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84120"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6" name="TextBox 15"/>
          <p:cNvSpPr txBox="1"/>
          <p:nvPr/>
        </p:nvSpPr>
        <p:spPr>
          <a:xfrm>
            <a:off x="2484120" y="1975104"/>
            <a:ext cx="1359408" cy="219456"/>
          </a:xfrm>
          <a:prstGeom prst="rect">
            <a:avLst/>
          </a:prstGeom>
          <a:noFill/>
        </p:spPr>
        <p:txBody>
          <a:bodyPr wrap="square" anchor="t" lIns="0" rIns="0" tIns="0" bIns="0">
            <a:spAutoFit/>
          </a:bodyPr>
          <a:lstStyle/>
          <a:p>
            <a:r>
              <a:rPr sz="1100" b="1" i="0">
                <a:solidFill>
                  <a:srgbClr val="086072"/>
                </a:solidFill>
                <a:latin typeface="Calibri"/>
              </a:rPr>
              <a:t>Decode</a:t>
            </a:r>
          </a:p>
        </p:txBody>
      </p:sp>
      <p:sp>
        <p:nvSpPr>
          <p:cNvPr id="17" name="TextBox 16"/>
          <p:cNvSpPr txBox="1"/>
          <p:nvPr/>
        </p:nvSpPr>
        <p:spPr>
          <a:xfrm>
            <a:off x="2484120"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OpenCV reads each clip; frames sampled evenly to a fixed budget.</a:t>
            </a:r>
          </a:p>
        </p:txBody>
      </p:sp>
      <p:sp>
        <p:nvSpPr>
          <p:cNvPr id="18" name="TextBox 17"/>
          <p:cNvSpPr txBox="1"/>
          <p:nvPr/>
        </p:nvSpPr>
        <p:spPr>
          <a:xfrm>
            <a:off x="3976116"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9" name="Rectangle 18"/>
          <p:cNvSpPr/>
          <p:nvPr/>
        </p:nvSpPr>
        <p:spPr>
          <a:xfrm>
            <a:off x="4117847"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117847"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245863"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2" name="TextBox 21"/>
          <p:cNvSpPr txBox="1"/>
          <p:nvPr/>
        </p:nvSpPr>
        <p:spPr>
          <a:xfrm>
            <a:off x="4245863" y="1975104"/>
            <a:ext cx="1359408" cy="219456"/>
          </a:xfrm>
          <a:prstGeom prst="rect">
            <a:avLst/>
          </a:prstGeom>
          <a:noFill/>
        </p:spPr>
        <p:txBody>
          <a:bodyPr wrap="square" anchor="t" lIns="0" rIns="0" tIns="0" bIns="0">
            <a:spAutoFit/>
          </a:bodyPr>
          <a:lstStyle/>
          <a:p>
            <a:r>
              <a:rPr sz="1100" b="1" i="0">
                <a:solidFill>
                  <a:srgbClr val="086072"/>
                </a:solidFill>
                <a:latin typeface="Calibri"/>
              </a:rPr>
              <a:t>Holistic</a:t>
            </a:r>
          </a:p>
        </p:txBody>
      </p:sp>
      <p:sp>
        <p:nvSpPr>
          <p:cNvPr id="23" name="TextBox 22"/>
          <p:cNvSpPr txBox="1"/>
          <p:nvPr/>
        </p:nvSpPr>
        <p:spPr>
          <a:xfrm>
            <a:off x="4245863"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MediaPipe extracts 21+21 hand and 33 pose landmarks per frame.</a:t>
            </a:r>
          </a:p>
        </p:txBody>
      </p:sp>
      <p:sp>
        <p:nvSpPr>
          <p:cNvPr id="24" name="TextBox 23"/>
          <p:cNvSpPr txBox="1"/>
          <p:nvPr/>
        </p:nvSpPr>
        <p:spPr>
          <a:xfrm>
            <a:off x="5737859"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5" name="Rectangle 24"/>
          <p:cNvSpPr/>
          <p:nvPr/>
        </p:nvSpPr>
        <p:spPr>
          <a:xfrm>
            <a:off x="5879592"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879592"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007607"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8" name="TextBox 27"/>
          <p:cNvSpPr txBox="1"/>
          <p:nvPr/>
        </p:nvSpPr>
        <p:spPr>
          <a:xfrm>
            <a:off x="6007607" y="1975104"/>
            <a:ext cx="1359408" cy="219456"/>
          </a:xfrm>
          <a:prstGeom prst="rect">
            <a:avLst/>
          </a:prstGeom>
          <a:noFill/>
        </p:spPr>
        <p:txBody>
          <a:bodyPr wrap="square" anchor="t" lIns="0" rIns="0" tIns="0" bIns="0">
            <a:spAutoFit/>
          </a:bodyPr>
          <a:lstStyle/>
          <a:p>
            <a:r>
              <a:rPr sz="1100" b="1" i="0">
                <a:solidFill>
                  <a:srgbClr val="086072"/>
                </a:solidFill>
                <a:latin typeface="Calibri"/>
              </a:rPr>
              <a:t>Normalise</a:t>
            </a:r>
          </a:p>
        </p:txBody>
      </p:sp>
      <p:sp>
        <p:nvSpPr>
          <p:cNvPr id="29" name="TextBox 28"/>
          <p:cNvSpPr txBox="1"/>
          <p:nvPr/>
        </p:nvSpPr>
        <p:spPr>
          <a:xfrm>
            <a:off x="6007607"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Hands re-centred on the wrist and scaled by shoulder width.</a:t>
            </a:r>
          </a:p>
        </p:txBody>
      </p:sp>
      <p:sp>
        <p:nvSpPr>
          <p:cNvPr id="30" name="TextBox 29"/>
          <p:cNvSpPr txBox="1"/>
          <p:nvPr/>
        </p:nvSpPr>
        <p:spPr>
          <a:xfrm>
            <a:off x="7499604"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1" name="Rectangle 30"/>
          <p:cNvSpPr/>
          <p:nvPr/>
        </p:nvSpPr>
        <p:spPr>
          <a:xfrm>
            <a:off x="7641335"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7641335"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769351"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4" name="TextBox 33"/>
          <p:cNvSpPr txBox="1"/>
          <p:nvPr/>
        </p:nvSpPr>
        <p:spPr>
          <a:xfrm>
            <a:off x="7769351" y="1975104"/>
            <a:ext cx="1359408" cy="219456"/>
          </a:xfrm>
          <a:prstGeom prst="rect">
            <a:avLst/>
          </a:prstGeom>
          <a:noFill/>
        </p:spPr>
        <p:txBody>
          <a:bodyPr wrap="square" anchor="t" lIns="0" rIns="0" tIns="0" bIns="0">
            <a:spAutoFit/>
          </a:bodyPr>
          <a:lstStyle/>
          <a:p>
            <a:r>
              <a:rPr sz="1100" b="1" i="0">
                <a:solidFill>
                  <a:srgbClr val="086072"/>
                </a:solidFill>
                <a:latin typeface="Calibri"/>
              </a:rPr>
              <a:t>Resample</a:t>
            </a:r>
          </a:p>
        </p:txBody>
      </p:sp>
      <p:sp>
        <p:nvSpPr>
          <p:cNvPr id="35" name="TextBox 34"/>
          <p:cNvSpPr txBox="1"/>
          <p:nvPr/>
        </p:nvSpPr>
        <p:spPr>
          <a:xfrm>
            <a:off x="7769351"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Linear index resampling to exactly T = 60 frames per clip.</a:t>
            </a:r>
          </a:p>
        </p:txBody>
      </p:sp>
      <p:sp>
        <p:nvSpPr>
          <p:cNvPr id="36" name="TextBox 35"/>
          <p:cNvSpPr txBox="1"/>
          <p:nvPr/>
        </p:nvSpPr>
        <p:spPr>
          <a:xfrm>
            <a:off x="9261347"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7" name="Rectangle 36"/>
          <p:cNvSpPr/>
          <p:nvPr/>
        </p:nvSpPr>
        <p:spPr>
          <a:xfrm>
            <a:off x="940308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9403080"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53109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06</a:t>
            </a:r>
          </a:p>
        </p:txBody>
      </p:sp>
      <p:sp>
        <p:nvSpPr>
          <p:cNvPr id="40" name="TextBox 39"/>
          <p:cNvSpPr txBox="1"/>
          <p:nvPr/>
        </p:nvSpPr>
        <p:spPr>
          <a:xfrm>
            <a:off x="9531096" y="1975104"/>
            <a:ext cx="1359408" cy="219456"/>
          </a:xfrm>
          <a:prstGeom prst="rect">
            <a:avLst/>
          </a:prstGeom>
          <a:noFill/>
        </p:spPr>
        <p:txBody>
          <a:bodyPr wrap="square" anchor="t" lIns="0" rIns="0" tIns="0" bIns="0">
            <a:spAutoFit/>
          </a:bodyPr>
          <a:lstStyle/>
          <a:p>
            <a:r>
              <a:rPr sz="1100" b="1" i="0">
                <a:solidFill>
                  <a:srgbClr val="086072"/>
                </a:solidFill>
                <a:latin typeface="Calibri"/>
              </a:rPr>
              <a:t>Persist</a:t>
            </a:r>
          </a:p>
        </p:txBody>
      </p:sp>
      <p:sp>
        <p:nvSpPr>
          <p:cNvPr id="41" name="TextBox 40"/>
          <p:cNvSpPr txBox="1"/>
          <p:nvPr/>
        </p:nvSpPr>
        <p:spPr>
          <a:xfrm>
            <a:off x="953109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Saved as &lt;label&gt;__&lt;take&gt;.npy plus a label_index.json manifest.</a:t>
            </a:r>
          </a:p>
        </p:txBody>
      </p:sp>
      <p:sp>
        <p:nvSpPr>
          <p:cNvPr id="42" name="TextBox 41"/>
          <p:cNvSpPr txBox="1"/>
          <p:nvPr/>
        </p:nvSpPr>
        <p:spPr>
          <a:xfrm>
            <a:off x="594360" y="2926080"/>
            <a:ext cx="5029200" cy="237744"/>
          </a:xfrm>
          <a:prstGeom prst="rect">
            <a:avLst/>
          </a:prstGeom>
          <a:noFill/>
        </p:spPr>
        <p:txBody>
          <a:bodyPr wrap="square" anchor="t" lIns="0" rIns="0" tIns="0" bIns="0">
            <a:spAutoFit/>
          </a:bodyPr>
          <a:lstStyle/>
          <a:p>
            <a:r>
              <a:rPr sz="900" b="1" i="0" spc="160">
                <a:solidFill>
                  <a:srgbClr val="B6114D"/>
                </a:solidFill>
                <a:latin typeface="Calibri"/>
              </a:rPr>
              <a:t>BALANCING &amp; HYGIENE</a:t>
            </a:r>
          </a:p>
        </p:txBody>
      </p:sp>
      <p:sp>
        <p:nvSpPr>
          <p:cNvPr id="43" name="Rectangle 42"/>
          <p:cNvSpPr/>
          <p:nvPr/>
        </p:nvSpPr>
        <p:spPr>
          <a:xfrm>
            <a:off x="59436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94360" y="3200400"/>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68680" y="3319272"/>
            <a:ext cx="4526280" cy="274320"/>
          </a:xfrm>
          <a:prstGeom prst="rect">
            <a:avLst/>
          </a:prstGeom>
          <a:noFill/>
        </p:spPr>
        <p:txBody>
          <a:bodyPr wrap="square" anchor="t" lIns="0" rIns="0" tIns="0" bIns="0">
            <a:spAutoFit/>
          </a:bodyPr>
          <a:lstStyle/>
          <a:p>
            <a:r>
              <a:rPr sz="1150" b="1" i="0">
                <a:solidFill>
                  <a:srgbClr val="086072"/>
                </a:solidFill>
                <a:latin typeface="Calibri"/>
              </a:rPr>
              <a:t>Per-class capping</a:t>
            </a:r>
          </a:p>
        </p:txBody>
      </p:sp>
      <p:sp>
        <p:nvSpPr>
          <p:cNvPr id="46" name="TextBox 45"/>
          <p:cNvSpPr txBox="1"/>
          <p:nvPr/>
        </p:nvSpPr>
        <p:spPr>
          <a:xfrm>
            <a:off x="86868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--max-per-class caps takes per label before any decoding happens, so a class with 40 takes cannot dominate one with 12.</a:t>
            </a:r>
          </a:p>
        </p:txBody>
      </p:sp>
      <p:sp>
        <p:nvSpPr>
          <p:cNvPr id="47" name="Rectangle 46"/>
          <p:cNvSpPr/>
          <p:nvPr/>
        </p:nvSpPr>
        <p:spPr>
          <a:xfrm>
            <a:off x="59436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594360" y="4096512"/>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8680" y="4215384"/>
            <a:ext cx="4526280" cy="274320"/>
          </a:xfrm>
          <a:prstGeom prst="rect">
            <a:avLst/>
          </a:prstGeom>
          <a:noFill/>
        </p:spPr>
        <p:txBody>
          <a:bodyPr wrap="square" anchor="t" lIns="0" rIns="0" tIns="0" bIns="0">
            <a:spAutoFit/>
          </a:bodyPr>
          <a:lstStyle/>
          <a:p>
            <a:r>
              <a:rPr sz="1150" b="1" i="0">
                <a:solidFill>
                  <a:srgbClr val="086072"/>
                </a:solidFill>
                <a:latin typeface="Calibri"/>
              </a:rPr>
              <a:t>Class whitelisting</a:t>
            </a:r>
          </a:p>
        </p:txBody>
      </p:sp>
      <p:sp>
        <p:nvSpPr>
          <p:cNvPr id="50" name="TextBox 49"/>
          <p:cNvSpPr txBox="1"/>
          <p:nvPr/>
        </p:nvSpPr>
        <p:spPr>
          <a:xfrm>
            <a:off x="86868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--classes restricts extraction to a curated label list, keeping compute proportional to the vocabulary actually served.</a:t>
            </a:r>
          </a:p>
        </p:txBody>
      </p:sp>
      <p:sp>
        <p:nvSpPr>
          <p:cNvPr id="51" name="Rectangle 50"/>
          <p:cNvSpPr/>
          <p:nvPr/>
        </p:nvSpPr>
        <p:spPr>
          <a:xfrm>
            <a:off x="59436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594360" y="4992624"/>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68680" y="5111496"/>
            <a:ext cx="4526280" cy="274320"/>
          </a:xfrm>
          <a:prstGeom prst="rect">
            <a:avLst/>
          </a:prstGeom>
          <a:noFill/>
        </p:spPr>
        <p:txBody>
          <a:bodyPr wrap="square" anchor="t" lIns="0" rIns="0" tIns="0" bIns="0">
            <a:spAutoFit/>
          </a:bodyPr>
          <a:lstStyle/>
          <a:p>
            <a:r>
              <a:rPr sz="1150" b="1" i="0">
                <a:solidFill>
                  <a:srgbClr val="086072"/>
                </a:solidFill>
                <a:latin typeface="Calibri"/>
              </a:rPr>
              <a:t>Disk discipline</a:t>
            </a:r>
          </a:p>
        </p:txBody>
      </p:sp>
      <p:sp>
        <p:nvSpPr>
          <p:cNvPr id="54" name="TextBox 53"/>
          <p:cNvSpPr txBox="1"/>
          <p:nvPr/>
        </p:nvSpPr>
        <p:spPr>
          <a:xfrm>
            <a:off x="86868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--delete-after removes each source video the moment its tensor is safely written, so peak disk stays near the size of one clip.</a:t>
            </a:r>
          </a:p>
        </p:txBody>
      </p:sp>
      <p:sp>
        <p:nvSpPr>
          <p:cNvPr id="55" name="TextBox 54"/>
          <p:cNvSpPr txBox="1"/>
          <p:nvPr/>
        </p:nvSpPr>
        <p:spPr>
          <a:xfrm>
            <a:off x="5989320" y="2926080"/>
            <a:ext cx="5029200" cy="237744"/>
          </a:xfrm>
          <a:prstGeom prst="rect">
            <a:avLst/>
          </a:prstGeom>
          <a:noFill/>
        </p:spPr>
        <p:txBody>
          <a:bodyPr wrap="square" anchor="t" lIns="0" rIns="0" tIns="0" bIns="0">
            <a:spAutoFit/>
          </a:bodyPr>
          <a:lstStyle/>
          <a:p>
            <a:r>
              <a:rPr sz="900" b="1" i="0" spc="160">
                <a:solidFill>
                  <a:srgbClr val="086072"/>
                </a:solidFill>
                <a:latin typeface="Calibri"/>
              </a:rPr>
              <a:t>TRAIN-TIME AUGMENTATION  (training split only)</a:t>
            </a:r>
          </a:p>
        </p:txBody>
      </p:sp>
      <p:sp>
        <p:nvSpPr>
          <p:cNvPr id="56" name="Rectangle 55"/>
          <p:cNvSpPr/>
          <p:nvPr/>
        </p:nvSpPr>
        <p:spPr>
          <a:xfrm>
            <a:off x="598932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5989320" y="3200400"/>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263640" y="3319272"/>
            <a:ext cx="4526280" cy="274320"/>
          </a:xfrm>
          <a:prstGeom prst="rect">
            <a:avLst/>
          </a:prstGeom>
          <a:noFill/>
        </p:spPr>
        <p:txBody>
          <a:bodyPr wrap="square" anchor="t" lIns="0" rIns="0" tIns="0" bIns="0">
            <a:spAutoFit/>
          </a:bodyPr>
          <a:lstStyle/>
          <a:p>
            <a:r>
              <a:rPr sz="1150" b="1" i="0">
                <a:solidFill>
                  <a:srgbClr val="086072"/>
                </a:solidFill>
                <a:latin typeface="Calibri"/>
              </a:rPr>
              <a:t>Gaussian coordinate jitter</a:t>
            </a:r>
          </a:p>
        </p:txBody>
      </p:sp>
      <p:sp>
        <p:nvSpPr>
          <p:cNvPr id="59" name="TextBox 58"/>
          <p:cNvSpPr txBox="1"/>
          <p:nvPr/>
        </p:nvSpPr>
        <p:spPr>
          <a:xfrm>
            <a:off x="626364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Small random noise on landmark coordinates, simulating MediaPipe's own estimation error.</a:t>
            </a:r>
          </a:p>
        </p:txBody>
      </p:sp>
      <p:sp>
        <p:nvSpPr>
          <p:cNvPr id="60" name="Rectangle 59"/>
          <p:cNvSpPr/>
          <p:nvPr/>
        </p:nvSpPr>
        <p:spPr>
          <a:xfrm>
            <a:off x="598932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5989320" y="4096512"/>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263640" y="4215384"/>
            <a:ext cx="4526280" cy="274320"/>
          </a:xfrm>
          <a:prstGeom prst="rect">
            <a:avLst/>
          </a:prstGeom>
          <a:noFill/>
        </p:spPr>
        <p:txBody>
          <a:bodyPr wrap="square" anchor="t" lIns="0" rIns="0" tIns="0" bIns="0">
            <a:spAutoFit/>
          </a:bodyPr>
          <a:lstStyle/>
          <a:p>
            <a:r>
              <a:rPr sz="1150" b="1" i="0">
                <a:solidFill>
                  <a:srgbClr val="086072"/>
                </a:solidFill>
                <a:latin typeface="Calibri"/>
              </a:rPr>
              <a:t>Random frame drop (p = 0.10)</a:t>
            </a:r>
          </a:p>
        </p:txBody>
      </p:sp>
      <p:sp>
        <p:nvSpPr>
          <p:cNvPr id="63" name="TextBox 62"/>
          <p:cNvSpPr txBox="1"/>
          <p:nvPr/>
        </p:nvSpPr>
        <p:spPr>
          <a:xfrm>
            <a:off x="626364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Frames zeroed at random to mimic dropped webcam frames and momentary tracking loss.</a:t>
            </a:r>
          </a:p>
        </p:txBody>
      </p:sp>
      <p:sp>
        <p:nvSpPr>
          <p:cNvPr id="64" name="Rectangle 63"/>
          <p:cNvSpPr/>
          <p:nvPr/>
        </p:nvSpPr>
        <p:spPr>
          <a:xfrm>
            <a:off x="598932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5989320" y="4992624"/>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263640" y="5111496"/>
            <a:ext cx="4526280" cy="274320"/>
          </a:xfrm>
          <a:prstGeom prst="rect">
            <a:avLst/>
          </a:prstGeom>
          <a:noFill/>
        </p:spPr>
        <p:txBody>
          <a:bodyPr wrap="square" anchor="t" lIns="0" rIns="0" tIns="0" bIns="0">
            <a:spAutoFit/>
          </a:bodyPr>
          <a:lstStyle/>
          <a:p>
            <a:r>
              <a:rPr sz="1150" b="1" i="0">
                <a:solidFill>
                  <a:srgbClr val="086072"/>
                </a:solidFill>
                <a:latin typeface="Calibri"/>
              </a:rPr>
              <a:t>Horizontal mirror</a:t>
            </a:r>
          </a:p>
        </p:txBody>
      </p:sp>
      <p:sp>
        <p:nvSpPr>
          <p:cNvPr id="67" name="TextBox 66"/>
          <p:cNvSpPr txBox="1"/>
          <p:nvPr/>
        </p:nvSpPr>
        <p:spPr>
          <a:xfrm>
            <a:off x="626364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Left/right pose indices are swapped correctly, so the model generalises across left- and right-handed signers.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11.3 — FEATURE REPRESENTATION</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What the Model Actually Sees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200" b="0" i="0">
                <a:solidFill>
                  <a:srgbClr val="222222"/>
                </a:solidFill>
                <a:latin typeface="Calibri"/>
              </a:rPr>
              <a:t>Every clip becomes a single tensor of shape  </a:t>
            </a:r>
            <a:r>
              <a:rPr sz="1200" b="1" i="0">
                <a:solidFill>
                  <a:srgbClr val="B6114D"/>
                </a:solidFill>
                <a:latin typeface="Consolas"/>
              </a:rPr>
              <a:t>(60, 225)</a:t>
            </a:r>
            <a:r>
              <a:rPr sz="1200" b="0" i="0">
                <a:solidFill>
                  <a:srgbClr val="222222"/>
                </a:solidFill>
                <a:latin typeface="Calibri"/>
              </a:rPr>
              <a:t>  —  60 time steps × 225 features  ≈ 54 KB, against ~12 MB of source video.</a:t>
            </a:r>
          </a:p>
        </p:txBody>
      </p:sp>
      <p:graphicFrame>
        <p:nvGraphicFramePr>
          <p:cNvPr id="10" name="Table 9"/>
          <p:cNvGraphicFramePr>
            <a:graphicFrameLocks noGrp="1"/>
          </p:cNvGraphicFramePr>
          <p:nvPr/>
        </p:nvGraphicFramePr>
        <p:xfrm>
          <a:off x="594360" y="2395728"/>
          <a:ext cx="10424160" cy="1517904"/>
        </p:xfrm>
        <a:graphic>
          <a:graphicData uri="http://schemas.openxmlformats.org/drawingml/2006/table">
            <a:tbl>
              <a:tblPr firstRow="1">
                <a:tableStyleId>{5C22544A-7EE6-4342-B048-85BDC9FD1C3A}</a:tableStyleId>
              </a:tblPr>
              <a:tblGrid>
                <a:gridCol w="1737360"/>
                <a:gridCol w="2103120"/>
                <a:gridCol w="2377440"/>
                <a:gridCol w="4206240"/>
              </a:tblGrid>
              <a:tr h="365760">
                <a:tc>
                  <a:txBody>
                    <a:bodyPr wrap="square"/>
                    <a:lstStyle/>
                    <a:p>
                      <a:r>
                        <a:rPr sz="1150" b="1" i="0">
                          <a:solidFill>
                            <a:srgbClr val="FFFFFF"/>
                          </a:solidFill>
                          <a:latin typeface="Calibri"/>
                        </a:rPr>
                        <a:t>Index range</a:t>
                      </a:r>
                    </a:p>
                  </a:txBody>
                  <a:tcPr marL="82296" marR="82296" marT="27432" marB="27432" anchor="ctr">
                    <a:solidFill>
                      <a:srgbClr val="086072"/>
                    </a:solidFill>
                  </a:tcPr>
                </a:tc>
                <a:tc>
                  <a:txBody>
                    <a:bodyPr wrap="square"/>
                    <a:lstStyle/>
                    <a:p>
                      <a:r>
                        <a:rPr sz="1150" b="1" i="0">
                          <a:solidFill>
                            <a:srgbClr val="FFFFFF"/>
                          </a:solidFill>
                          <a:latin typeface="Calibri"/>
                        </a:rPr>
                        <a:t>Component</a:t>
                      </a:r>
                    </a:p>
                  </a:txBody>
                  <a:tcPr marL="82296" marR="82296" marT="27432" marB="27432" anchor="ctr">
                    <a:solidFill>
                      <a:srgbClr val="086072"/>
                    </a:solidFill>
                  </a:tcPr>
                </a:tc>
                <a:tc>
                  <a:txBody>
                    <a:bodyPr wrap="square"/>
                    <a:lstStyle/>
                    <a:p>
                      <a:r>
                        <a:rPr sz="1150" b="1" i="0">
                          <a:solidFill>
                            <a:srgbClr val="FFFFFF"/>
                          </a:solidFill>
                          <a:latin typeface="Calibri"/>
                        </a:rPr>
                        <a:t>Points × dims</a:t>
                      </a:r>
                    </a:p>
                  </a:txBody>
                  <a:tcPr marL="82296" marR="82296" marT="27432" marB="27432" anchor="ctr">
                    <a:solidFill>
                      <a:srgbClr val="086072"/>
                    </a:solidFill>
                  </a:tcPr>
                </a:tc>
                <a:tc>
                  <a:txBody>
                    <a:bodyPr wrap="square"/>
                    <a:lstStyle/>
                    <a:p>
                      <a:r>
                        <a:rPr sz="1150" b="1" i="0">
                          <a:solidFill>
                            <a:srgbClr val="FFFFFF"/>
                          </a:solidFill>
                          <a:latin typeface="Calibri"/>
                        </a:rPr>
                        <a:t>Normalisation</a:t>
                      </a:r>
                    </a:p>
                  </a:txBody>
                  <a:tcPr marL="82296" marR="82296" marT="27432" marB="27432" anchor="ctr">
                    <a:solidFill>
                      <a:srgbClr val="086072"/>
                    </a:solidFill>
                  </a:tcPr>
                </a:tc>
              </a:tr>
              <a:tr h="384048">
                <a:tc>
                  <a:txBody>
                    <a:bodyPr wrap="square"/>
                    <a:lstStyle/>
                    <a:p>
                      <a:r>
                        <a:rPr sz="1100" b="1" i="0">
                          <a:solidFill>
                            <a:srgbClr val="222222"/>
                          </a:solidFill>
                          <a:latin typeface="Calibri"/>
                        </a:rPr>
                        <a:t>0 : 63</a:t>
                      </a:r>
                    </a:p>
                  </a:txBody>
                  <a:tcPr marL="82296" marR="82296" marT="27432" marB="27432" anchor="ctr">
                    <a:solidFill>
                      <a:srgbClr val="FFFFFF"/>
                    </a:solidFill>
                  </a:tcPr>
                </a:tc>
                <a:tc>
                  <a:txBody>
                    <a:bodyPr wrap="square"/>
                    <a:lstStyle/>
                    <a:p>
                      <a:r>
                        <a:rPr sz="1100" b="0" i="0">
                          <a:solidFill>
                            <a:srgbClr val="222222"/>
                          </a:solidFill>
                          <a:latin typeface="Calibri"/>
                        </a:rPr>
                        <a:t>Left hand</a:t>
                      </a:r>
                    </a:p>
                  </a:txBody>
                  <a:tcPr marL="82296" marR="82296" marT="27432" marB="27432" anchor="ctr">
                    <a:solidFill>
                      <a:srgbClr val="FFFFFF"/>
                    </a:solidFill>
                  </a:tcPr>
                </a:tc>
                <a:tc>
                  <a:txBody>
                    <a:bodyPr wrap="square"/>
                    <a:lstStyle/>
                    <a:p>
                      <a:r>
                        <a:rPr sz="1100" b="0" i="0">
                          <a:solidFill>
                            <a:srgbClr val="222222"/>
                          </a:solidFill>
                          <a:latin typeface="Calibri"/>
                        </a:rPr>
                        <a:t>21 × (x, y, z)</a:t>
                      </a:r>
                    </a:p>
                  </a:txBody>
                  <a:tcPr marL="82296" marR="82296" marT="27432" marB="27432" anchor="ctr">
                    <a:solidFill>
                      <a:srgbClr val="FFFFFF"/>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FFFFF"/>
                    </a:solidFill>
                  </a:tcPr>
                </a:tc>
              </a:tr>
              <a:tr h="384048">
                <a:tc>
                  <a:txBody>
                    <a:bodyPr wrap="square"/>
                    <a:lstStyle/>
                    <a:p>
                      <a:r>
                        <a:rPr sz="1100" b="1" i="0">
                          <a:solidFill>
                            <a:srgbClr val="222222"/>
                          </a:solidFill>
                          <a:latin typeface="Calibri"/>
                        </a:rPr>
                        <a:t>63 : 126</a:t>
                      </a:r>
                    </a:p>
                  </a:txBody>
                  <a:tcPr marL="82296" marR="82296" marT="27432" marB="27432" anchor="ctr">
                    <a:solidFill>
                      <a:srgbClr val="F7F4F5"/>
                    </a:solidFill>
                  </a:tcPr>
                </a:tc>
                <a:tc>
                  <a:txBody>
                    <a:bodyPr wrap="square"/>
                    <a:lstStyle/>
                    <a:p>
                      <a:r>
                        <a:rPr sz="1100" b="0" i="0">
                          <a:solidFill>
                            <a:srgbClr val="222222"/>
                          </a:solidFill>
                          <a:latin typeface="Calibri"/>
                        </a:rPr>
                        <a:t>Right hand</a:t>
                      </a:r>
                    </a:p>
                  </a:txBody>
                  <a:tcPr marL="82296" marR="82296" marT="27432" marB="27432" anchor="ctr">
                    <a:solidFill>
                      <a:srgbClr val="F7F4F5"/>
                    </a:solidFill>
                  </a:tcPr>
                </a:tc>
                <a:tc>
                  <a:txBody>
                    <a:bodyPr wrap="square"/>
                    <a:lstStyle/>
                    <a:p>
                      <a:r>
                        <a:rPr sz="1100" b="0" i="0">
                          <a:solidFill>
                            <a:srgbClr val="222222"/>
                          </a:solidFill>
                          <a:latin typeface="Calibri"/>
                        </a:rPr>
                        <a:t>21 × (x, y, z)</a:t>
                      </a:r>
                    </a:p>
                  </a:txBody>
                  <a:tcPr marL="82296" marR="82296" marT="27432" marB="27432" anchor="ctr">
                    <a:solidFill>
                      <a:srgbClr val="F7F4F5"/>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7F4F5"/>
                    </a:solidFill>
                  </a:tcPr>
                </a:tc>
              </a:tr>
              <a:tr h="384048">
                <a:tc>
                  <a:txBody>
                    <a:bodyPr wrap="square"/>
                    <a:lstStyle/>
                    <a:p>
                      <a:r>
                        <a:rPr sz="1100" b="1" i="0">
                          <a:solidFill>
                            <a:srgbClr val="222222"/>
                          </a:solidFill>
                          <a:latin typeface="Calibri"/>
                        </a:rPr>
                        <a:t>126 : 225</a:t>
                      </a:r>
                    </a:p>
                  </a:txBody>
                  <a:tcPr marL="82296" marR="82296" marT="27432" marB="27432" anchor="ctr">
                    <a:solidFill>
                      <a:srgbClr val="FFFFFF"/>
                    </a:solidFill>
                  </a:tcPr>
                </a:tc>
                <a:tc>
                  <a:txBody>
                    <a:bodyPr wrap="square"/>
                    <a:lstStyle/>
                    <a:p>
                      <a:r>
                        <a:rPr sz="1100" b="0" i="0">
                          <a:solidFill>
                            <a:srgbClr val="222222"/>
                          </a:solidFill>
                          <a:latin typeface="Calibri"/>
                        </a:rPr>
                        <a:t>Pose</a:t>
                      </a:r>
                    </a:p>
                  </a:txBody>
                  <a:tcPr marL="82296" marR="82296" marT="27432" marB="27432" anchor="ctr">
                    <a:solidFill>
                      <a:srgbClr val="FFFFFF"/>
                    </a:solidFill>
                  </a:tcPr>
                </a:tc>
                <a:tc>
                  <a:txBody>
                    <a:bodyPr wrap="square"/>
                    <a:lstStyle/>
                    <a:p>
                      <a:r>
                        <a:rPr sz="1100" b="0" i="0">
                          <a:solidFill>
                            <a:srgbClr val="222222"/>
                          </a:solidFill>
                          <a:latin typeface="Calibri"/>
                        </a:rPr>
                        <a:t>33 × (x, y, z)</a:t>
                      </a:r>
                    </a:p>
                  </a:txBody>
                  <a:tcPr marL="82296" marR="82296" marT="27432" marB="27432" anchor="ctr">
                    <a:solidFill>
                      <a:srgbClr val="FFFFFF"/>
                    </a:solidFill>
                  </a:tcPr>
                </a:tc>
                <a:tc>
                  <a:txBody>
                    <a:bodyPr wrap="square"/>
                    <a:lstStyle/>
                    <a:p>
                      <a:r>
                        <a:rPr sz="1100" b="0" i="0">
                          <a:solidFill>
                            <a:srgbClr val="222222"/>
                          </a:solidFill>
                          <a:latin typeface="Calibri"/>
                        </a:rPr>
                        <a:t>Raw normalised image coordinates</a:t>
                      </a:r>
                    </a:p>
                  </a:txBody>
                  <a:tcPr marL="82296" marR="82296" marT="27432" marB="27432" anchor="ctr">
                    <a:solidFill>
                      <a:srgbClr val="FFFFFF"/>
                    </a:solidFill>
                  </a:tcPr>
                </a:tc>
              </a:tr>
            </a:tbl>
          </a:graphicData>
        </a:graphic>
      </p:graphicFrame>
      <p:sp>
        <p:nvSpPr>
          <p:cNvPr id="11" name="Rectangle 10"/>
          <p:cNvSpPr/>
          <p:nvPr/>
        </p:nvSpPr>
        <p:spPr>
          <a:xfrm>
            <a:off x="59436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9436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68680" y="4306824"/>
            <a:ext cx="2807208" cy="274320"/>
          </a:xfrm>
          <a:prstGeom prst="rect">
            <a:avLst/>
          </a:prstGeom>
          <a:noFill/>
        </p:spPr>
        <p:txBody>
          <a:bodyPr wrap="square" anchor="t" lIns="0" rIns="0" tIns="0" bIns="0">
            <a:spAutoFit/>
          </a:bodyPr>
          <a:lstStyle/>
          <a:p>
            <a:r>
              <a:rPr sz="1150" b="1" i="0">
                <a:solidFill>
                  <a:srgbClr val="086072"/>
                </a:solidFill>
                <a:latin typeface="Calibri"/>
              </a:rPr>
              <a:t>Why landmarks, not pixels</a:t>
            </a:r>
          </a:p>
        </p:txBody>
      </p:sp>
      <p:sp>
        <p:nvSpPr>
          <p:cNvPr id="14" name="TextBox 13"/>
          <p:cNvSpPr txBox="1"/>
          <p:nvPr/>
        </p:nvSpPr>
        <p:spPr>
          <a:xfrm>
            <a:off x="86868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Signer identity, skin tone, clothing and background all disappear. The model cannot cheat on backgrounds — and INCLUDE has plenty of them.</a:t>
            </a:r>
          </a:p>
        </p:txBody>
      </p:sp>
      <p:sp>
        <p:nvSpPr>
          <p:cNvPr id="15" name="Rectangle 14"/>
          <p:cNvSpPr/>
          <p:nvPr/>
        </p:nvSpPr>
        <p:spPr>
          <a:xfrm>
            <a:off x="411480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114800" y="4187952"/>
            <a:ext cx="73152" cy="129844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89120" y="4306824"/>
            <a:ext cx="2807208" cy="274320"/>
          </a:xfrm>
          <a:prstGeom prst="rect">
            <a:avLst/>
          </a:prstGeom>
          <a:noFill/>
        </p:spPr>
        <p:txBody>
          <a:bodyPr wrap="square" anchor="t" lIns="0" rIns="0" tIns="0" bIns="0">
            <a:spAutoFit/>
          </a:bodyPr>
          <a:lstStyle/>
          <a:p>
            <a:r>
              <a:rPr sz="1150" b="1" i="0">
                <a:solidFill>
                  <a:srgbClr val="086072"/>
                </a:solidFill>
                <a:latin typeface="Calibri"/>
              </a:rPr>
              <a:t>Why a fixed T = 60</a:t>
            </a:r>
          </a:p>
        </p:txBody>
      </p:sp>
      <p:sp>
        <p:nvSpPr>
          <p:cNvPr id="18" name="TextBox 17"/>
          <p:cNvSpPr txBox="1"/>
          <p:nvPr/>
        </p:nvSpPr>
        <p:spPr>
          <a:xfrm>
            <a:off x="438912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vary in duration; a fixed window lets a plain classifier batch cleanly without padding masks or CTC alignment.</a:t>
            </a:r>
          </a:p>
        </p:txBody>
      </p:sp>
      <p:sp>
        <p:nvSpPr>
          <p:cNvPr id="19" name="Rectangle 18"/>
          <p:cNvSpPr/>
          <p:nvPr/>
        </p:nvSpPr>
        <p:spPr>
          <a:xfrm>
            <a:off x="763524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63524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09560" y="4306824"/>
            <a:ext cx="2807208" cy="274320"/>
          </a:xfrm>
          <a:prstGeom prst="rect">
            <a:avLst/>
          </a:prstGeom>
          <a:noFill/>
        </p:spPr>
        <p:txBody>
          <a:bodyPr wrap="square" anchor="t" lIns="0" rIns="0" tIns="0" bIns="0">
            <a:spAutoFit/>
          </a:bodyPr>
          <a:lstStyle/>
          <a:p>
            <a:r>
              <a:rPr sz="1150" b="1" i="0">
                <a:solidFill>
                  <a:srgbClr val="086072"/>
                </a:solidFill>
                <a:latin typeface="Calibri"/>
              </a:rPr>
              <a:t>Why z-score last</a:t>
            </a:r>
          </a:p>
        </p:txBody>
      </p:sp>
      <p:sp>
        <p:nvSpPr>
          <p:cNvPr id="22" name="TextBox 21"/>
          <p:cNvSpPr txBox="1"/>
          <p:nvPr/>
        </p:nvSpPr>
        <p:spPr>
          <a:xfrm>
            <a:off x="790956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Per-feature mean and standard deviation are computed on the training split only, then applied to val and test — no statistics leak across the split.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11.4 — EXTRACTION RESULTS</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Creation: Measured Output</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Executed run:  </a:t>
            </a:r>
            <a:r>
              <a:rPr sz="1150" b="0" i="0">
                <a:solidFill>
                  <a:srgbClr val="222222"/>
                </a:solidFill>
                <a:latin typeface="Calibri"/>
              </a:rPr>
              <a:t>MediaPipe Holistic (model_complexity = 1) over the ISL-20 whitelist, capped at 8 takes per class, 32 frames sampled per clip, 2 worker processes.</a:t>
            </a:r>
          </a:p>
        </p:txBody>
      </p:sp>
      <p:sp>
        <p:nvSpPr>
          <p:cNvPr id="10" name="Rectangle 9"/>
          <p:cNvSpPr/>
          <p:nvPr/>
        </p:nvSpPr>
        <p:spPr>
          <a:xfrm>
            <a:off x="59436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895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160</a:t>
            </a:r>
          </a:p>
        </p:txBody>
      </p:sp>
      <p:sp>
        <p:nvSpPr>
          <p:cNvPr id="12" name="TextBox 11"/>
          <p:cNvSpPr txBox="1"/>
          <p:nvPr/>
        </p:nvSpPr>
        <p:spPr>
          <a:xfrm>
            <a:off x="72237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TENSORS WRITTEN</a:t>
            </a:r>
          </a:p>
        </p:txBody>
      </p:sp>
      <p:sp>
        <p:nvSpPr>
          <p:cNvPr id="13" name="TextBox 12"/>
          <p:cNvSpPr txBox="1"/>
          <p:nvPr/>
        </p:nvSpPr>
        <p:spPr>
          <a:xfrm>
            <a:off x="72237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20 classes × 8 takes — perfectly balanced</a:t>
            </a:r>
          </a:p>
        </p:txBody>
      </p:sp>
      <p:sp>
        <p:nvSpPr>
          <p:cNvPr id="14" name="Rectangle 13"/>
          <p:cNvSpPr/>
          <p:nvPr/>
        </p:nvSpPr>
        <p:spPr>
          <a:xfrm>
            <a:off x="324612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1071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0</a:t>
            </a:r>
          </a:p>
        </p:txBody>
      </p:sp>
      <p:sp>
        <p:nvSpPr>
          <p:cNvPr id="16" name="TextBox 15"/>
          <p:cNvSpPr txBox="1"/>
          <p:nvPr/>
        </p:nvSpPr>
        <p:spPr>
          <a:xfrm>
            <a:off x="337413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EXTRACTION FAILURES</a:t>
            </a:r>
          </a:p>
        </p:txBody>
      </p:sp>
      <p:sp>
        <p:nvSpPr>
          <p:cNvPr id="17" name="TextBox 16"/>
          <p:cNvSpPr txBox="1"/>
          <p:nvPr/>
        </p:nvSpPr>
        <p:spPr>
          <a:xfrm>
            <a:off x="337413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Every clip yielded a finite (60, 225) tensor</a:t>
            </a:r>
          </a:p>
        </p:txBody>
      </p:sp>
      <p:sp>
        <p:nvSpPr>
          <p:cNvPr id="18" name="Rectangle 17"/>
          <p:cNvSpPr/>
          <p:nvPr/>
        </p:nvSpPr>
        <p:spPr>
          <a:xfrm>
            <a:off x="589788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6247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88%</a:t>
            </a:r>
          </a:p>
        </p:txBody>
      </p:sp>
      <p:sp>
        <p:nvSpPr>
          <p:cNvPr id="20" name="TextBox 19"/>
          <p:cNvSpPr txBox="1"/>
          <p:nvPr/>
        </p:nvSpPr>
        <p:spPr>
          <a:xfrm>
            <a:off x="602589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FRAMES WITH A HAND</a:t>
            </a:r>
          </a:p>
        </p:txBody>
      </p:sp>
      <p:sp>
        <p:nvSpPr>
          <p:cNvPr id="21" name="TextBox 20"/>
          <p:cNvSpPr txBox="1"/>
          <p:nvPr/>
        </p:nvSpPr>
        <p:spPr>
          <a:xfrm>
            <a:off x="602589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At least one hand localised by Holistic</a:t>
            </a:r>
          </a:p>
        </p:txBody>
      </p:sp>
      <p:sp>
        <p:nvSpPr>
          <p:cNvPr id="22" name="Rectangle 21"/>
          <p:cNvSpPr/>
          <p:nvPr/>
        </p:nvSpPr>
        <p:spPr>
          <a:xfrm>
            <a:off x="854964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1423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8.8 MB</a:t>
            </a:r>
          </a:p>
        </p:txBody>
      </p:sp>
      <p:sp>
        <p:nvSpPr>
          <p:cNvPr id="24" name="TextBox 23"/>
          <p:cNvSpPr txBox="1"/>
          <p:nvPr/>
        </p:nvSpPr>
        <p:spPr>
          <a:xfrm>
            <a:off x="867765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ON DISK</a:t>
            </a:r>
          </a:p>
        </p:txBody>
      </p:sp>
      <p:sp>
        <p:nvSpPr>
          <p:cNvPr id="25" name="TextBox 24"/>
          <p:cNvSpPr txBox="1"/>
          <p:nvPr/>
        </p:nvSpPr>
        <p:spPr>
          <a:xfrm>
            <a:off x="867765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From 54 GB of source video — a 6,000× reduction</a:t>
            </a:r>
          </a:p>
        </p:txBody>
      </p:sp>
      <p:sp>
        <p:nvSpPr>
          <p:cNvPr id="26" name="TextBox 25"/>
          <p:cNvSpPr txBox="1"/>
          <p:nvPr/>
        </p:nvSpPr>
        <p:spPr>
          <a:xfrm>
            <a:off x="594360" y="4059936"/>
            <a:ext cx="10424160" cy="237744"/>
          </a:xfrm>
          <a:prstGeom prst="rect">
            <a:avLst/>
          </a:prstGeom>
          <a:noFill/>
        </p:spPr>
        <p:txBody>
          <a:bodyPr wrap="square" anchor="t" lIns="0" rIns="0" tIns="0" bIns="0">
            <a:spAutoFit/>
          </a:bodyPr>
          <a:lstStyle/>
          <a:p>
            <a:r>
              <a:rPr sz="900" b="1" i="0" spc="160">
                <a:solidFill>
                  <a:srgbClr val="B6114D"/>
                </a:solidFill>
                <a:latin typeface="Calibri"/>
              </a:rPr>
              <a:t>DEFECT FOUND AND FIXED DURING THIS RUN</a:t>
            </a:r>
          </a:p>
        </p:txBody>
      </p:sp>
      <p:sp>
        <p:nvSpPr>
          <p:cNvPr id="27" name="Rectangle 26"/>
          <p:cNvSpPr/>
          <p:nvPr/>
        </p:nvSpPr>
        <p:spPr>
          <a:xfrm>
            <a:off x="594360" y="4334256"/>
            <a:ext cx="10424160" cy="10058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94360" y="4334256"/>
            <a:ext cx="73152" cy="100584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68680" y="4453128"/>
            <a:ext cx="9921240" cy="274320"/>
          </a:xfrm>
          <a:prstGeom prst="rect">
            <a:avLst/>
          </a:prstGeom>
          <a:noFill/>
        </p:spPr>
        <p:txBody>
          <a:bodyPr wrap="square" anchor="t" lIns="0" rIns="0" tIns="0" bIns="0">
            <a:spAutoFit/>
          </a:bodyPr>
          <a:lstStyle/>
          <a:p>
            <a:r>
              <a:rPr sz="1150" b="1" i="0">
                <a:solidFill>
                  <a:srgbClr val="086072"/>
                </a:solidFill>
                <a:latin typeface="Calibri"/>
              </a:rPr>
              <a:t>Atomic write never completed  ·  ml/scripts/preprocess.py</a:t>
            </a:r>
          </a:p>
        </p:txBody>
      </p:sp>
      <p:sp>
        <p:nvSpPr>
          <p:cNvPr id="30" name="TextBox 29"/>
          <p:cNvSpPr txBox="1"/>
          <p:nvPr/>
        </p:nvSpPr>
        <p:spPr>
          <a:xfrm>
            <a:off x="868680" y="4754880"/>
            <a:ext cx="9921240" cy="4754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worker saved to "&lt;name&gt;.npy.tmp" and then renamed it into place. numpy.save() appends ".npy" unless the filename already ends in it, so the temp file was actually written as "&lt;name&gt;.npy.tmp.npy" and every rename raised FileNotFoundError — the pipeline reported success while writing zero usable tensors. Fixed by saving through an open file handle, which suppresses the extension rewriting. All 160 tensors above were produced after the fix.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12.1 — MODEL A  ·  RECURRENT</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BiLSTM Architecture</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a:t>
            </a:r>
          </a:p>
        </p:txBody>
      </p:sp>
      <p:sp>
        <p:nvSpPr>
          <p:cNvPr id="9" name="TextBox 8"/>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60, 225)</a:t>
            </a:r>
          </a:p>
        </p:txBody>
      </p:sp>
      <p:sp>
        <p:nvSpPr>
          <p:cNvPr id="10" name="Rectangle 9"/>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Bi-LSTM layer 1</a:t>
            </a:r>
          </a:p>
        </p:txBody>
      </p:sp>
      <p:sp>
        <p:nvSpPr>
          <p:cNvPr id="12" name="TextBox 11"/>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3" name="Rectangle 12"/>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15" name="TextBox 14"/>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16" name="Rectangle 15"/>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Bi-LSTM layer 2</a:t>
            </a:r>
          </a:p>
        </p:txBody>
      </p:sp>
      <p:sp>
        <p:nvSpPr>
          <p:cNvPr id="18" name="TextBox 17"/>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9" name="Rectangle 18"/>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Mean-pool over time</a:t>
            </a:r>
          </a:p>
        </p:txBody>
      </p:sp>
      <p:sp>
        <p:nvSpPr>
          <p:cNvPr id="21" name="TextBox 20"/>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2" name="Rectangle 21"/>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24" name="TextBox 23"/>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25" name="Rectangle 24"/>
          <p:cNvSpPr/>
          <p:nvPr/>
        </p:nvSpPr>
        <p:spPr>
          <a:xfrm>
            <a:off x="594360" y="4361688"/>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Linear + GELU</a:t>
            </a:r>
          </a:p>
        </p:txBody>
      </p:sp>
      <p:sp>
        <p:nvSpPr>
          <p:cNvPr id="27" name="TextBox 26"/>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a:t>
            </a:r>
          </a:p>
        </p:txBody>
      </p:sp>
      <p:sp>
        <p:nvSpPr>
          <p:cNvPr id="28" name="Rectangle 27"/>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Dropout → Linear</a:t>
            </a:r>
          </a:p>
        </p:txBody>
      </p:sp>
      <p:sp>
        <p:nvSpPr>
          <p:cNvPr id="30" name="TextBox 29"/>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n_classes</a:t>
            </a:r>
          </a:p>
        </p:txBody>
      </p:sp>
      <p:sp>
        <p:nvSpPr>
          <p:cNvPr id="31" name="Rectangle 30"/>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3" name="TextBox 32"/>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4" name="TextBox 33"/>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B6114D"/>
                </a:solidFill>
                <a:latin typeface="Calibri"/>
              </a:rPr>
              <a:t>DESIGN RATIONALE</a:t>
            </a:r>
          </a:p>
        </p:txBody>
      </p:sp>
      <p:sp>
        <p:nvSpPr>
          <p:cNvPr id="35" name="Rectangle 34"/>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989320" y="1956816"/>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Bidirectional by design</a:t>
            </a:r>
          </a:p>
        </p:txBody>
      </p:sp>
      <p:sp>
        <p:nvSpPr>
          <p:cNvPr id="38" name="TextBox 37"/>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 sign's meaning often depends on both its onset and its release. Reading the sequence in both directions lets the classifier use the end of the gesture to disambiguate the beginning.</a:t>
            </a:r>
          </a:p>
        </p:txBody>
      </p:sp>
      <p:sp>
        <p:nvSpPr>
          <p:cNvPr id="39" name="Rectangle 38"/>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989320" y="3163824"/>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Mean-pool, not last hidden state</a:t>
            </a:r>
          </a:p>
        </p:txBody>
      </p:sp>
      <p:sp>
        <p:nvSpPr>
          <p:cNvPr id="42" name="TextBox 41"/>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do not always finish at frame 60. Averaging across all time steps avoids over-weighting whatever happens to be last.</a:t>
            </a:r>
          </a:p>
        </p:txBody>
      </p:sp>
      <p:sp>
        <p:nvSpPr>
          <p:cNvPr id="43" name="Rectangle 42"/>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989320" y="4370832"/>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Unbounded temporal context</a:t>
            </a:r>
          </a:p>
        </p:txBody>
      </p:sp>
      <p:sp>
        <p:nvSpPr>
          <p:cNvPr id="46" name="TextBox 45"/>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Recurrence carries state across the whole 60-frame window — the property the CNN deliberately lacks, which is what makes the comparison meaningful.</a:t>
            </a:r>
          </a:p>
        </p:txBody>
      </p:sp>
      <p:sp>
        <p:nvSpPr>
          <p:cNvPr id="47" name="TextBox 46"/>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BiLSTMClassifier. Parameter count is reported by evaluate.py at run time rather than asserted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12.2 — MODEL B  ·  CONVOLUTIONAL</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1D Temporal CNN Architecture</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 (transposed)</a:t>
            </a:r>
          </a:p>
        </p:txBody>
      </p:sp>
      <p:sp>
        <p:nvSpPr>
          <p:cNvPr id="9" name="TextBox 8"/>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225, 60)</a:t>
            </a:r>
          </a:p>
        </p:txBody>
      </p:sp>
      <p:sp>
        <p:nvSpPr>
          <p:cNvPr id="10" name="Rectangle 9"/>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2" name="TextBox 11"/>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225 → 128, k=5</a:t>
            </a:r>
          </a:p>
        </p:txBody>
      </p:sp>
      <p:sp>
        <p:nvSpPr>
          <p:cNvPr id="13" name="Rectangle 12"/>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15" name="TextBox 14"/>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60 → 30</a:t>
            </a:r>
          </a:p>
        </p:txBody>
      </p:sp>
      <p:sp>
        <p:nvSpPr>
          <p:cNvPr id="16" name="Rectangle 15"/>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8" name="TextBox 17"/>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256, k=5</a:t>
            </a:r>
          </a:p>
        </p:txBody>
      </p:sp>
      <p:sp>
        <p:nvSpPr>
          <p:cNvPr id="19" name="Rectangle 18"/>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21" name="TextBox 20"/>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30 → 15</a:t>
            </a:r>
          </a:p>
        </p:txBody>
      </p:sp>
      <p:sp>
        <p:nvSpPr>
          <p:cNvPr id="22" name="Rectangle 21"/>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24" name="TextBox 23"/>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256 → 256, k=5</a:t>
            </a:r>
          </a:p>
        </p:txBody>
      </p:sp>
      <p:sp>
        <p:nvSpPr>
          <p:cNvPr id="25" name="Rectangle 24"/>
          <p:cNvSpPr/>
          <p:nvPr/>
        </p:nvSpPr>
        <p:spPr>
          <a:xfrm>
            <a:off x="594360" y="436168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Avg-pool ++ Max-pool</a:t>
            </a:r>
          </a:p>
        </p:txBody>
      </p:sp>
      <p:sp>
        <p:nvSpPr>
          <p:cNvPr id="27" name="TextBox 26"/>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8" name="Rectangle 27"/>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Linear + GELU → Linear</a:t>
            </a:r>
          </a:p>
        </p:txBody>
      </p:sp>
      <p:sp>
        <p:nvSpPr>
          <p:cNvPr id="30" name="TextBox 29"/>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 → n_classes</a:t>
            </a:r>
          </a:p>
        </p:txBody>
      </p:sp>
      <p:sp>
        <p:nvSpPr>
          <p:cNvPr id="31" name="Rectangle 30"/>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3" name="TextBox 32"/>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4" name="TextBox 33"/>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086072"/>
                </a:solidFill>
                <a:latin typeface="Calibri"/>
              </a:rPr>
              <a:t>DESIGN RATIONALE</a:t>
            </a:r>
          </a:p>
        </p:txBody>
      </p:sp>
      <p:sp>
        <p:nvSpPr>
          <p:cNvPr id="35" name="Rectangle 34"/>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989320" y="1956816"/>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Time as the convolution axis</a:t>
            </a:r>
          </a:p>
        </p:txBody>
      </p:sp>
      <p:sp>
        <p:nvSpPr>
          <p:cNvPr id="38" name="TextBox 37"/>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225 landmark values are treated as channels and time as the spatial axis, so each kernel sees a fixed window of consecutive frames.</a:t>
            </a:r>
          </a:p>
        </p:txBody>
      </p:sp>
      <p:sp>
        <p:nvSpPr>
          <p:cNvPr id="39" name="Rectangle 38"/>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989320" y="3163824"/>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Bounded receptive field (~29 frames)</a:t>
            </a:r>
          </a:p>
        </p:txBody>
      </p:sp>
      <p:sp>
        <p:nvSpPr>
          <p:cNvPr id="42" name="TextBox 41"/>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Kernel 5 across three blocks with two pooling stages reaches roughly half the 60-frame window. It physically cannot model longer dependencies — that limitation is the experiment.</a:t>
            </a:r>
          </a:p>
        </p:txBody>
      </p:sp>
      <p:sp>
        <p:nvSpPr>
          <p:cNvPr id="43" name="Rectangle 42"/>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989320" y="4370832"/>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Dual pooling</a:t>
            </a:r>
          </a:p>
        </p:txBody>
      </p:sp>
      <p:sp>
        <p:nvSpPr>
          <p:cNvPr id="46" name="TextBox 45"/>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Average pooling captures the sustained shape of a sign; max pooling captures its sharpest moment. Concatenating both preserves each.</a:t>
            </a:r>
          </a:p>
        </p:txBody>
      </p:sp>
      <p:sp>
        <p:nvSpPr>
          <p:cNvPr id="47" name="TextBox 46"/>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CNN1DClassifier. Serves as the control: if it matches the BiLSTM, explicit long-range temporal modelling is not what these signs need.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13.1 — HYPERPARAMETERS</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Hyperparameter Table</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609344"/>
            <a:ext cx="10424160" cy="237744"/>
          </a:xfrm>
          <a:prstGeom prst="rect">
            <a:avLst/>
          </a:prstGeom>
          <a:noFill/>
        </p:spPr>
        <p:txBody>
          <a:bodyPr wrap="square" anchor="t" lIns="0" rIns="0" tIns="0" bIns="0">
            <a:spAutoFit/>
          </a:bodyPr>
          <a:lstStyle/>
          <a:p>
            <a:r>
              <a:rPr sz="900" b="1" i="0" spc="160">
                <a:solidFill>
                  <a:srgbClr val="B6114D"/>
                </a:solidFill>
                <a:latin typeface="Calibri"/>
              </a:rPr>
              <a:t>SHARED — IDENTICAL FOR BOTH MODELS</a:t>
            </a:r>
          </a:p>
        </p:txBody>
      </p:sp>
      <p:graphicFrame>
        <p:nvGraphicFramePr>
          <p:cNvPr id="8" name="Table 7"/>
          <p:cNvGraphicFramePr>
            <a:graphicFrameLocks noGrp="1"/>
          </p:cNvGraphicFramePr>
          <p:nvPr/>
        </p:nvGraphicFramePr>
        <p:xfrm>
          <a:off x="594360" y="1883664"/>
          <a:ext cx="10424160" cy="1883664"/>
        </p:xfrm>
        <a:graphic>
          <a:graphicData uri="http://schemas.openxmlformats.org/drawingml/2006/table">
            <a:tbl>
              <a:tblPr firstRow="1">
                <a:tableStyleId>{5C22544A-7EE6-4342-B048-85BDC9FD1C3A}</a:tableStyleId>
              </a:tblPr>
              <a:tblGrid>
                <a:gridCol w="2331720"/>
                <a:gridCol w="2606040"/>
                <a:gridCol w="2331720"/>
                <a:gridCol w="315468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r>
              <a:tr h="310896">
                <a:tc>
                  <a:txBody>
                    <a:bodyPr wrap="square"/>
                    <a:lstStyle/>
                    <a:p>
                      <a:r>
                        <a:rPr sz="1050" b="1" i="0">
                          <a:solidFill>
                            <a:srgbClr val="222222"/>
                          </a:solidFill>
                          <a:latin typeface="Calibri"/>
                        </a:rPr>
                        <a:t>Optimiser</a:t>
                      </a:r>
                    </a:p>
                  </a:txBody>
                  <a:tcPr marL="82296" marR="82296" marT="27432" marB="27432" anchor="ctr">
                    <a:solidFill>
                      <a:srgbClr val="FFFFFF"/>
                    </a:solidFill>
                  </a:tcPr>
                </a:tc>
                <a:tc>
                  <a:txBody>
                    <a:bodyPr wrap="square"/>
                    <a:lstStyle/>
                    <a:p>
                      <a:r>
                        <a:rPr sz="1050" b="0" i="0">
                          <a:solidFill>
                            <a:srgbClr val="222222"/>
                          </a:solidFill>
                          <a:latin typeface="Calibri"/>
                        </a:rPr>
                        <a:t>AdamW</a:t>
                      </a:r>
                    </a:p>
                  </a:txBody>
                  <a:tcPr marL="82296" marR="82296" marT="27432" marB="27432" anchor="ctr">
                    <a:solidFill>
                      <a:srgbClr val="FFFFFF"/>
                    </a:solidFill>
                  </a:tcPr>
                </a:tc>
                <a:tc>
                  <a:txBody>
                    <a:bodyPr wrap="square"/>
                    <a:lstStyle/>
                    <a:p>
                      <a:r>
                        <a:rPr sz="1050" b="0" i="0">
                          <a:solidFill>
                            <a:srgbClr val="222222"/>
                          </a:solidFill>
                          <a:latin typeface="Calibri"/>
                        </a:rPr>
                        <a:t>Loss</a:t>
                      </a:r>
                    </a:p>
                  </a:txBody>
                  <a:tcPr marL="82296" marR="82296" marT="27432" marB="27432" anchor="ctr">
                    <a:solidFill>
                      <a:srgbClr val="FFFFFF"/>
                    </a:solidFill>
                  </a:tcPr>
                </a:tc>
                <a:tc>
                  <a:txBody>
                    <a:bodyPr wrap="square"/>
                    <a:lstStyle/>
                    <a:p>
                      <a:r>
                        <a:rPr sz="1050" b="0" i="0">
                          <a:solidFill>
                            <a:srgbClr val="222222"/>
                          </a:solidFill>
                          <a:latin typeface="Calibri"/>
                        </a:rPr>
                        <a:t>Cross-entropy, label smoothing 0.05</a:t>
                      </a:r>
                    </a:p>
                  </a:txBody>
                  <a:tcPr marL="82296" marR="82296" marT="27432" marB="27432" anchor="ctr">
                    <a:solidFill>
                      <a:srgbClr val="FFFFFF"/>
                    </a:solidFill>
                  </a:tcPr>
                </a:tc>
              </a:tr>
              <a:tr h="310896">
                <a:tc>
                  <a:txBody>
                    <a:bodyPr wrap="square"/>
                    <a:lstStyle/>
                    <a:p>
                      <a:r>
                        <a:rPr sz="1050" b="1" i="0">
                          <a:solidFill>
                            <a:srgbClr val="222222"/>
                          </a:solidFill>
                          <a:latin typeface="Calibri"/>
                        </a:rPr>
                        <a:t>Learning rate</a:t>
                      </a:r>
                    </a:p>
                  </a:txBody>
                  <a:tcPr marL="82296" marR="82296" marT="27432" marB="27432" anchor="ctr">
                    <a:solidFill>
                      <a:srgbClr val="F7F4F5"/>
                    </a:solidFill>
                  </a:tcPr>
                </a:tc>
                <a:tc>
                  <a:txBody>
                    <a:bodyPr wrap="square"/>
                    <a:lstStyle/>
                    <a:p>
                      <a:r>
                        <a:rPr sz="1050" b="0" i="0">
                          <a:solidFill>
                            <a:srgbClr val="222222"/>
                          </a:solidFill>
                          <a:latin typeface="Calibri"/>
                        </a:rPr>
                        <a:t>1e-3 (initial)</a:t>
                      </a:r>
                    </a:p>
                  </a:txBody>
                  <a:tcPr marL="82296" marR="82296" marT="27432" marB="27432" anchor="ctr">
                    <a:solidFill>
                      <a:srgbClr val="F7F4F5"/>
                    </a:solidFill>
                  </a:tcPr>
                </a:tc>
                <a:tc>
                  <a:txBody>
                    <a:bodyPr wrap="square"/>
                    <a:lstStyle/>
                    <a:p>
                      <a:r>
                        <a:rPr sz="1050" b="0" i="0">
                          <a:solidFill>
                            <a:srgbClr val="222222"/>
                          </a:solidFill>
                          <a:latin typeface="Calibri"/>
                        </a:rPr>
                        <a:t>LR schedule</a:t>
                      </a:r>
                    </a:p>
                  </a:txBody>
                  <a:tcPr marL="82296" marR="82296" marT="27432" marB="27432" anchor="ctr">
                    <a:solidFill>
                      <a:srgbClr val="F7F4F5"/>
                    </a:solidFill>
                  </a:tcPr>
                </a:tc>
                <a:tc>
                  <a:txBody>
                    <a:bodyPr wrap="square"/>
                    <a:lstStyle/>
                    <a:p>
                      <a:r>
                        <a:rPr sz="1050" b="0" i="0">
                          <a:solidFill>
                            <a:srgbClr val="222222"/>
                          </a:solidFill>
                          <a:latin typeface="Calibri"/>
                        </a:rPr>
                        <a:t>CosineAnnealingLR, T_max = epochs</a:t>
                      </a:r>
                    </a:p>
                  </a:txBody>
                  <a:tcPr marL="82296" marR="82296" marT="27432" marB="27432" anchor="ctr">
                    <a:solidFill>
                      <a:srgbClr val="F7F4F5"/>
                    </a:solidFill>
                  </a:tcPr>
                </a:tc>
              </a:tr>
              <a:tr h="310896">
                <a:tc>
                  <a:txBody>
                    <a:bodyPr wrap="square"/>
                    <a:lstStyle/>
                    <a:p>
                      <a:r>
                        <a:rPr sz="1050" b="1" i="0">
                          <a:solidFill>
                            <a:srgbClr val="222222"/>
                          </a:solidFill>
                          <a:latin typeface="Calibri"/>
                        </a:rPr>
                        <a:t>Weight decay</a:t>
                      </a:r>
                    </a:p>
                  </a:txBody>
                  <a:tcPr marL="82296" marR="82296" marT="27432" marB="27432" anchor="ctr">
                    <a:solidFill>
                      <a:srgbClr val="FFFFFF"/>
                    </a:solidFill>
                  </a:tcPr>
                </a:tc>
                <a:tc>
                  <a:txBody>
                    <a:bodyPr wrap="square"/>
                    <a:lstStyle/>
                    <a:p>
                      <a:r>
                        <a:rPr sz="1050" b="0" i="0">
                          <a:solidFill>
                            <a:srgbClr val="222222"/>
                          </a:solidFill>
                          <a:latin typeface="Calibri"/>
                        </a:rPr>
                        <a:t>1e-4</a:t>
                      </a:r>
                    </a:p>
                  </a:txBody>
                  <a:tcPr marL="82296" marR="82296" marT="27432" marB="27432" anchor="ctr">
                    <a:solidFill>
                      <a:srgbClr val="FFFFFF"/>
                    </a:solidFill>
                  </a:tcPr>
                </a:tc>
                <a:tc>
                  <a:txBody>
                    <a:bodyPr wrap="square"/>
                    <a:lstStyle/>
                    <a:p>
                      <a:r>
                        <a:rPr sz="1050" b="0" i="0">
                          <a:solidFill>
                            <a:srgbClr val="222222"/>
                          </a:solidFill>
                          <a:latin typeface="Calibri"/>
                        </a:rPr>
                        <a:t>Batch size</a:t>
                      </a:r>
                    </a:p>
                  </a:txBody>
                  <a:tcPr marL="82296" marR="82296" marT="27432" marB="27432" anchor="ctr">
                    <a:solidFill>
                      <a:srgbClr val="FFFFFF"/>
                    </a:solidFill>
                  </a:tcPr>
                </a:tc>
                <a:tc>
                  <a:txBody>
                    <a:bodyPr wrap="square"/>
                    <a:lstStyle/>
                    <a:p>
                      <a:r>
                        <a:rPr sz="1050" b="0" i="0">
                          <a:solidFill>
                            <a:srgbClr val="222222"/>
                          </a:solidFill>
                          <a:latin typeface="Calibri"/>
                        </a:rPr>
                        <a:t>32</a:t>
                      </a:r>
                    </a:p>
                  </a:txBody>
                  <a:tcPr marL="82296" marR="82296" marT="27432" marB="27432" anchor="ctr">
                    <a:solidFill>
                      <a:srgbClr val="FFFFFF"/>
                    </a:solidFill>
                  </a:tcPr>
                </a:tc>
              </a:tr>
              <a:tr h="310896">
                <a:tc>
                  <a:txBody>
                    <a:bodyPr wrap="square"/>
                    <a:lstStyle/>
                    <a:p>
                      <a:r>
                        <a:rPr sz="1050" b="1" i="0">
                          <a:solidFill>
                            <a:srgbClr val="222222"/>
                          </a:solidFill>
                          <a:latin typeface="Calibri"/>
                        </a:rPr>
                        <a:t>Max epochs</a:t>
                      </a:r>
                    </a:p>
                  </a:txBody>
                  <a:tcPr marL="82296" marR="82296" marT="27432" marB="27432" anchor="ctr">
                    <a:solidFill>
                      <a:srgbClr val="F7F4F5"/>
                    </a:solidFill>
                  </a:tcPr>
                </a:tc>
                <a:tc>
                  <a:txBody>
                    <a:bodyPr wrap="square"/>
                    <a:lstStyle/>
                    <a:p>
                      <a:r>
                        <a:rPr sz="1050" b="0" i="0">
                          <a:solidFill>
                            <a:srgbClr val="222222"/>
                          </a:solidFill>
                          <a:latin typeface="Calibri"/>
                        </a:rPr>
                        <a:t>60</a:t>
                      </a:r>
                    </a:p>
                  </a:txBody>
                  <a:tcPr marL="82296" marR="82296" marT="27432" marB="27432" anchor="ctr">
                    <a:solidFill>
                      <a:srgbClr val="F7F4F5"/>
                    </a:solidFill>
                  </a:tcPr>
                </a:tc>
                <a:tc>
                  <a:txBody>
                    <a:bodyPr wrap="square"/>
                    <a:lstStyle/>
                    <a:p>
                      <a:r>
                        <a:rPr sz="1050" b="0" i="0">
                          <a:solidFill>
                            <a:srgbClr val="222222"/>
                          </a:solidFill>
                          <a:latin typeface="Calibri"/>
                        </a:rPr>
                        <a:t>Early stopping</a:t>
                      </a:r>
                    </a:p>
                  </a:txBody>
                  <a:tcPr marL="82296" marR="82296" marT="27432" marB="27432" anchor="ctr">
                    <a:solidFill>
                      <a:srgbClr val="F7F4F5"/>
                    </a:solidFill>
                  </a:tcPr>
                </a:tc>
                <a:tc>
                  <a:txBody>
                    <a:bodyPr wrap="square"/>
                    <a:lstStyle/>
                    <a:p>
                      <a:r>
                        <a:rPr sz="1050" b="0" i="0">
                          <a:solidFill>
                            <a:srgbClr val="222222"/>
                          </a:solidFill>
                          <a:latin typeface="Calibri"/>
                        </a:rPr>
                        <a:t>patience 20 on val accuracy</a:t>
                      </a:r>
                    </a:p>
                  </a:txBody>
                  <a:tcPr marL="82296" marR="82296" marT="27432" marB="27432" anchor="ctr">
                    <a:solidFill>
                      <a:srgbClr val="F7F4F5"/>
                    </a:solidFill>
                  </a:tcPr>
                </a:tc>
              </a:tr>
              <a:tr h="310896">
                <a:tc>
                  <a:txBody>
                    <a:bodyPr wrap="square"/>
                    <a:lstStyle/>
                    <a:p>
                      <a:r>
                        <a:rPr sz="1050" b="1" i="0">
                          <a:solidFill>
                            <a:srgbClr val="222222"/>
                          </a:solidFill>
                          <a:latin typeface="Calibri"/>
                        </a:rPr>
                        <a:t>Random seed</a:t>
                      </a:r>
                    </a:p>
                  </a:txBody>
                  <a:tcPr marL="82296" marR="82296" marT="27432" marB="27432" anchor="ctr">
                    <a:solidFill>
                      <a:srgbClr val="FFFFFF"/>
                    </a:solidFill>
                  </a:tcPr>
                </a:tc>
                <a:tc>
                  <a:txBody>
                    <a:bodyPr wrap="square"/>
                    <a:lstStyle/>
                    <a:p>
                      <a:r>
                        <a:rPr sz="1050" b="0" i="0">
                          <a:solidFill>
                            <a:srgbClr val="222222"/>
                          </a:solidFill>
                          <a:latin typeface="Calibri"/>
                        </a:rPr>
                        <a:t>42 (all libraries)</a:t>
                      </a:r>
                    </a:p>
                  </a:txBody>
                  <a:tcPr marL="82296" marR="82296" marT="27432" marB="27432" anchor="ctr">
                    <a:solidFill>
                      <a:srgbClr val="FFFFFF"/>
                    </a:solidFill>
                  </a:tcPr>
                </a:tc>
                <a:tc>
                  <a:txBody>
                    <a:bodyPr wrap="square"/>
                    <a:lstStyle/>
                    <a:p>
                      <a:r>
                        <a:rPr sz="1050" b="0" i="0">
                          <a:solidFill>
                            <a:srgbClr val="222222"/>
                          </a:solidFill>
                          <a:latin typeface="Calibri"/>
                        </a:rPr>
                        <a:t>Split</a:t>
                      </a:r>
                    </a:p>
                  </a:txBody>
                  <a:tcPr marL="82296" marR="82296" marT="27432" marB="27432" anchor="ctr">
                    <a:solidFill>
                      <a:srgbClr val="FFFFFF"/>
                    </a:solidFill>
                  </a:tcPr>
                </a:tc>
                <a:tc>
                  <a:txBody>
                    <a:bodyPr wrap="square"/>
                    <a:lstStyle/>
                    <a:p>
                      <a:r>
                        <a:rPr sz="1050" b="0" i="0">
                          <a:solidFill>
                            <a:srgbClr val="222222"/>
                          </a:solidFill>
                          <a:latin typeface="Calibri"/>
                        </a:rPr>
                        <a:t>Stratified 70 / 15 / 15</a:t>
                      </a:r>
                    </a:p>
                  </a:txBody>
                  <a:tcPr marL="82296" marR="82296" marT="27432" marB="27432" anchor="ctr">
                    <a:solidFill>
                      <a:srgbClr val="FFFFFF"/>
                    </a:solidFill>
                  </a:tcPr>
                </a:tc>
              </a:tr>
            </a:tbl>
          </a:graphicData>
        </a:graphic>
      </p:graphicFrame>
      <p:sp>
        <p:nvSpPr>
          <p:cNvPr id="9" name="TextBox 8"/>
          <p:cNvSpPr txBox="1"/>
          <p:nvPr/>
        </p:nvSpPr>
        <p:spPr>
          <a:xfrm>
            <a:off x="594360" y="3931920"/>
            <a:ext cx="10424160" cy="237744"/>
          </a:xfrm>
          <a:prstGeom prst="rect">
            <a:avLst/>
          </a:prstGeom>
          <a:noFill/>
        </p:spPr>
        <p:txBody>
          <a:bodyPr wrap="square" anchor="t" lIns="0" rIns="0" tIns="0" bIns="0">
            <a:spAutoFit/>
          </a:bodyPr>
          <a:lstStyle/>
          <a:p>
            <a:r>
              <a:rPr sz="900" b="1" i="0" spc="160">
                <a:solidFill>
                  <a:srgbClr val="086072"/>
                </a:solidFill>
                <a:latin typeface="Calibri"/>
              </a:rPr>
              <a:t>MODEL-SPECIFIC</a:t>
            </a:r>
          </a:p>
        </p:txBody>
      </p:sp>
      <p:graphicFrame>
        <p:nvGraphicFramePr>
          <p:cNvPr id="10" name="Table 9"/>
          <p:cNvGraphicFramePr>
            <a:graphicFrameLocks noGrp="1"/>
          </p:cNvGraphicFramePr>
          <p:nvPr/>
        </p:nvGraphicFramePr>
        <p:xfrm>
          <a:off x="594360" y="4206240"/>
          <a:ext cx="10424160" cy="1060704"/>
        </p:xfrm>
        <a:graphic>
          <a:graphicData uri="http://schemas.openxmlformats.org/drawingml/2006/table">
            <a:tbl>
              <a:tblPr firstRow="1">
                <a:tableStyleId>{5C22544A-7EE6-4342-B048-85BDC9FD1C3A}</a:tableStyleId>
              </a:tblPr>
              <a:tblGrid>
                <a:gridCol w="1234440"/>
                <a:gridCol w="2331720"/>
                <a:gridCol w="2148840"/>
                <a:gridCol w="960120"/>
                <a:gridCol w="1920240"/>
                <a:gridCol w="1828800"/>
              </a:tblGrid>
              <a:tr h="329184">
                <a:tc>
                  <a:txBody>
                    <a:bodyPr wrap="square"/>
                    <a:lstStyle/>
                    <a:p>
                      <a:r>
                        <a:rPr sz="1150" b="1" i="0">
                          <a:solidFill>
                            <a:srgbClr val="FFFFFF"/>
                          </a:solidFill>
                          <a:latin typeface="Calibri"/>
                        </a:rPr>
                        <a:t>Model</a:t>
                      </a:r>
                    </a:p>
                  </a:txBody>
                  <a:tcPr marL="82296" marR="82296" marT="27432" marB="27432" anchor="ctr">
                    <a:solidFill>
                      <a:srgbClr val="086072"/>
                    </a:solidFill>
                  </a:tcPr>
                </a:tc>
                <a:tc>
                  <a:txBody>
                    <a:bodyPr wrap="square"/>
                    <a:lstStyle/>
                    <a:p>
                      <a:r>
                        <a:rPr sz="1150" b="1" i="0">
                          <a:solidFill>
                            <a:srgbClr val="FFFFFF"/>
                          </a:solidFill>
                          <a:latin typeface="Calibri"/>
                        </a:rPr>
                        <a:t>Layers</a:t>
                      </a:r>
                    </a:p>
                  </a:txBody>
                  <a:tcPr marL="82296" marR="82296" marT="27432" marB="27432" anchor="ctr">
                    <a:solidFill>
                      <a:srgbClr val="086072"/>
                    </a:solidFill>
                  </a:tcPr>
                </a:tc>
                <a:tc>
                  <a:txBody>
                    <a:bodyPr wrap="square"/>
                    <a:lstStyle/>
                    <a:p>
                      <a:r>
                        <a:rPr sz="1150" b="1" i="0">
                          <a:solidFill>
                            <a:srgbClr val="FFFFFF"/>
                          </a:solidFill>
                          <a:latin typeface="Calibri"/>
                        </a:rPr>
                        <a:t>Width</a:t>
                      </a:r>
                    </a:p>
                  </a:txBody>
                  <a:tcPr marL="82296" marR="82296" marT="27432" marB="27432" anchor="ctr">
                    <a:solidFill>
                      <a:srgbClr val="086072"/>
                    </a:solidFill>
                  </a:tcPr>
                </a:tc>
                <a:tc>
                  <a:txBody>
                    <a:bodyPr wrap="square"/>
                    <a:lstStyle/>
                    <a:p>
                      <a:r>
                        <a:rPr sz="1150" b="1" i="0">
                          <a:solidFill>
                            <a:srgbClr val="FFFFFF"/>
                          </a:solidFill>
                          <a:latin typeface="Calibri"/>
                        </a:rPr>
                        <a:t>Dropout</a:t>
                      </a:r>
                    </a:p>
                  </a:txBody>
                  <a:tcPr marL="82296" marR="82296" marT="27432" marB="27432" anchor="ctr">
                    <a:solidFill>
                      <a:srgbClr val="086072"/>
                    </a:solidFill>
                  </a:tcPr>
                </a:tc>
                <a:tc>
                  <a:txBody>
                    <a:bodyPr wrap="square"/>
                    <a:lstStyle/>
                    <a:p>
                      <a:r>
                        <a:rPr sz="1150" b="1" i="0">
                          <a:solidFill>
                            <a:srgbClr val="FFFFFF"/>
                          </a:solidFill>
                          <a:latin typeface="Calibri"/>
                        </a:rPr>
                        <a:t>Pooling</a:t>
                      </a:r>
                    </a:p>
                  </a:txBody>
                  <a:tcPr marL="82296" marR="82296" marT="27432" marB="27432" anchor="ctr">
                    <a:solidFill>
                      <a:srgbClr val="086072"/>
                    </a:solidFill>
                  </a:tcPr>
                </a:tc>
                <a:tc>
                  <a:txBody>
                    <a:bodyPr wrap="square"/>
                    <a:lstStyle/>
                    <a:p>
                      <a:r>
                        <a:rPr sz="1150" b="1" i="0">
                          <a:solidFill>
                            <a:srgbClr val="FFFFFF"/>
                          </a:solidFill>
                          <a:latin typeface="Calibri"/>
                        </a:rPr>
                        <a:t>Head</a:t>
                      </a:r>
                    </a:p>
                  </a:txBody>
                  <a:tcPr marL="82296" marR="82296" marT="27432" marB="27432" anchor="ctr">
                    <a:solidFill>
                      <a:srgbClr val="086072"/>
                    </a:solidFill>
                  </a:tcPr>
                </a:tc>
              </a:tr>
              <a:tr h="365760">
                <a:tc>
                  <a:txBody>
                    <a:bodyPr wrap="square"/>
                    <a:lstStyle/>
                    <a:p>
                      <a:r>
                        <a:rPr sz="1050" b="1" i="0">
                          <a:solidFill>
                            <a:srgbClr val="222222"/>
                          </a:solidFill>
                          <a:latin typeface="Calibri"/>
                        </a:rPr>
                        <a:t>BiLSTM</a:t>
                      </a:r>
                    </a:p>
                  </a:txBody>
                  <a:tcPr marL="82296" marR="82296" marT="27432" marB="27432" anchor="ctr">
                    <a:solidFill>
                      <a:srgbClr val="FFFFFF"/>
                    </a:solidFill>
                  </a:tcPr>
                </a:tc>
                <a:tc>
                  <a:txBody>
                    <a:bodyPr wrap="square"/>
                    <a:lstStyle/>
                    <a:p>
                      <a:r>
                        <a:rPr sz="1050" b="0" i="0">
                          <a:solidFill>
                            <a:srgbClr val="222222"/>
                          </a:solidFill>
                          <a:latin typeface="Calibri"/>
                        </a:rPr>
                        <a:t>2 × bidirectional LSTM</a:t>
                      </a:r>
                    </a:p>
                  </a:txBody>
                  <a:tcPr marL="82296" marR="82296" marT="27432" marB="27432" anchor="ctr">
                    <a:solidFill>
                      <a:srgbClr val="FFFFFF"/>
                    </a:solidFill>
                  </a:tcPr>
                </a:tc>
                <a:tc>
                  <a:txBody>
                    <a:bodyPr wrap="square"/>
                    <a:lstStyle/>
                    <a:p>
                      <a:r>
                        <a:rPr sz="1050" b="0" i="0">
                          <a:solidFill>
                            <a:srgbClr val="222222"/>
                          </a:solidFill>
                          <a:latin typeface="Calibri"/>
                        </a:rPr>
                        <a:t>hidden 256 (→512 out)</a:t>
                      </a:r>
                    </a:p>
                  </a:txBody>
                  <a:tcPr marL="82296" marR="82296" marT="27432" marB="27432" anchor="ctr">
                    <a:solidFill>
                      <a:srgbClr val="FFFFFF"/>
                    </a:solidFill>
                  </a:tcPr>
                </a:tc>
                <a:tc>
                  <a:txBody>
                    <a:bodyPr wrap="square"/>
                    <a:lstStyle/>
                    <a:p>
                      <a:r>
                        <a:rPr sz="1050" b="0" i="0">
                          <a:solidFill>
                            <a:srgbClr val="222222"/>
                          </a:solidFill>
                          <a:latin typeface="Calibri"/>
                        </a:rPr>
                        <a:t>0.3</a:t>
                      </a:r>
                    </a:p>
                  </a:txBody>
                  <a:tcPr marL="82296" marR="82296" marT="27432" marB="27432" anchor="ctr">
                    <a:solidFill>
                      <a:srgbClr val="FFFFFF"/>
                    </a:solidFill>
                  </a:tcPr>
                </a:tc>
                <a:tc>
                  <a:txBody>
                    <a:bodyPr wrap="square"/>
                    <a:lstStyle/>
                    <a:p>
                      <a:r>
                        <a:rPr sz="1050" b="0" i="0">
                          <a:solidFill>
                            <a:srgbClr val="222222"/>
                          </a:solidFill>
                          <a:latin typeface="Calibri"/>
                        </a:rPr>
                        <a:t>Mean over T</a:t>
                      </a:r>
                    </a:p>
                  </a:txBody>
                  <a:tcPr marL="82296" marR="82296" marT="27432" marB="27432" anchor="ctr">
                    <a:solidFill>
                      <a:srgbClr val="FFFFFF"/>
                    </a:solidFill>
                  </a:tcPr>
                </a:tc>
                <a:tc>
                  <a:txBody>
                    <a:bodyPr wrap="square"/>
                    <a:lstStyle/>
                    <a:p>
                      <a:r>
                        <a:rPr sz="1050" b="0" i="0">
                          <a:solidFill>
                            <a:srgbClr val="222222"/>
                          </a:solidFill>
                          <a:latin typeface="Calibri"/>
                        </a:rPr>
                        <a:t>512 → 128 → n</a:t>
                      </a:r>
                    </a:p>
                  </a:txBody>
                  <a:tcPr marL="82296" marR="82296" marT="27432" marB="27432" anchor="ctr">
                    <a:solidFill>
                      <a:srgbClr val="FFFFFF"/>
                    </a:solidFill>
                  </a:tcPr>
                </a:tc>
              </a:tr>
              <a:tr h="365760">
                <a:tc>
                  <a:txBody>
                    <a:bodyPr wrap="square"/>
                    <a:lstStyle/>
                    <a:p>
                      <a:r>
                        <a:rPr sz="1050" b="1" i="0">
                          <a:solidFill>
                            <a:srgbClr val="222222"/>
                          </a:solidFill>
                          <a:latin typeface="Calibri"/>
                        </a:rPr>
                        <a:t>1D CNN</a:t>
                      </a:r>
                    </a:p>
                  </a:txBody>
                  <a:tcPr marL="82296" marR="82296" marT="27432" marB="27432" anchor="ctr">
                    <a:solidFill>
                      <a:srgbClr val="F7F4F5"/>
                    </a:solidFill>
                  </a:tcPr>
                </a:tc>
                <a:tc>
                  <a:txBody>
                    <a:bodyPr wrap="square"/>
                    <a:lstStyle/>
                    <a:p>
                      <a:r>
                        <a:rPr sz="1050" b="0" i="0">
                          <a:solidFill>
                            <a:srgbClr val="222222"/>
                          </a:solidFill>
                          <a:latin typeface="Calibri"/>
                        </a:rPr>
                        <a:t>3 × Conv1d, kernel 5</a:t>
                      </a:r>
                    </a:p>
                  </a:txBody>
                  <a:tcPr marL="82296" marR="82296" marT="27432" marB="27432" anchor="ctr">
                    <a:solidFill>
                      <a:srgbClr val="F7F4F5"/>
                    </a:solidFill>
                  </a:tcPr>
                </a:tc>
                <a:tc>
                  <a:txBody>
                    <a:bodyPr wrap="square"/>
                    <a:lstStyle/>
                    <a:p>
                      <a:r>
                        <a:rPr sz="1050" b="0" i="0">
                          <a:solidFill>
                            <a:srgbClr val="222222"/>
                          </a:solidFill>
                          <a:latin typeface="Calibri"/>
                        </a:rPr>
                        <a:t>128 → 256 → 256</a:t>
                      </a:r>
                    </a:p>
                  </a:txBody>
                  <a:tcPr marL="82296" marR="82296" marT="27432" marB="27432" anchor="ctr">
                    <a:solidFill>
                      <a:srgbClr val="F7F4F5"/>
                    </a:solidFill>
                  </a:tcPr>
                </a:tc>
                <a:tc>
                  <a:txBody>
                    <a:bodyPr wrap="square"/>
                    <a:lstStyle/>
                    <a:p>
                      <a:r>
                        <a:rPr sz="1050" b="0" i="0">
                          <a:solidFill>
                            <a:srgbClr val="222222"/>
                          </a:solidFill>
                          <a:latin typeface="Calibri"/>
                        </a:rPr>
                        <a:t>0.3</a:t>
                      </a:r>
                    </a:p>
                  </a:txBody>
                  <a:tcPr marL="82296" marR="82296" marT="27432" marB="27432" anchor="ctr">
                    <a:solidFill>
                      <a:srgbClr val="F7F4F5"/>
                    </a:solidFill>
                  </a:tcPr>
                </a:tc>
                <a:tc>
                  <a:txBody>
                    <a:bodyPr wrap="square"/>
                    <a:lstStyle/>
                    <a:p>
                      <a:r>
                        <a:rPr sz="1050" b="0" i="0">
                          <a:solidFill>
                            <a:srgbClr val="222222"/>
                          </a:solidFill>
                          <a:latin typeface="Calibri"/>
                        </a:rPr>
                        <a:t>Avg ++ Max (→512)</a:t>
                      </a:r>
                    </a:p>
                  </a:txBody>
                  <a:tcPr marL="82296" marR="82296" marT="27432" marB="27432" anchor="ctr">
                    <a:solidFill>
                      <a:srgbClr val="F7F4F5"/>
                    </a:solidFill>
                  </a:tcPr>
                </a:tc>
                <a:tc>
                  <a:txBody>
                    <a:bodyPr wrap="square"/>
                    <a:lstStyle/>
                    <a:p>
                      <a:r>
                        <a:rPr sz="1050" b="0" i="0">
                          <a:solidFill>
                            <a:srgbClr val="222222"/>
                          </a:solidFill>
                          <a:latin typeface="Calibri"/>
                        </a:rPr>
                        <a:t>512 → 128 → n</a:t>
                      </a:r>
                    </a:p>
                  </a:txBody>
                  <a:tcPr marL="82296" marR="82296" marT="27432" marB="27432" anchor="ctr">
                    <a:solidFill>
                      <a:srgbClr val="F7F4F5"/>
                    </a:solidFill>
                  </a:tcPr>
                </a:tc>
              </a:tr>
            </a:tbl>
          </a:graphicData>
        </a:graphic>
      </p:graphicFrame>
      <p:sp>
        <p:nvSpPr>
          <p:cNvPr id="11" name="TextBox 10"/>
          <p:cNvSpPr txBox="1"/>
          <p:nvPr/>
        </p:nvSpPr>
        <p:spPr>
          <a:xfrm>
            <a:off x="594360" y="5394960"/>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Values read directly from ml/scripts/_train.py and ml/scripts/models.py. The only variable between the two runs is the architecture — every other setting above is held constant by construction.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13.2 — HYPERPARAMETER TUNING</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Tuning Protocol</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64792"/>
            <a:ext cx="2807208" cy="274320"/>
          </a:xfrm>
          <a:prstGeom prst="rect">
            <a:avLst/>
          </a:prstGeom>
          <a:noFill/>
        </p:spPr>
        <p:txBody>
          <a:bodyPr wrap="square" anchor="t" lIns="0" rIns="0" tIns="0" bIns="0">
            <a:spAutoFit/>
          </a:bodyPr>
          <a:lstStyle/>
          <a:p>
            <a:r>
              <a:rPr sz="1150" b="1" i="0">
                <a:solidFill>
                  <a:srgbClr val="086072"/>
                </a:solidFill>
                <a:latin typeface="Calibri"/>
              </a:rPr>
              <a:t>Controlled comparison first</a:t>
            </a:r>
          </a:p>
        </p:txBody>
      </p:sp>
      <p:sp>
        <p:nvSpPr>
          <p:cNvPr id="10" name="TextBox 9"/>
          <p:cNvSpPr txBox="1"/>
          <p:nvPr/>
        </p:nvSpPr>
        <p:spPr>
          <a:xfrm>
            <a:off x="86868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Both models are trained under one fixed configuration before any tuning. If hyperparameters were tuned per model, an architecture difference and a tuning-budget difference would be indistinguishable.</a:t>
            </a:r>
          </a:p>
        </p:txBody>
      </p:sp>
      <p:sp>
        <p:nvSpPr>
          <p:cNvPr id="11" name="Rectangle 10"/>
          <p:cNvSpPr/>
          <p:nvPr/>
        </p:nvSpPr>
        <p:spPr>
          <a:xfrm>
            <a:off x="411480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114800" y="1645920"/>
            <a:ext cx="73152" cy="138988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89120" y="1764792"/>
            <a:ext cx="2807208" cy="274320"/>
          </a:xfrm>
          <a:prstGeom prst="rect">
            <a:avLst/>
          </a:prstGeom>
          <a:noFill/>
        </p:spPr>
        <p:txBody>
          <a:bodyPr wrap="square" anchor="t" lIns="0" rIns="0" tIns="0" bIns="0">
            <a:spAutoFit/>
          </a:bodyPr>
          <a:lstStyle/>
          <a:p>
            <a:r>
              <a:rPr sz="1150" b="1" i="0">
                <a:solidFill>
                  <a:srgbClr val="086072"/>
                </a:solidFill>
                <a:latin typeface="Calibri"/>
              </a:rPr>
              <a:t>Validation split only</a:t>
            </a:r>
          </a:p>
        </p:txBody>
      </p:sp>
      <p:sp>
        <p:nvSpPr>
          <p:cNvPr id="14" name="TextBox 13"/>
          <p:cNvSpPr txBox="1"/>
          <p:nvPr/>
        </p:nvSpPr>
        <p:spPr>
          <a:xfrm>
            <a:off x="438912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tuning decision is made on the validation split. The test split is touched exactly once, at the end, by evaluate.py.</a:t>
            </a:r>
          </a:p>
        </p:txBody>
      </p:sp>
      <p:sp>
        <p:nvSpPr>
          <p:cNvPr id="15" name="Rectangle 14"/>
          <p:cNvSpPr/>
          <p:nvPr/>
        </p:nvSpPr>
        <p:spPr>
          <a:xfrm>
            <a:off x="763524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63524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909560" y="1764792"/>
            <a:ext cx="2807208" cy="274320"/>
          </a:xfrm>
          <a:prstGeom prst="rect">
            <a:avLst/>
          </a:prstGeom>
          <a:noFill/>
        </p:spPr>
        <p:txBody>
          <a:bodyPr wrap="square" anchor="t" lIns="0" rIns="0" tIns="0" bIns="0">
            <a:spAutoFit/>
          </a:bodyPr>
          <a:lstStyle/>
          <a:p>
            <a:r>
              <a:rPr sz="1150" b="1" i="0">
                <a:solidFill>
                  <a:srgbClr val="086072"/>
                </a:solidFill>
                <a:latin typeface="Calibri"/>
              </a:rPr>
              <a:t>Seed held at 42</a:t>
            </a:r>
          </a:p>
        </p:txBody>
      </p:sp>
      <p:sp>
        <p:nvSpPr>
          <p:cNvPr id="18" name="TextBox 17"/>
          <p:cNvSpPr txBox="1"/>
          <p:nvPr/>
        </p:nvSpPr>
        <p:spPr>
          <a:xfrm>
            <a:off x="790956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Split, initialisation and augmentation all derive from one seed, so a re-run reproduces the same numbers and observed gaps are not shuffle luck.</a:t>
            </a:r>
          </a:p>
        </p:txBody>
      </p:sp>
      <p:sp>
        <p:nvSpPr>
          <p:cNvPr id="19" name="TextBox 18"/>
          <p:cNvSpPr txBox="1"/>
          <p:nvPr/>
        </p:nvSpPr>
        <p:spPr>
          <a:xfrm>
            <a:off x="594360" y="3218688"/>
            <a:ext cx="10424160" cy="237744"/>
          </a:xfrm>
          <a:prstGeom prst="rect">
            <a:avLst/>
          </a:prstGeom>
          <a:noFill/>
        </p:spPr>
        <p:txBody>
          <a:bodyPr wrap="square" anchor="t" lIns="0" rIns="0" tIns="0" bIns="0">
            <a:spAutoFit/>
          </a:bodyPr>
          <a:lstStyle/>
          <a:p>
            <a:r>
              <a:rPr sz="900" b="1" i="0" spc="160">
                <a:solidFill>
                  <a:srgbClr val="086072"/>
                </a:solidFill>
                <a:latin typeface="Calibri"/>
              </a:rPr>
              <a:t>SEARCH SPACE — SWEPT ON THE VALIDATION SPLIT</a:t>
            </a:r>
          </a:p>
        </p:txBody>
      </p:sp>
      <p:graphicFrame>
        <p:nvGraphicFramePr>
          <p:cNvPr id="20" name="Table 19"/>
          <p:cNvGraphicFramePr>
            <a:graphicFrameLocks noGrp="1"/>
          </p:cNvGraphicFramePr>
          <p:nvPr/>
        </p:nvGraphicFramePr>
        <p:xfrm>
          <a:off x="594360" y="3493008"/>
          <a:ext cx="10424160" cy="2249424"/>
        </p:xfrm>
        <a:graphic>
          <a:graphicData uri="http://schemas.openxmlformats.org/drawingml/2006/table">
            <a:tbl>
              <a:tblPr firstRow="1">
                <a:tableStyleId>{5C22544A-7EE6-4342-B048-85BDC9FD1C3A}</a:tableStyleId>
              </a:tblPr>
              <a:tblGrid>
                <a:gridCol w="1920240"/>
                <a:gridCol w="1965960"/>
                <a:gridCol w="2514600"/>
                <a:gridCol w="402336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Values explored</a:t>
                      </a:r>
                    </a:p>
                  </a:txBody>
                  <a:tcPr marL="82296" marR="82296" marT="27432" marB="27432" anchor="ctr">
                    <a:solidFill>
                      <a:srgbClr val="086072"/>
                    </a:solidFill>
                  </a:tcPr>
                </a:tc>
                <a:tc>
                  <a:txBody>
                    <a:bodyPr wrap="square"/>
                    <a:lstStyle/>
                    <a:p>
                      <a:r>
                        <a:rPr sz="1150" b="1" i="0">
                          <a:solidFill>
                            <a:srgbClr val="FFFFFF"/>
                          </a:solidFill>
                          <a:latin typeface="Calibri"/>
                        </a:rPr>
                        <a:t>Selection criterion</a:t>
                      </a:r>
                    </a:p>
                  </a:txBody>
                  <a:tcPr marL="82296" marR="82296" marT="27432" marB="27432" anchor="ctr">
                    <a:solidFill>
                      <a:srgbClr val="086072"/>
                    </a:solidFill>
                  </a:tcPr>
                </a:tc>
                <a:tc>
                  <a:txBody>
                    <a:bodyPr wrap="square"/>
                    <a:lstStyle/>
                    <a:p>
                      <a:r>
                        <a:rPr sz="1150" b="1" i="0">
                          <a:solidFill>
                            <a:srgbClr val="FFFFFF"/>
                          </a:solidFill>
                          <a:latin typeface="Calibri"/>
                        </a:rPr>
                        <a:t>Rationale</a:t>
                      </a:r>
                    </a:p>
                  </a:txBody>
                  <a:tcPr marL="82296" marR="82296" marT="27432" marB="27432" anchor="ctr">
                    <a:solidFill>
                      <a:srgbClr val="086072"/>
                    </a:solidFill>
                  </a:tcPr>
                </a:tc>
              </a:tr>
              <a:tr h="384048">
                <a:tc>
                  <a:txBody>
                    <a:bodyPr wrap="square"/>
                    <a:lstStyle/>
                    <a:p>
                      <a:r>
                        <a:rPr sz="950" b="1" i="0">
                          <a:solidFill>
                            <a:srgbClr val="222222"/>
                          </a:solidFill>
                          <a:latin typeface="Calibri"/>
                        </a:rPr>
                        <a:t>Learning rate</a:t>
                      </a:r>
                    </a:p>
                  </a:txBody>
                  <a:tcPr marL="82296" marR="82296" marT="27432" marB="27432" anchor="ctr">
                    <a:solidFill>
                      <a:srgbClr val="FFFFFF"/>
                    </a:solidFill>
                  </a:tcPr>
                </a:tc>
                <a:tc>
                  <a:txBody>
                    <a:bodyPr wrap="square"/>
                    <a:lstStyle/>
                    <a:p>
                      <a:r>
                        <a:rPr sz="950" b="0" i="0">
                          <a:solidFill>
                            <a:srgbClr val="222222"/>
                          </a:solidFill>
                          <a:latin typeface="Calibri"/>
                        </a:rPr>
                        <a:t>3e-4, 1e-3, 3e-3</a:t>
                      </a:r>
                    </a:p>
                  </a:txBody>
                  <a:tcPr marL="82296" marR="82296" marT="27432" marB="27432" anchor="ctr">
                    <a:solidFill>
                      <a:srgbClr val="FFFFFF"/>
                    </a:solidFill>
                  </a:tcPr>
                </a:tc>
                <a:tc>
                  <a:txBody>
                    <a:bodyPr wrap="square"/>
                    <a:lstStyle/>
                    <a:p>
                      <a:r>
                        <a:rPr sz="950" b="0" i="0">
                          <a:solidFill>
                            <a:srgbClr val="222222"/>
                          </a:solidFill>
                          <a:latin typeface="Calibri"/>
                        </a:rPr>
                        <a:t>Best val accuracy at early stop</a:t>
                      </a:r>
                    </a:p>
                  </a:txBody>
                  <a:tcPr marL="82296" marR="82296" marT="27432" marB="27432" anchor="ctr">
                    <a:solidFill>
                      <a:srgbClr val="FFFFFF"/>
                    </a:solidFill>
                  </a:tcPr>
                </a:tc>
                <a:tc>
                  <a:txBody>
                    <a:bodyPr wrap="square"/>
                    <a:lstStyle/>
                    <a:p>
                      <a:r>
                        <a:rPr sz="950" b="0" i="0">
                          <a:solidFill>
                            <a:srgbClr val="222222"/>
                          </a:solidFill>
                          <a:latin typeface="Calibri"/>
                        </a:rPr>
                        <a:t>Dominant term; cosine decay makes the initial value the main lever</a:t>
                      </a:r>
                    </a:p>
                  </a:txBody>
                  <a:tcPr marL="82296" marR="82296" marT="27432" marB="27432" anchor="ctr">
                    <a:solidFill>
                      <a:srgbClr val="FFFFFF"/>
                    </a:solidFill>
                  </a:tcPr>
                </a:tc>
              </a:tr>
              <a:tr h="384048">
                <a:tc>
                  <a:txBody>
                    <a:bodyPr wrap="square"/>
                    <a:lstStyle/>
                    <a:p>
                      <a:r>
                        <a:rPr sz="950" b="1" i="0">
                          <a:solidFill>
                            <a:srgbClr val="222222"/>
                          </a:solidFill>
                          <a:latin typeface="Calibri"/>
                        </a:rPr>
                        <a:t>Batch size</a:t>
                      </a:r>
                    </a:p>
                  </a:txBody>
                  <a:tcPr marL="82296" marR="82296" marT="27432" marB="27432" anchor="ctr">
                    <a:solidFill>
                      <a:srgbClr val="F7F4F5"/>
                    </a:solidFill>
                  </a:tcPr>
                </a:tc>
                <a:tc>
                  <a:txBody>
                    <a:bodyPr wrap="square"/>
                    <a:lstStyle/>
                    <a:p>
                      <a:r>
                        <a:rPr sz="950" b="0" i="0">
                          <a:solidFill>
                            <a:srgbClr val="222222"/>
                          </a:solidFill>
                          <a:latin typeface="Calibri"/>
                        </a:rPr>
                        <a:t>16, 32, 64</a:t>
                      </a:r>
                    </a:p>
                  </a:txBody>
                  <a:tcPr marL="82296" marR="82296" marT="27432" marB="27432" anchor="ctr">
                    <a:solidFill>
                      <a:srgbClr val="F7F4F5"/>
                    </a:solidFill>
                  </a:tcPr>
                </a:tc>
                <a:tc>
                  <a:txBody>
                    <a:bodyPr wrap="square"/>
                    <a:lstStyle/>
                    <a:p>
                      <a:r>
                        <a:rPr sz="950" b="0" i="0">
                          <a:solidFill>
                            <a:srgbClr val="222222"/>
                          </a:solidFill>
                          <a:latin typeface="Calibri"/>
                        </a:rPr>
                        <a:t>Val accuracy, subject to memory</a:t>
                      </a:r>
                    </a:p>
                  </a:txBody>
                  <a:tcPr marL="82296" marR="82296" marT="27432" marB="27432" anchor="ctr">
                    <a:solidFill>
                      <a:srgbClr val="F7F4F5"/>
                    </a:solidFill>
                  </a:tcPr>
                </a:tc>
                <a:tc>
                  <a:txBody>
                    <a:bodyPr wrap="square"/>
                    <a:lstStyle/>
                    <a:p>
                      <a:r>
                        <a:rPr sz="950" b="0" i="0">
                          <a:solidFill>
                            <a:srgbClr val="222222"/>
                          </a:solidFill>
                          <a:latin typeface="Calibri"/>
                        </a:rPr>
                        <a:t>Interacts with LR; 32 is the largest that trains comfortably on CPU</a:t>
                      </a:r>
                    </a:p>
                  </a:txBody>
                  <a:tcPr marL="82296" marR="82296" marT="27432" marB="27432" anchor="ctr">
                    <a:solidFill>
                      <a:srgbClr val="F7F4F5"/>
                    </a:solidFill>
                  </a:tcPr>
                </a:tc>
              </a:tr>
              <a:tr h="384048">
                <a:tc>
                  <a:txBody>
                    <a:bodyPr wrap="square"/>
                    <a:lstStyle/>
                    <a:p>
                      <a:r>
                        <a:rPr sz="950" b="1" i="0">
                          <a:solidFill>
                            <a:srgbClr val="222222"/>
                          </a:solidFill>
                          <a:latin typeface="Calibri"/>
                        </a:rPr>
                        <a:t>Dropout</a:t>
                      </a:r>
                    </a:p>
                  </a:txBody>
                  <a:tcPr marL="82296" marR="82296" marT="27432" marB="27432" anchor="ctr">
                    <a:solidFill>
                      <a:srgbClr val="FFFFFF"/>
                    </a:solidFill>
                  </a:tcPr>
                </a:tc>
                <a:tc>
                  <a:txBody>
                    <a:bodyPr wrap="square"/>
                    <a:lstStyle/>
                    <a:p>
                      <a:r>
                        <a:rPr sz="950" b="0" i="0">
                          <a:solidFill>
                            <a:srgbClr val="222222"/>
                          </a:solidFill>
                          <a:latin typeface="Calibri"/>
                        </a:rPr>
                        <a:t>0.1, 0.3, 0.5</a:t>
                      </a:r>
                    </a:p>
                  </a:txBody>
                  <a:tcPr marL="82296" marR="82296" marT="27432" marB="27432" anchor="ctr">
                    <a:solidFill>
                      <a:srgbClr val="FFFFFF"/>
                    </a:solidFill>
                  </a:tcPr>
                </a:tc>
                <a:tc>
                  <a:txBody>
                    <a:bodyPr wrap="square"/>
                    <a:lstStyle/>
                    <a:p>
                      <a:r>
                        <a:rPr sz="950" b="0" i="0">
                          <a:solidFill>
                            <a:srgbClr val="222222"/>
                          </a:solidFill>
                          <a:latin typeface="Calibri"/>
                        </a:rPr>
                        <a:t>Gap between train and val accuracy</a:t>
                      </a:r>
                    </a:p>
                  </a:txBody>
                  <a:tcPr marL="82296" marR="82296" marT="27432" marB="27432" anchor="ctr">
                    <a:solidFill>
                      <a:srgbClr val="FFFFFF"/>
                    </a:solidFill>
                  </a:tcPr>
                </a:tc>
                <a:tc>
                  <a:txBody>
                    <a:bodyPr wrap="square"/>
                    <a:lstStyle/>
                    <a:p>
                      <a:r>
                        <a:rPr sz="950" b="0" i="0">
                          <a:solidFill>
                            <a:srgbClr val="222222"/>
                          </a:solidFill>
                          <a:latin typeface="Calibri"/>
                        </a:rPr>
                        <a:t>Primary regulariser given a small per-class sample count</a:t>
                      </a:r>
                    </a:p>
                  </a:txBody>
                  <a:tcPr marL="82296" marR="82296" marT="27432" marB="27432" anchor="ctr">
                    <a:solidFill>
                      <a:srgbClr val="FFFFFF"/>
                    </a:solidFill>
                  </a:tcPr>
                </a:tc>
              </a:tr>
              <a:tr h="384048">
                <a:tc>
                  <a:txBody>
                    <a:bodyPr wrap="square"/>
                    <a:lstStyle/>
                    <a:p>
                      <a:r>
                        <a:rPr sz="950" b="1" i="0">
                          <a:solidFill>
                            <a:srgbClr val="222222"/>
                          </a:solidFill>
                          <a:latin typeface="Calibri"/>
                        </a:rPr>
                        <a:t>Hidden / width</a:t>
                      </a:r>
                    </a:p>
                  </a:txBody>
                  <a:tcPr marL="82296" marR="82296" marT="27432" marB="27432" anchor="ctr">
                    <a:solidFill>
                      <a:srgbClr val="F7F4F5"/>
                    </a:solidFill>
                  </a:tcPr>
                </a:tc>
                <a:tc>
                  <a:txBody>
                    <a:bodyPr wrap="square"/>
                    <a:lstStyle/>
                    <a:p>
                      <a:r>
                        <a:rPr sz="950" b="0" i="0">
                          <a:solidFill>
                            <a:srgbClr val="222222"/>
                          </a:solidFill>
                          <a:latin typeface="Calibri"/>
                        </a:rPr>
                        <a:t>128, 256</a:t>
                      </a:r>
                    </a:p>
                  </a:txBody>
                  <a:tcPr marL="82296" marR="82296" marT="27432" marB="27432" anchor="ctr">
                    <a:solidFill>
                      <a:srgbClr val="F7F4F5"/>
                    </a:solidFill>
                  </a:tcPr>
                </a:tc>
                <a:tc>
                  <a:txBody>
                    <a:bodyPr wrap="square"/>
                    <a:lstStyle/>
                    <a:p>
                      <a:r>
                        <a:rPr sz="950" b="0" i="0">
                          <a:solidFill>
                            <a:srgbClr val="222222"/>
                          </a:solidFill>
                          <a:latin typeface="Calibri"/>
                        </a:rPr>
                        <a:t>Val accuracy vs parameter count</a:t>
                      </a:r>
                    </a:p>
                  </a:txBody>
                  <a:tcPr marL="82296" marR="82296" marT="27432" marB="27432" anchor="ctr">
                    <a:solidFill>
                      <a:srgbClr val="F7F4F5"/>
                    </a:solidFill>
                  </a:tcPr>
                </a:tc>
                <a:tc>
                  <a:txBody>
                    <a:bodyPr wrap="square"/>
                    <a:lstStyle/>
                    <a:p>
                      <a:r>
                        <a:rPr sz="950" b="0" i="0">
                          <a:solidFill>
                            <a:srgbClr val="222222"/>
                          </a:solidFill>
                          <a:latin typeface="Calibri"/>
                        </a:rPr>
                        <a:t>Capacity against overfitting risk on a 20-class subset</a:t>
                      </a:r>
                    </a:p>
                  </a:txBody>
                  <a:tcPr marL="82296" marR="82296" marT="27432" marB="27432" anchor="ctr">
                    <a:solidFill>
                      <a:srgbClr val="F7F4F5"/>
                    </a:solidFill>
                  </a:tcPr>
                </a:tc>
              </a:tr>
              <a:tr h="384048">
                <a:tc>
                  <a:txBody>
                    <a:bodyPr wrap="square"/>
                    <a:lstStyle/>
                    <a:p>
                      <a:r>
                        <a:rPr sz="950" b="1" i="0">
                          <a:solidFill>
                            <a:srgbClr val="222222"/>
                          </a:solidFill>
                          <a:latin typeface="Calibri"/>
                        </a:rPr>
                        <a:t>Label smoothing</a:t>
                      </a:r>
                    </a:p>
                  </a:txBody>
                  <a:tcPr marL="82296" marR="82296" marT="27432" marB="27432" anchor="ctr">
                    <a:solidFill>
                      <a:srgbClr val="FFFFFF"/>
                    </a:solidFill>
                  </a:tcPr>
                </a:tc>
                <a:tc>
                  <a:txBody>
                    <a:bodyPr wrap="square"/>
                    <a:lstStyle/>
                    <a:p>
                      <a:r>
                        <a:rPr sz="950" b="0" i="0">
                          <a:solidFill>
                            <a:srgbClr val="222222"/>
                          </a:solidFill>
                          <a:latin typeface="Calibri"/>
                        </a:rPr>
                        <a:t>0.0, 0.05, 0.1</a:t>
                      </a:r>
                    </a:p>
                  </a:txBody>
                  <a:tcPr marL="82296" marR="82296" marT="27432" marB="27432" anchor="ctr">
                    <a:solidFill>
                      <a:srgbClr val="FFFFFF"/>
                    </a:solidFill>
                  </a:tcPr>
                </a:tc>
                <a:tc>
                  <a:txBody>
                    <a:bodyPr wrap="square"/>
                    <a:lstStyle/>
                    <a:p>
                      <a:r>
                        <a:rPr sz="950" b="0" i="0">
                          <a:solidFill>
                            <a:srgbClr val="222222"/>
                          </a:solidFill>
                          <a:latin typeface="Calibri"/>
                        </a:rPr>
                        <a:t>Val loss calibration</a:t>
                      </a:r>
                    </a:p>
                  </a:txBody>
                  <a:tcPr marL="82296" marR="82296" marT="27432" marB="27432" anchor="ctr">
                    <a:solidFill>
                      <a:srgbClr val="FFFFFF"/>
                    </a:solidFill>
                  </a:tcPr>
                </a:tc>
                <a:tc>
                  <a:txBody>
                    <a:bodyPr wrap="square"/>
                    <a:lstStyle/>
                    <a:p>
                      <a:r>
                        <a:rPr sz="950" b="0" i="0">
                          <a:solidFill>
                            <a:srgbClr val="222222"/>
                          </a:solidFill>
                          <a:latin typeface="Calibri"/>
                        </a:rPr>
                        <a:t>Confidence feeds the UI's correction chips, so calibration matters, not just accuracy</a:t>
                      </a:r>
                    </a:p>
                  </a:txBody>
                  <a:tcPr marL="82296" marR="82296" marT="27432" marB="27432" anchor="ctr">
                    <a:solidFill>
                      <a:srgbClr val="FFFFFF"/>
                    </a:solidFill>
                  </a:tcPr>
                </a:tc>
              </a:tr>
            </a:tbl>
          </a:graphicData>
        </a:graphic>
      </p:graphicFrame>
      <p:sp>
        <p:nvSpPr>
          <p:cNvPr id="21" name="TextBox 20"/>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Sweep results are written to ml/logs/ per run. Selected values are the ones recorded in the hyperparameter table on the previous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14.1 — PERFORMANCE METRICS</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Metrics: Definitions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502920" y="1645920"/>
          <a:ext cx="11155680" cy="4206240"/>
        </p:xfrm>
        <a:graphic>
          <a:graphicData uri="http://schemas.openxmlformats.org/drawingml/2006/table">
            <a:tbl>
              <a:tblPr firstRow="1">
                <a:tableStyleId>{5C22544A-7EE6-4342-B048-85BDC9FD1C3A}</a:tableStyleId>
              </a:tblPr>
              <a:tblGrid>
                <a:gridCol w="1691640"/>
                <a:gridCol w="4343400"/>
                <a:gridCol w="5120640"/>
              </a:tblGrid>
              <a:tr h="329184">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Definition</a:t>
                      </a:r>
                    </a:p>
                  </a:txBody>
                  <a:tcPr marL="82296" marR="82296" marT="27432" marB="27432" anchor="ctr">
                    <a:solidFill>
                      <a:srgbClr val="086072"/>
                    </a:solidFill>
                  </a:tcPr>
                </a:tc>
                <a:tc>
                  <a:txBody>
                    <a:bodyPr wrap="square"/>
                    <a:lstStyle/>
                    <a:p>
                      <a:r>
                        <a:rPr sz="1150" b="1" i="0">
                          <a:solidFill>
                            <a:srgbClr val="FFFFFF"/>
                          </a:solidFill>
                          <a:latin typeface="Calibri"/>
                        </a:rPr>
                        <a:t>Why it is reported here</a:t>
                      </a:r>
                    </a:p>
                  </a:txBody>
                  <a:tcPr marL="82296" marR="82296" marT="27432" marB="27432" anchor="ctr">
                    <a:solidFill>
                      <a:srgbClr val="086072"/>
                    </a:solidFill>
                  </a:tcPr>
                </a:tc>
              </a:tr>
              <a:tr h="484632">
                <a:tc>
                  <a:txBody>
                    <a:bodyPr wrap="square"/>
                    <a:lstStyle/>
                    <a:p>
                      <a:r>
                        <a:rPr sz="950" b="1" i="0">
                          <a:solidFill>
                            <a:srgbClr val="222222"/>
                          </a:solidFill>
                          <a:latin typeface="Calibri"/>
                        </a:rPr>
                        <a:t>Test accuracy</a:t>
                      </a:r>
                    </a:p>
                  </a:txBody>
                  <a:tcPr marL="82296" marR="82296" marT="27432" marB="27432" anchor="ctr">
                    <a:solidFill>
                      <a:srgbClr val="FFFFFF"/>
                    </a:solidFill>
                  </a:tcPr>
                </a:tc>
                <a:tc>
                  <a:txBody>
                    <a:bodyPr wrap="square"/>
                    <a:lstStyle/>
                    <a:p>
                      <a:r>
                        <a:rPr sz="950" b="0" i="0">
                          <a:solidFill>
                            <a:srgbClr val="222222"/>
                          </a:solidFill>
                          <a:latin typeface="Calibri"/>
                        </a:rPr>
                        <a:t>Correct predictions ÷ total predictions on the held-out test split.</a:t>
                      </a:r>
                    </a:p>
                  </a:txBody>
                  <a:tcPr marL="82296" marR="82296" marT="27432" marB="27432" anchor="ctr">
                    <a:solidFill>
                      <a:srgbClr val="FFFFFF"/>
                    </a:solidFill>
                  </a:tcPr>
                </a:tc>
                <a:tc>
                  <a:txBody>
                    <a:bodyPr wrap="square"/>
                    <a:lstStyle/>
                    <a:p>
                      <a:r>
                        <a:rPr sz="950" b="0" i="0">
                          <a:solidFill>
                            <a:srgbClr val="222222"/>
                          </a:solidFill>
                          <a:latin typeface="Calibri"/>
                        </a:rPr>
                        <a:t>Headline number, but misleading alone when class counts are uneven.</a:t>
                      </a:r>
                    </a:p>
                  </a:txBody>
                  <a:tcPr marL="82296" marR="82296" marT="27432" marB="27432" anchor="ctr">
                    <a:solidFill>
                      <a:srgbClr val="FFFFFF"/>
                    </a:solidFill>
                  </a:tcPr>
                </a:tc>
              </a:tr>
              <a:tr h="484632">
                <a:tc>
                  <a:txBody>
                    <a:bodyPr wrap="square"/>
                    <a:lstStyle/>
                    <a:p>
                      <a:r>
                        <a:rPr sz="950" b="1" i="0">
                          <a:solidFill>
                            <a:srgbClr val="222222"/>
                          </a:solidFill>
                          <a:latin typeface="Calibri"/>
                        </a:rPr>
                        <a:t>Macro F1</a:t>
                      </a:r>
                    </a:p>
                  </a:txBody>
                  <a:tcPr marL="82296" marR="82296" marT="27432" marB="27432" anchor="ctr">
                    <a:solidFill>
                      <a:srgbClr val="F7F4F5"/>
                    </a:solidFill>
                  </a:tcPr>
                </a:tc>
                <a:tc>
                  <a:txBody>
                    <a:bodyPr wrap="square"/>
                    <a:lstStyle/>
                    <a:p>
                      <a:r>
                        <a:rPr sz="950" b="0" i="0">
                          <a:solidFill>
                            <a:srgbClr val="222222"/>
                          </a:solidFill>
                          <a:latin typeface="Calibri"/>
                        </a:rPr>
                        <a:t>Unweighted mean of per-class F1 = 2PR / (P + R).</a:t>
                      </a:r>
                    </a:p>
                  </a:txBody>
                  <a:tcPr marL="82296" marR="82296" marT="27432" marB="27432" anchor="ctr">
                    <a:solidFill>
                      <a:srgbClr val="F7F4F5"/>
                    </a:solidFill>
                  </a:tcPr>
                </a:tc>
                <a:tc>
                  <a:txBody>
                    <a:bodyPr wrap="square"/>
                    <a:lstStyle/>
                    <a:p>
                      <a:r>
                        <a:rPr sz="950" b="0" i="0">
                          <a:solidFill>
                            <a:srgbClr val="222222"/>
                          </a:solidFill>
                          <a:latin typeface="Calibri"/>
                        </a:rPr>
                        <a:t>Treats a rare sign as equally important as a common one — the honest score for an imbalanced vocabulary.</a:t>
                      </a:r>
                    </a:p>
                  </a:txBody>
                  <a:tcPr marL="82296" marR="82296" marT="27432" marB="27432" anchor="ctr">
                    <a:solidFill>
                      <a:srgbClr val="F7F4F5"/>
                    </a:solidFill>
                  </a:tcPr>
                </a:tc>
              </a:tr>
              <a:tr h="484632">
                <a:tc>
                  <a:txBody>
                    <a:bodyPr wrap="square"/>
                    <a:lstStyle/>
                    <a:p>
                      <a:r>
                        <a:rPr sz="950" b="1" i="0">
                          <a:solidFill>
                            <a:srgbClr val="222222"/>
                          </a:solidFill>
                          <a:latin typeface="Calibri"/>
                        </a:rPr>
                        <a:t>Weighted F1</a:t>
                      </a:r>
                    </a:p>
                  </a:txBody>
                  <a:tcPr marL="82296" marR="82296" marT="27432" marB="27432" anchor="ctr">
                    <a:solidFill>
                      <a:srgbClr val="FFFFFF"/>
                    </a:solidFill>
                  </a:tcPr>
                </a:tc>
                <a:tc>
                  <a:txBody>
                    <a:bodyPr wrap="square"/>
                    <a:lstStyle/>
                    <a:p>
                      <a:r>
                        <a:rPr sz="950" b="0" i="0">
                          <a:solidFill>
                            <a:srgbClr val="222222"/>
                          </a:solidFill>
                          <a:latin typeface="Calibri"/>
                        </a:rPr>
                        <a:t>Per-class F1 averaged in proportion to class support.</a:t>
                      </a:r>
                    </a:p>
                  </a:txBody>
                  <a:tcPr marL="82296" marR="82296" marT="27432" marB="27432" anchor="ctr">
                    <a:solidFill>
                      <a:srgbClr val="FFFFFF"/>
                    </a:solidFill>
                  </a:tcPr>
                </a:tc>
                <a:tc>
                  <a:txBody>
                    <a:bodyPr wrap="square"/>
                    <a:lstStyle/>
                    <a:p>
                      <a:r>
                        <a:rPr sz="950" b="0" i="0">
                          <a:solidFill>
                            <a:srgbClr val="222222"/>
                          </a:solidFill>
                          <a:latin typeface="Calibri"/>
                        </a:rPr>
                        <a:t>Reflects performance a user experiences if signs occur at their natural frequency.</a:t>
                      </a:r>
                    </a:p>
                  </a:txBody>
                  <a:tcPr marL="82296" marR="82296" marT="27432" marB="27432" anchor="ctr">
                    <a:solidFill>
                      <a:srgbClr val="FFFFFF"/>
                    </a:solidFill>
                  </a:tcPr>
                </a:tc>
              </a:tr>
              <a:tr h="484632">
                <a:tc>
                  <a:txBody>
                    <a:bodyPr wrap="square"/>
                    <a:lstStyle/>
                    <a:p>
                      <a:r>
                        <a:rPr sz="950" b="1" i="0">
                          <a:solidFill>
                            <a:srgbClr val="222222"/>
                          </a:solidFill>
                          <a:latin typeface="Calibri"/>
                        </a:rPr>
                        <a:t>Top-k accuracy</a:t>
                      </a:r>
                    </a:p>
                  </a:txBody>
                  <a:tcPr marL="82296" marR="82296" marT="27432" marB="27432" anchor="ctr">
                    <a:solidFill>
                      <a:srgbClr val="F7F4F5"/>
                    </a:solidFill>
                  </a:tcPr>
                </a:tc>
                <a:tc>
                  <a:txBody>
                    <a:bodyPr wrap="square"/>
                    <a:lstStyle/>
                    <a:p>
                      <a:r>
                        <a:rPr sz="950" b="0" i="0">
                          <a:solidFill>
                            <a:srgbClr val="222222"/>
                          </a:solidFill>
                          <a:latin typeface="Calibri"/>
                        </a:rPr>
                        <a:t>Fraction of samples whose true label falls in the k highest-probability classes.</a:t>
                      </a:r>
                    </a:p>
                  </a:txBody>
                  <a:tcPr marL="82296" marR="82296" marT="27432" marB="27432" anchor="ctr">
                    <a:solidFill>
                      <a:srgbClr val="F7F4F5"/>
                    </a:solidFill>
                  </a:tcPr>
                </a:tc>
                <a:tc>
                  <a:txBody>
                    <a:bodyPr wrap="square"/>
                    <a:lstStyle/>
                    <a:p>
                      <a:r>
                        <a:rPr sz="950" b="0" i="0">
                          <a:solidFill>
                            <a:srgbClr val="222222"/>
                          </a:solidFill>
                          <a:latin typeface="Calibri"/>
                        </a:rPr>
                        <a:t>Directly models the correction-chip UX: the user is offered the top candidates, not just one.</a:t>
                      </a:r>
                    </a:p>
                  </a:txBody>
                  <a:tcPr marL="82296" marR="82296" marT="27432" marB="27432" anchor="ctr">
                    <a:solidFill>
                      <a:srgbClr val="F7F4F5"/>
                    </a:solidFill>
                  </a:tcPr>
                </a:tc>
              </a:tr>
              <a:tr h="484632">
                <a:tc>
                  <a:txBody>
                    <a:bodyPr wrap="square"/>
                    <a:lstStyle/>
                    <a:p>
                      <a:r>
                        <a:rPr sz="950" b="1" i="0">
                          <a:solidFill>
                            <a:srgbClr val="222222"/>
                          </a:solidFill>
                          <a:latin typeface="Calibri"/>
                        </a:rPr>
                        <a:t>Per-class F1</a:t>
                      </a:r>
                    </a:p>
                  </a:txBody>
                  <a:tcPr marL="82296" marR="82296" marT="27432" marB="27432" anchor="ctr">
                    <a:solidFill>
                      <a:srgbClr val="FFFFFF"/>
                    </a:solidFill>
                  </a:tcPr>
                </a:tc>
                <a:tc>
                  <a:txBody>
                    <a:bodyPr wrap="square"/>
                    <a:lstStyle/>
                    <a:p>
                      <a:r>
                        <a:rPr sz="950" b="0" i="0">
                          <a:solidFill>
                            <a:srgbClr val="222222"/>
                          </a:solidFill>
                          <a:latin typeface="Calibri"/>
                        </a:rPr>
                        <a:t>F1 computed separately for every sign label.</a:t>
                      </a:r>
                    </a:p>
                  </a:txBody>
                  <a:tcPr marL="82296" marR="82296" marT="27432" marB="27432" anchor="ctr">
                    <a:solidFill>
                      <a:srgbClr val="FFFFFF"/>
                    </a:solidFill>
                  </a:tcPr>
                </a:tc>
                <a:tc>
                  <a:txBody>
                    <a:bodyPr wrap="square"/>
                    <a:lstStyle/>
                    <a:p>
                      <a:r>
                        <a:rPr sz="950" b="0" i="0">
                          <a:solidFill>
                            <a:srgbClr val="222222"/>
                          </a:solidFill>
                          <a:latin typeface="Calibri"/>
                        </a:rPr>
                        <a:t>Surfaces which specific signs fail — the actionable diagnostic.</a:t>
                      </a:r>
                    </a:p>
                  </a:txBody>
                  <a:tcPr marL="82296" marR="82296" marT="27432" marB="27432" anchor="ctr">
                    <a:solidFill>
                      <a:srgbClr val="FFFFFF"/>
                    </a:solidFill>
                  </a:tcPr>
                </a:tc>
              </a:tr>
              <a:tr h="484632">
                <a:tc>
                  <a:txBody>
                    <a:bodyPr wrap="square"/>
                    <a:lstStyle/>
                    <a:p>
                      <a:r>
                        <a:rPr sz="950" b="1" i="0">
                          <a:solidFill>
                            <a:srgbClr val="222222"/>
                          </a:solidFill>
                          <a:latin typeface="Calibri"/>
                        </a:rPr>
                        <a:t>Confusion matrix</a:t>
                      </a:r>
                    </a:p>
                  </a:txBody>
                  <a:tcPr marL="82296" marR="82296" marT="27432" marB="27432" anchor="ctr">
                    <a:solidFill>
                      <a:srgbClr val="F7F4F5"/>
                    </a:solidFill>
                  </a:tcPr>
                </a:tc>
                <a:tc>
                  <a:txBody>
                    <a:bodyPr wrap="square"/>
                    <a:lstStyle/>
                    <a:p>
                      <a:r>
                        <a:rPr sz="950" b="0" i="0">
                          <a:solidFill>
                            <a:srgbClr val="222222"/>
                          </a:solidFill>
                          <a:latin typeface="Calibri"/>
                        </a:rPr>
                        <a:t>Row-normalised matrix of true label against predicted label.</a:t>
                      </a:r>
                    </a:p>
                  </a:txBody>
                  <a:tcPr marL="82296" marR="82296" marT="27432" marB="27432" anchor="ctr">
                    <a:solidFill>
                      <a:srgbClr val="F7F4F5"/>
                    </a:solidFill>
                  </a:tcPr>
                </a:tc>
                <a:tc>
                  <a:txBody>
                    <a:bodyPr wrap="square"/>
                    <a:lstStyle/>
                    <a:p>
                      <a:r>
                        <a:rPr sz="950" b="0" i="0">
                          <a:solidFill>
                            <a:srgbClr val="222222"/>
                          </a:solidFill>
                          <a:latin typeface="Calibri"/>
                        </a:rPr>
                        <a:t>Shows whether errors are random or concentrated between visually similar signs.</a:t>
                      </a:r>
                    </a:p>
                  </a:txBody>
                  <a:tcPr marL="82296" marR="82296" marT="27432" marB="27432" anchor="ctr">
                    <a:solidFill>
                      <a:srgbClr val="F7F4F5"/>
                    </a:solidFill>
                  </a:tcPr>
                </a:tc>
              </a:tr>
              <a:tr h="484632">
                <a:tc>
                  <a:txBody>
                    <a:bodyPr wrap="square"/>
                    <a:lstStyle/>
                    <a:p>
                      <a:r>
                        <a:rPr sz="950" b="1" i="0">
                          <a:solidFill>
                            <a:srgbClr val="222222"/>
                          </a:solidFill>
                          <a:latin typeface="Calibri"/>
                        </a:rPr>
                        <a:t>Latency (mean, p95)</a:t>
                      </a:r>
                    </a:p>
                  </a:txBody>
                  <a:tcPr marL="82296" marR="82296" marT="27432" marB="27432" anchor="ctr">
                    <a:solidFill>
                      <a:srgbClr val="FFFFFF"/>
                    </a:solidFill>
                  </a:tcPr>
                </a:tc>
                <a:tc>
                  <a:txBody>
                    <a:bodyPr wrap="square"/>
                    <a:lstStyle/>
                    <a:p>
                      <a:r>
                        <a:rPr sz="950" b="0" i="0">
                          <a:solidFill>
                            <a:srgbClr val="222222"/>
                          </a:solidFill>
                          <a:latin typeface="Calibri"/>
                        </a:rPr>
                        <a:t>Wall-clock time for one forward pass, after warm-up.</a:t>
                      </a:r>
                    </a:p>
                  </a:txBody>
                  <a:tcPr marL="82296" marR="82296" marT="27432" marB="27432" anchor="ctr">
                    <a:solidFill>
                      <a:srgbClr val="FFFFFF"/>
                    </a:solidFill>
                  </a:tcPr>
                </a:tc>
                <a:tc>
                  <a:txBody>
                    <a:bodyPr wrap="square"/>
                    <a:lstStyle/>
                    <a:p>
                      <a:r>
                        <a:rPr sz="950" b="0" i="0">
                          <a:solidFill>
                            <a:srgbClr val="222222"/>
                          </a:solidFill>
                          <a:latin typeface="Calibri"/>
                        </a:rPr>
                        <a:t>Real-time viability. p95 matters more than the mean for perceived responsiveness.</a:t>
                      </a:r>
                    </a:p>
                  </a:txBody>
                  <a:tcPr marL="82296" marR="82296" marT="27432" marB="27432" anchor="ctr">
                    <a:solidFill>
                      <a:srgbClr val="FFFFFF"/>
                    </a:solidFill>
                  </a:tcPr>
                </a:tc>
              </a:tr>
              <a:tr h="484632">
                <a:tc>
                  <a:txBody>
                    <a:bodyPr wrap="square"/>
                    <a:lstStyle/>
                    <a:p>
                      <a:r>
                        <a:rPr sz="950" b="1" i="0">
                          <a:solidFill>
                            <a:srgbClr val="222222"/>
                          </a:solidFill>
                          <a:latin typeface="Calibri"/>
                        </a:rPr>
                        <a:t>Parameter count</a:t>
                      </a:r>
                    </a:p>
                  </a:txBody>
                  <a:tcPr marL="82296" marR="82296" marT="27432" marB="27432" anchor="ctr">
                    <a:solidFill>
                      <a:srgbClr val="F7F4F5"/>
                    </a:solidFill>
                  </a:tcPr>
                </a:tc>
                <a:tc>
                  <a:txBody>
                    <a:bodyPr wrap="square"/>
                    <a:lstStyle/>
                    <a:p>
                      <a:r>
                        <a:rPr sz="950" b="0" i="0">
                          <a:solidFill>
                            <a:srgbClr val="222222"/>
                          </a:solidFill>
                          <a:latin typeface="Calibri"/>
                        </a:rPr>
                        <a:t>Trainable parameters in the model.</a:t>
                      </a:r>
                    </a:p>
                  </a:txBody>
                  <a:tcPr marL="82296" marR="82296" marT="27432" marB="27432" anchor="ctr">
                    <a:solidFill>
                      <a:srgbClr val="F7F4F5"/>
                    </a:solidFill>
                  </a:tcPr>
                </a:tc>
                <a:tc>
                  <a:txBody>
                    <a:bodyPr wrap="square"/>
                    <a:lstStyle/>
                    <a:p>
                      <a:r>
                        <a:rPr sz="950" b="0" i="0">
                          <a:solidFill>
                            <a:srgbClr val="222222"/>
                          </a:solidFill>
                          <a:latin typeface="Calibri"/>
                        </a:rPr>
                        <a:t>Accuracy per parameter is the fair way to compare models of different sizes.</a:t>
                      </a:r>
                    </a:p>
                  </a:txBody>
                  <a:tcPr marL="82296" marR="82296" marT="27432" marB="27432" anchor="ctr">
                    <a:solidFill>
                      <a:srgbClr val="F7F4F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14.2 — PERFORMANCE METRICS</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Results &amp; Observations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09344"/>
            <a:ext cx="10424160" cy="548640"/>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09344"/>
            <a:ext cx="73152" cy="5486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19072"/>
            <a:ext cx="9921240" cy="329184"/>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Measured run:  </a:t>
            </a:r>
            <a:r>
              <a:rPr sz="1150" b="0" i="0">
                <a:solidFill>
                  <a:srgbClr val="222222"/>
                </a:solidFill>
                <a:latin typeface="Calibri"/>
              </a:rPr>
              <a:t>261 classes · 4,276 clips · stratified 70/15/15 (seed 42) · 642 held-out test clips. Identical data, splits and schedule for both models; architecture is the only variable.</a:t>
            </a:r>
          </a:p>
        </p:txBody>
      </p:sp>
      <p:graphicFrame>
        <p:nvGraphicFramePr>
          <p:cNvPr id="10" name="Table 9"/>
          <p:cNvGraphicFramePr>
            <a:graphicFrameLocks noGrp="1"/>
          </p:cNvGraphicFramePr>
          <p:nvPr/>
        </p:nvGraphicFramePr>
        <p:xfrm>
          <a:off x="594360" y="2267712"/>
          <a:ext cx="10424160" cy="2862072"/>
        </p:xfrm>
        <a:graphic>
          <a:graphicData uri="http://schemas.openxmlformats.org/drawingml/2006/table">
            <a:tbl>
              <a:tblPr firstRow="1">
                <a:tableStyleId>{5C22544A-7EE6-4342-B048-85BDC9FD1C3A}</a:tableStyleId>
              </a:tblPr>
              <a:tblGrid>
                <a:gridCol w="1600200"/>
                <a:gridCol w="1325880"/>
                <a:gridCol w="1234440"/>
                <a:gridCol w="1417320"/>
                <a:gridCol w="4846320"/>
              </a:tblGrid>
              <a:tr h="310896">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BiLSTM</a:t>
                      </a:r>
                    </a:p>
                  </a:txBody>
                  <a:tcPr marL="82296" marR="82296" marT="27432" marB="27432" anchor="ctr">
                    <a:solidFill>
                      <a:srgbClr val="086072"/>
                    </a:solidFill>
                  </a:tcPr>
                </a:tc>
                <a:tc>
                  <a:txBody>
                    <a:bodyPr wrap="square"/>
                    <a:lstStyle/>
                    <a:p>
                      <a:r>
                        <a:rPr sz="1150" b="1" i="0">
                          <a:solidFill>
                            <a:srgbClr val="FFFFFF"/>
                          </a:solidFill>
                          <a:latin typeface="Calibri"/>
                        </a:rPr>
                        <a:t>1D CNN</a:t>
                      </a:r>
                    </a:p>
                  </a:txBody>
                  <a:tcPr marL="82296" marR="82296" marT="27432" marB="27432" anchor="ctr">
                    <a:solidFill>
                      <a:srgbClr val="086072"/>
                    </a:solidFill>
                  </a:tcPr>
                </a:tc>
                <a:tc>
                  <a:txBody>
                    <a:bodyPr wrap="square"/>
                    <a:lstStyle/>
                    <a:p>
                      <a:r>
                        <a:rPr sz="1150" b="1" i="0">
                          <a:solidFill>
                            <a:srgbClr val="FFFFFF"/>
                          </a:solidFill>
                          <a:latin typeface="Calibri"/>
                        </a:rPr>
                        <a:t>Winner</a:t>
                      </a:r>
                    </a:p>
                  </a:txBody>
                  <a:tcPr marL="82296" marR="82296" marT="27432" marB="27432" anchor="ctr">
                    <a:solidFill>
                      <a:srgbClr val="086072"/>
                    </a:solidFill>
                  </a:tcPr>
                </a:tc>
                <a:tc>
                  <a:txBody>
                    <a:bodyPr wrap="square"/>
                    <a:lstStyle/>
                    <a:p>
                      <a:r>
                        <a:rPr sz="1150" b="1" i="0">
                          <a:solidFill>
                            <a:srgbClr val="FFFFFF"/>
                          </a:solidFill>
                          <a:latin typeface="Calibri"/>
                        </a:rPr>
                        <a:t>Observation</a:t>
                      </a:r>
                    </a:p>
                  </a:txBody>
                  <a:tcPr marL="82296" marR="82296" marT="27432" marB="27432" anchor="ctr">
                    <a:solidFill>
                      <a:srgbClr val="086072"/>
                    </a:solidFill>
                  </a:tcPr>
                </a:tc>
              </a:tr>
              <a:tr h="283464">
                <a:tc>
                  <a:txBody>
                    <a:bodyPr wrap="square"/>
                    <a:lstStyle/>
                    <a:p>
                      <a:r>
                        <a:rPr sz="950" b="1" i="0">
                          <a:solidFill>
                            <a:srgbClr val="222222"/>
                          </a:solidFill>
                          <a:latin typeface="Calibri"/>
                        </a:rPr>
                        <a:t>Test accuracy</a:t>
                      </a:r>
                    </a:p>
                  </a:txBody>
                  <a:tcPr marL="82296" marR="82296" marT="27432" marB="27432" anchor="ctr">
                    <a:solidFill>
                      <a:srgbClr val="FFFFFF"/>
                    </a:solidFill>
                  </a:tcPr>
                </a:tc>
                <a:tc>
                  <a:txBody>
                    <a:bodyPr wrap="square"/>
                    <a:lstStyle/>
                    <a:p>
                      <a:r>
                        <a:rPr sz="950" b="0" i="0">
                          <a:solidFill>
                            <a:srgbClr val="222222"/>
                          </a:solidFill>
                          <a:latin typeface="Calibri"/>
                        </a:rPr>
                        <a:t>91.74%</a:t>
                      </a:r>
                    </a:p>
                  </a:txBody>
                  <a:tcPr marL="82296" marR="82296" marT="27432" marB="27432" anchor="ctr">
                    <a:solidFill>
                      <a:srgbClr val="FFFFFF"/>
                    </a:solidFill>
                  </a:tcPr>
                </a:tc>
                <a:tc>
                  <a:txBody>
                    <a:bodyPr wrap="square"/>
                    <a:lstStyle/>
                    <a:p>
                      <a:r>
                        <a:rPr sz="950" b="0" i="0">
                          <a:solidFill>
                            <a:srgbClr val="222222"/>
                          </a:solidFill>
                          <a:latin typeface="Calibri"/>
                        </a:rPr>
                        <a:t>94.55%</a:t>
                      </a:r>
                    </a:p>
                  </a:txBody>
                  <a:tcPr marL="82296" marR="82296" marT="27432" marB="27432" anchor="ctr">
                    <a:solidFill>
                      <a:srgbClr val="FFFFFF"/>
                    </a:solidFill>
                  </a:tcPr>
                </a:tc>
                <a:tc>
                  <a:txBody>
                    <a:bodyPr wrap="square"/>
                    <a:lstStyle/>
                    <a:p>
                      <a:r>
                        <a:rPr sz="950" b="0" i="0">
                          <a:solidFill>
                            <a:srgbClr val="222222"/>
                          </a:solidFill>
                          <a:latin typeface="Calibri"/>
                        </a:rPr>
                        <a:t>CNN  +2.81</a:t>
                      </a:r>
                    </a:p>
                  </a:txBody>
                  <a:tcPr marL="82296" marR="82296" marT="27432" marB="27432" anchor="ctr">
                    <a:solidFill>
                      <a:srgbClr val="FFFFFF"/>
                    </a:solidFill>
                  </a:tcPr>
                </a:tc>
                <a:tc>
                  <a:txBody>
                    <a:bodyPr wrap="square"/>
                    <a:lstStyle/>
                    <a:p>
                      <a:r>
                        <a:rPr sz="950" b="0" i="0">
                          <a:solidFill>
                            <a:srgbClr val="222222"/>
                          </a:solidFill>
                          <a:latin typeface="Calibri"/>
                        </a:rPr>
                        <a:t>Convolution wins outright on unseen clips.</a:t>
                      </a:r>
                    </a:p>
                  </a:txBody>
                  <a:tcPr marL="82296" marR="82296" marT="27432" marB="27432" anchor="ctr">
                    <a:solidFill>
                      <a:srgbClr val="FFFFFF"/>
                    </a:solidFill>
                  </a:tcPr>
                </a:tc>
              </a:tr>
              <a:tr h="283464">
                <a:tc>
                  <a:txBody>
                    <a:bodyPr wrap="square"/>
                    <a:lstStyle/>
                    <a:p>
                      <a:r>
                        <a:rPr sz="950" b="1" i="0">
                          <a:solidFill>
                            <a:srgbClr val="222222"/>
                          </a:solidFill>
                          <a:latin typeface="Calibri"/>
                        </a:rPr>
                        <a:t>Top-5 accuracy</a:t>
                      </a:r>
                    </a:p>
                  </a:txBody>
                  <a:tcPr marL="82296" marR="82296" marT="27432" marB="27432" anchor="ctr">
                    <a:solidFill>
                      <a:srgbClr val="F7F4F5"/>
                    </a:solidFill>
                  </a:tcPr>
                </a:tc>
                <a:tc>
                  <a:txBody>
                    <a:bodyPr wrap="square"/>
                    <a:lstStyle/>
                    <a:p>
                      <a:r>
                        <a:rPr sz="950" b="0" i="0">
                          <a:solidFill>
                            <a:srgbClr val="222222"/>
                          </a:solidFill>
                          <a:latin typeface="Calibri"/>
                        </a:rPr>
                        <a:t>97.66%</a:t>
                      </a:r>
                    </a:p>
                  </a:txBody>
                  <a:tcPr marL="82296" marR="82296" marT="27432" marB="27432" anchor="ctr">
                    <a:solidFill>
                      <a:srgbClr val="F7F4F5"/>
                    </a:solidFill>
                  </a:tcPr>
                </a:tc>
                <a:tc>
                  <a:txBody>
                    <a:bodyPr wrap="square"/>
                    <a:lstStyle/>
                    <a:p>
                      <a:r>
                        <a:rPr sz="950" b="0" i="0">
                          <a:solidFill>
                            <a:srgbClr val="222222"/>
                          </a:solidFill>
                          <a:latin typeface="Calibri"/>
                        </a:rPr>
                        <a:t>98.44%</a:t>
                      </a:r>
                    </a:p>
                  </a:txBody>
                  <a:tcPr marL="82296" marR="82296" marT="27432" marB="27432" anchor="ctr">
                    <a:solidFill>
                      <a:srgbClr val="F7F4F5"/>
                    </a:solidFill>
                  </a:tcPr>
                </a:tc>
                <a:tc>
                  <a:txBody>
                    <a:bodyPr wrap="square"/>
                    <a:lstStyle/>
                    <a:p>
                      <a:r>
                        <a:rPr sz="950" b="0" i="0">
                          <a:solidFill>
                            <a:srgbClr val="222222"/>
                          </a:solidFill>
                          <a:latin typeface="Calibri"/>
                        </a:rPr>
                        <a:t>CNN  +0.78</a:t>
                      </a:r>
                    </a:p>
                  </a:txBody>
                  <a:tcPr marL="82296" marR="82296" marT="27432" marB="27432" anchor="ctr">
                    <a:solidFill>
                      <a:srgbClr val="F7F4F5"/>
                    </a:solidFill>
                  </a:tcPr>
                </a:tc>
                <a:tc>
                  <a:txBody>
                    <a:bodyPr wrap="square"/>
                    <a:lstStyle/>
                    <a:p>
                      <a:r>
                        <a:rPr sz="950" b="0" i="0">
                          <a:solidFill>
                            <a:srgbClr val="222222"/>
                          </a:solidFill>
                          <a:latin typeface="Calibri"/>
                        </a:rPr>
                        <a:t>Correct sign is in the top 5 ~98% of the time.</a:t>
                      </a:r>
                    </a:p>
                  </a:txBody>
                  <a:tcPr marL="82296" marR="82296" marT="27432" marB="27432" anchor="ctr">
                    <a:solidFill>
                      <a:srgbClr val="F7F4F5"/>
                    </a:solidFill>
                  </a:tcPr>
                </a:tc>
              </a:tr>
              <a:tr h="283464">
                <a:tc>
                  <a:txBody>
                    <a:bodyPr wrap="square"/>
                    <a:lstStyle/>
                    <a:p>
                      <a:r>
                        <a:rPr sz="950" b="1" i="0">
                          <a:solidFill>
                            <a:srgbClr val="222222"/>
                          </a:solidFill>
                          <a:latin typeface="Calibri"/>
                        </a:rPr>
                        <a:t>Macro F1</a:t>
                      </a:r>
                    </a:p>
                  </a:txBody>
                  <a:tcPr marL="82296" marR="82296" marT="27432" marB="27432" anchor="ctr">
                    <a:solidFill>
                      <a:srgbClr val="FFFFFF"/>
                    </a:solidFill>
                  </a:tcPr>
                </a:tc>
                <a:tc>
                  <a:txBody>
                    <a:bodyPr wrap="square"/>
                    <a:lstStyle/>
                    <a:p>
                      <a:r>
                        <a:rPr sz="950" b="0" i="0">
                          <a:solidFill>
                            <a:srgbClr val="222222"/>
                          </a:solidFill>
                          <a:latin typeface="Calibri"/>
                        </a:rPr>
                        <a:t>0.9140</a:t>
                      </a:r>
                    </a:p>
                  </a:txBody>
                  <a:tcPr marL="82296" marR="82296" marT="27432" marB="27432" anchor="ctr">
                    <a:solidFill>
                      <a:srgbClr val="FFFFFF"/>
                    </a:solidFill>
                  </a:tcPr>
                </a:tc>
                <a:tc>
                  <a:txBody>
                    <a:bodyPr wrap="square"/>
                    <a:lstStyle/>
                    <a:p>
                      <a:r>
                        <a:rPr sz="950" b="0" i="0">
                          <a:solidFill>
                            <a:srgbClr val="222222"/>
                          </a:solidFill>
                          <a:latin typeface="Calibri"/>
                        </a:rPr>
                        <a:t>0.9433</a:t>
                      </a:r>
                    </a:p>
                  </a:txBody>
                  <a:tcPr marL="82296" marR="82296" marT="27432" marB="27432" anchor="ctr">
                    <a:solidFill>
                      <a:srgbClr val="FFFFFF"/>
                    </a:solidFill>
                  </a:tcPr>
                </a:tc>
                <a:tc>
                  <a:txBody>
                    <a:bodyPr wrap="square"/>
                    <a:lstStyle/>
                    <a:p>
                      <a:r>
                        <a:rPr sz="950" b="0" i="0">
                          <a:solidFill>
                            <a:srgbClr val="222222"/>
                          </a:solidFill>
                          <a:latin typeface="Calibri"/>
                        </a:rPr>
                        <a:t>CNN  +0.029</a:t>
                      </a:r>
                    </a:p>
                  </a:txBody>
                  <a:tcPr marL="82296" marR="82296" marT="27432" marB="27432" anchor="ctr">
                    <a:solidFill>
                      <a:srgbClr val="FFFFFF"/>
                    </a:solidFill>
                  </a:tcPr>
                </a:tc>
                <a:tc>
                  <a:txBody>
                    <a:bodyPr wrap="square"/>
                    <a:lstStyle/>
                    <a:p>
                      <a:r>
                        <a:rPr sz="950" b="0" i="0">
                          <a:solidFill>
                            <a:srgbClr val="222222"/>
                          </a:solidFill>
                          <a:latin typeface="Calibri"/>
                        </a:rPr>
                        <a:t>Holds up on rare classes, not just common ones.</a:t>
                      </a:r>
                    </a:p>
                  </a:txBody>
                  <a:tcPr marL="82296" marR="82296" marT="27432" marB="27432" anchor="ctr">
                    <a:solidFill>
                      <a:srgbClr val="FFFFFF"/>
                    </a:solidFill>
                  </a:tcPr>
                </a:tc>
              </a:tr>
              <a:tr h="283464">
                <a:tc>
                  <a:txBody>
                    <a:bodyPr wrap="square"/>
                    <a:lstStyle/>
                    <a:p>
                      <a:r>
                        <a:rPr sz="950" b="1" i="0">
                          <a:solidFill>
                            <a:srgbClr val="222222"/>
                          </a:solidFill>
                          <a:latin typeface="Calibri"/>
                        </a:rPr>
                        <a:t>Weighted F1</a:t>
                      </a:r>
                    </a:p>
                  </a:txBody>
                  <a:tcPr marL="82296" marR="82296" marT="27432" marB="27432" anchor="ctr">
                    <a:solidFill>
                      <a:srgbClr val="F7F4F5"/>
                    </a:solidFill>
                  </a:tcPr>
                </a:tc>
                <a:tc>
                  <a:txBody>
                    <a:bodyPr wrap="square"/>
                    <a:lstStyle/>
                    <a:p>
                      <a:r>
                        <a:rPr sz="950" b="0" i="0">
                          <a:solidFill>
                            <a:srgbClr val="222222"/>
                          </a:solidFill>
                          <a:latin typeface="Calibri"/>
                        </a:rPr>
                        <a:t>0.9126</a:t>
                      </a:r>
                    </a:p>
                  </a:txBody>
                  <a:tcPr marL="82296" marR="82296" marT="27432" marB="27432" anchor="ctr">
                    <a:solidFill>
                      <a:srgbClr val="F7F4F5"/>
                    </a:solidFill>
                  </a:tcPr>
                </a:tc>
                <a:tc>
                  <a:txBody>
                    <a:bodyPr wrap="square"/>
                    <a:lstStyle/>
                    <a:p>
                      <a:r>
                        <a:rPr sz="950" b="0" i="0">
                          <a:solidFill>
                            <a:srgbClr val="222222"/>
                          </a:solidFill>
                          <a:latin typeface="Calibri"/>
                        </a:rPr>
                        <a:t>0.9422</a:t>
                      </a:r>
                    </a:p>
                  </a:txBody>
                  <a:tcPr marL="82296" marR="82296" marT="27432" marB="27432" anchor="ctr">
                    <a:solidFill>
                      <a:srgbClr val="F7F4F5"/>
                    </a:solidFill>
                  </a:tcPr>
                </a:tc>
                <a:tc>
                  <a:txBody>
                    <a:bodyPr wrap="square"/>
                    <a:lstStyle/>
                    <a:p>
                      <a:r>
                        <a:rPr sz="950" b="0" i="0">
                          <a:solidFill>
                            <a:srgbClr val="222222"/>
                          </a:solidFill>
                          <a:latin typeface="Calibri"/>
                        </a:rPr>
                        <a:t>CNN  +0.030</a:t>
                      </a:r>
                    </a:p>
                  </a:txBody>
                  <a:tcPr marL="82296" marR="82296" marT="27432" marB="27432" anchor="ctr">
                    <a:solidFill>
                      <a:srgbClr val="F7F4F5"/>
                    </a:solidFill>
                  </a:tcPr>
                </a:tc>
                <a:tc>
                  <a:txBody>
                    <a:bodyPr wrap="square"/>
                    <a:lstStyle/>
                    <a:p>
                      <a:r>
                        <a:rPr sz="950" b="0" i="0">
                          <a:solidFill>
                            <a:srgbClr val="222222"/>
                          </a:solidFill>
                          <a:latin typeface="Calibri"/>
                        </a:rPr>
                        <a:t>Consistent with macro — no class-frequency artefact.</a:t>
                      </a:r>
                    </a:p>
                  </a:txBody>
                  <a:tcPr marL="82296" marR="82296" marT="27432" marB="27432" anchor="ctr">
                    <a:solidFill>
                      <a:srgbClr val="F7F4F5"/>
                    </a:solidFill>
                  </a:tcPr>
                </a:tc>
              </a:tr>
              <a:tr h="283464">
                <a:tc>
                  <a:txBody>
                    <a:bodyPr wrap="square"/>
                    <a:lstStyle/>
                    <a:p>
                      <a:r>
                        <a:rPr sz="950" b="1" i="0">
                          <a:solidFill>
                            <a:srgbClr val="222222"/>
                          </a:solidFill>
                          <a:latin typeface="Calibri"/>
                        </a:rPr>
                        <a:t>Latency (mean)</a:t>
                      </a:r>
                    </a:p>
                  </a:txBody>
                  <a:tcPr marL="82296" marR="82296" marT="27432" marB="27432" anchor="ctr">
                    <a:solidFill>
                      <a:srgbClr val="FFFFFF"/>
                    </a:solidFill>
                  </a:tcPr>
                </a:tc>
                <a:tc>
                  <a:txBody>
                    <a:bodyPr wrap="square"/>
                    <a:lstStyle/>
                    <a:p>
                      <a:r>
                        <a:rPr sz="950" b="0" i="0">
                          <a:solidFill>
                            <a:srgbClr val="222222"/>
                          </a:solidFill>
                          <a:latin typeface="Calibri"/>
                        </a:rPr>
                        <a:t>4.12 ms</a:t>
                      </a:r>
                    </a:p>
                  </a:txBody>
                  <a:tcPr marL="82296" marR="82296" marT="27432" marB="27432" anchor="ctr">
                    <a:solidFill>
                      <a:srgbClr val="FFFFFF"/>
                    </a:solidFill>
                  </a:tcPr>
                </a:tc>
                <a:tc>
                  <a:txBody>
                    <a:bodyPr wrap="square"/>
                    <a:lstStyle/>
                    <a:p>
                      <a:r>
                        <a:rPr sz="950" b="0" i="0">
                          <a:solidFill>
                            <a:srgbClr val="222222"/>
                          </a:solidFill>
                          <a:latin typeface="Calibri"/>
                        </a:rPr>
                        <a:t>0.74 ms</a:t>
                      </a:r>
                    </a:p>
                  </a:txBody>
                  <a:tcPr marL="82296" marR="82296" marT="27432" marB="27432" anchor="ctr">
                    <a:solidFill>
                      <a:srgbClr val="FFFFFF"/>
                    </a:solidFill>
                  </a:tcPr>
                </a:tc>
                <a:tc>
                  <a:txBody>
                    <a:bodyPr wrap="square"/>
                    <a:lstStyle/>
                    <a:p>
                      <a:r>
                        <a:rPr sz="950" b="0" i="0">
                          <a:solidFill>
                            <a:srgbClr val="222222"/>
                          </a:solidFill>
                          <a:latin typeface="Calibri"/>
                        </a:rPr>
                        <a:t>CNN  5.6×</a:t>
                      </a:r>
                    </a:p>
                  </a:txBody>
                  <a:tcPr marL="82296" marR="82296" marT="27432" marB="27432" anchor="ctr">
                    <a:solidFill>
                      <a:srgbClr val="FFFFFF"/>
                    </a:solidFill>
                  </a:tcPr>
                </a:tc>
                <a:tc>
                  <a:txBody>
                    <a:bodyPr wrap="square"/>
                    <a:lstStyle/>
                    <a:p>
                      <a:r>
                        <a:rPr sz="950" b="0" i="0">
                          <a:solidFill>
                            <a:srgbClr val="222222"/>
                          </a:solidFill>
                          <a:latin typeface="Calibri"/>
                        </a:rPr>
                        <a:t>Both are real-time; CNN leaves far more headroom.</a:t>
                      </a:r>
                    </a:p>
                  </a:txBody>
                  <a:tcPr marL="82296" marR="82296" marT="27432" marB="27432" anchor="ctr">
                    <a:solidFill>
                      <a:srgbClr val="FFFFFF"/>
                    </a:solidFill>
                  </a:tcPr>
                </a:tc>
              </a:tr>
              <a:tr h="283464">
                <a:tc>
                  <a:txBody>
                    <a:bodyPr wrap="square"/>
                    <a:lstStyle/>
                    <a:p>
                      <a:r>
                        <a:rPr sz="950" b="1" i="0">
                          <a:solidFill>
                            <a:srgbClr val="222222"/>
                          </a:solidFill>
                          <a:latin typeface="Calibri"/>
                        </a:rPr>
                        <a:t>Latency (p95)</a:t>
                      </a:r>
                    </a:p>
                  </a:txBody>
                  <a:tcPr marL="82296" marR="82296" marT="27432" marB="27432" anchor="ctr">
                    <a:solidFill>
                      <a:srgbClr val="F7F4F5"/>
                    </a:solidFill>
                  </a:tcPr>
                </a:tc>
                <a:tc>
                  <a:txBody>
                    <a:bodyPr wrap="square"/>
                    <a:lstStyle/>
                    <a:p>
                      <a:r>
                        <a:rPr sz="950" b="0" i="0">
                          <a:solidFill>
                            <a:srgbClr val="222222"/>
                          </a:solidFill>
                          <a:latin typeface="Calibri"/>
                        </a:rPr>
                        <a:t>6.90 ms</a:t>
                      </a:r>
                    </a:p>
                  </a:txBody>
                  <a:tcPr marL="82296" marR="82296" marT="27432" marB="27432" anchor="ctr">
                    <a:solidFill>
                      <a:srgbClr val="F7F4F5"/>
                    </a:solidFill>
                  </a:tcPr>
                </a:tc>
                <a:tc>
                  <a:txBody>
                    <a:bodyPr wrap="square"/>
                    <a:lstStyle/>
                    <a:p>
                      <a:r>
                        <a:rPr sz="950" b="0" i="0">
                          <a:solidFill>
                            <a:srgbClr val="222222"/>
                          </a:solidFill>
                          <a:latin typeface="Calibri"/>
                        </a:rPr>
                        <a:t>1.05 ms</a:t>
                      </a:r>
                    </a:p>
                  </a:txBody>
                  <a:tcPr marL="82296" marR="82296" marT="27432" marB="27432" anchor="ctr">
                    <a:solidFill>
                      <a:srgbClr val="F7F4F5"/>
                    </a:solidFill>
                  </a:tcPr>
                </a:tc>
                <a:tc>
                  <a:txBody>
                    <a:bodyPr wrap="square"/>
                    <a:lstStyle/>
                    <a:p>
                      <a:r>
                        <a:rPr sz="950" b="0" i="0">
                          <a:solidFill>
                            <a:srgbClr val="222222"/>
                          </a:solidFill>
                          <a:latin typeface="Calibri"/>
                        </a:rPr>
                        <a:t>CNN  6.6×</a:t>
                      </a:r>
                    </a:p>
                  </a:txBody>
                  <a:tcPr marL="82296" marR="82296" marT="27432" marB="27432" anchor="ctr">
                    <a:solidFill>
                      <a:srgbClr val="F7F4F5"/>
                    </a:solidFill>
                  </a:tcPr>
                </a:tc>
                <a:tc>
                  <a:txBody>
                    <a:bodyPr wrap="square"/>
                    <a:lstStyle/>
                    <a:p>
                      <a:r>
                        <a:rPr sz="950" b="0" i="0">
                          <a:solidFill>
                            <a:srgbClr val="222222"/>
                          </a:solidFill>
                          <a:latin typeface="Calibri"/>
                        </a:rPr>
                        <a:t>Tail latency matters more than mean for felt speed.</a:t>
                      </a:r>
                    </a:p>
                  </a:txBody>
                  <a:tcPr marL="82296" marR="82296" marT="27432" marB="27432" anchor="ctr">
                    <a:solidFill>
                      <a:srgbClr val="F7F4F5"/>
                    </a:solidFill>
                  </a:tcPr>
                </a:tc>
              </a:tr>
              <a:tr h="283464">
                <a:tc>
                  <a:txBody>
                    <a:bodyPr wrap="square"/>
                    <a:lstStyle/>
                    <a:p>
                      <a:r>
                        <a:rPr sz="950" b="1" i="0">
                          <a:solidFill>
                            <a:srgbClr val="222222"/>
                          </a:solidFill>
                          <a:latin typeface="Calibri"/>
                        </a:rPr>
                        <a:t>Parameters</a:t>
                      </a:r>
                    </a:p>
                  </a:txBody>
                  <a:tcPr marL="82296" marR="82296" marT="27432" marB="27432" anchor="ctr">
                    <a:solidFill>
                      <a:srgbClr val="FFFFFF"/>
                    </a:solidFill>
                  </a:tcPr>
                </a:tc>
                <a:tc>
                  <a:txBody>
                    <a:bodyPr wrap="square"/>
                    <a:lstStyle/>
                    <a:p>
                      <a:r>
                        <a:rPr sz="950" b="0" i="0">
                          <a:solidFill>
                            <a:srgbClr val="222222"/>
                          </a:solidFill>
                          <a:latin typeface="Calibri"/>
                        </a:rPr>
                        <a:t>2,665,477</a:t>
                      </a:r>
                    </a:p>
                  </a:txBody>
                  <a:tcPr marL="82296" marR="82296" marT="27432" marB="27432" anchor="ctr">
                    <a:solidFill>
                      <a:srgbClr val="FFFFFF"/>
                    </a:solidFill>
                  </a:tcPr>
                </a:tc>
                <a:tc>
                  <a:txBody>
                    <a:bodyPr wrap="square"/>
                    <a:lstStyle/>
                    <a:p>
                      <a:r>
                        <a:rPr sz="950" b="0" i="0">
                          <a:solidFill>
                            <a:srgbClr val="222222"/>
                          </a:solidFill>
                          <a:latin typeface="Calibri"/>
                        </a:rPr>
                        <a:t>736,773</a:t>
                      </a:r>
                    </a:p>
                  </a:txBody>
                  <a:tcPr marL="82296" marR="82296" marT="27432" marB="27432" anchor="ctr">
                    <a:solidFill>
                      <a:srgbClr val="FFFFFF"/>
                    </a:solidFill>
                  </a:tcPr>
                </a:tc>
                <a:tc>
                  <a:txBody>
                    <a:bodyPr wrap="square"/>
                    <a:lstStyle/>
                    <a:p>
                      <a:r>
                        <a:rPr sz="950" b="0" i="0">
                          <a:solidFill>
                            <a:srgbClr val="222222"/>
                          </a:solidFill>
                          <a:latin typeface="Calibri"/>
                        </a:rPr>
                        <a:t>CNN  3.6×</a:t>
                      </a:r>
                    </a:p>
                  </a:txBody>
                  <a:tcPr marL="82296" marR="82296" marT="27432" marB="27432" anchor="ctr">
                    <a:solidFill>
                      <a:srgbClr val="FFFFFF"/>
                    </a:solidFill>
                  </a:tcPr>
                </a:tc>
                <a:tc>
                  <a:txBody>
                    <a:bodyPr wrap="square"/>
                    <a:lstStyle/>
                    <a:p>
                      <a:r>
                        <a:rPr sz="950" b="0" i="0">
                          <a:solidFill>
                            <a:srgbClr val="222222"/>
                          </a:solidFill>
                          <a:latin typeface="Calibri"/>
                        </a:rPr>
                        <a:t>Higher accuracy from a much smaller model.</a:t>
                      </a:r>
                    </a:p>
                  </a:txBody>
                  <a:tcPr marL="82296" marR="82296" marT="27432" marB="27432" anchor="ctr">
                    <a:solidFill>
                      <a:srgbClr val="FFFFFF"/>
                    </a:solidFill>
                  </a:tcPr>
                </a:tc>
              </a:tr>
              <a:tr h="283464">
                <a:tc>
                  <a:txBody>
                    <a:bodyPr wrap="square"/>
                    <a:lstStyle/>
                    <a:p>
                      <a:r>
                        <a:rPr sz="950" b="1" i="0">
                          <a:solidFill>
                            <a:srgbClr val="222222"/>
                          </a:solidFill>
                          <a:latin typeface="Calibri"/>
                        </a:rPr>
                        <a:t>Training time</a:t>
                      </a:r>
                    </a:p>
                  </a:txBody>
                  <a:tcPr marL="82296" marR="82296" marT="27432" marB="27432" anchor="ctr">
                    <a:solidFill>
                      <a:srgbClr val="F7F4F5"/>
                    </a:solidFill>
                  </a:tcPr>
                </a:tc>
                <a:tc>
                  <a:txBody>
                    <a:bodyPr wrap="square"/>
                    <a:lstStyle/>
                    <a:p>
                      <a:r>
                        <a:rPr sz="950" b="0" i="0">
                          <a:solidFill>
                            <a:srgbClr val="222222"/>
                          </a:solidFill>
                          <a:latin typeface="Calibri"/>
                        </a:rPr>
                        <a:t>1,953 s</a:t>
                      </a:r>
                    </a:p>
                  </a:txBody>
                  <a:tcPr marL="82296" marR="82296" marT="27432" marB="27432" anchor="ctr">
                    <a:solidFill>
                      <a:srgbClr val="F7F4F5"/>
                    </a:solidFill>
                  </a:tcPr>
                </a:tc>
                <a:tc>
                  <a:txBody>
                    <a:bodyPr wrap="square"/>
                    <a:lstStyle/>
                    <a:p>
                      <a:r>
                        <a:rPr sz="950" b="0" i="0">
                          <a:solidFill>
                            <a:srgbClr val="222222"/>
                          </a:solidFill>
                          <a:latin typeface="Calibri"/>
                        </a:rPr>
                        <a:t>287 s</a:t>
                      </a:r>
                    </a:p>
                  </a:txBody>
                  <a:tcPr marL="82296" marR="82296" marT="27432" marB="27432" anchor="ctr">
                    <a:solidFill>
                      <a:srgbClr val="F7F4F5"/>
                    </a:solidFill>
                  </a:tcPr>
                </a:tc>
                <a:tc>
                  <a:txBody>
                    <a:bodyPr wrap="square"/>
                    <a:lstStyle/>
                    <a:p>
                      <a:r>
                        <a:rPr sz="950" b="0" i="0">
                          <a:solidFill>
                            <a:srgbClr val="222222"/>
                          </a:solidFill>
                          <a:latin typeface="Calibri"/>
                        </a:rPr>
                        <a:t>CNN  6.8×</a:t>
                      </a:r>
                    </a:p>
                  </a:txBody>
                  <a:tcPr marL="82296" marR="82296" marT="27432" marB="27432" anchor="ctr">
                    <a:solidFill>
                      <a:srgbClr val="F7F4F5"/>
                    </a:solidFill>
                  </a:tcPr>
                </a:tc>
                <a:tc>
                  <a:txBody>
                    <a:bodyPr wrap="square"/>
                    <a:lstStyle/>
                    <a:p>
                      <a:r>
                        <a:rPr sz="950" b="0" i="0">
                          <a:solidFill>
                            <a:srgbClr val="222222"/>
                          </a:solidFill>
                          <a:latin typeface="Calibri"/>
                        </a:rPr>
                        <a:t>Convolutions parallelise over time; recurrence cannot.</a:t>
                      </a:r>
                    </a:p>
                  </a:txBody>
                  <a:tcPr marL="82296" marR="82296" marT="27432" marB="27432" anchor="ctr">
                    <a:solidFill>
                      <a:srgbClr val="F7F4F5"/>
                    </a:solidFill>
                  </a:tcPr>
                </a:tc>
              </a:tr>
              <a:tr h="283464">
                <a:tc>
                  <a:txBody>
                    <a:bodyPr wrap="square"/>
                    <a:lstStyle/>
                    <a:p>
                      <a:r>
                        <a:rPr sz="950" b="1" i="0">
                          <a:solidFill>
                            <a:srgbClr val="222222"/>
                          </a:solidFill>
                          <a:latin typeface="Calibri"/>
                        </a:rPr>
                        <a:t>Best epoch</a:t>
                      </a:r>
                    </a:p>
                  </a:txBody>
                  <a:tcPr marL="82296" marR="82296" marT="27432" marB="27432" anchor="ctr">
                    <a:solidFill>
                      <a:srgbClr val="FFFFFF"/>
                    </a:solidFill>
                  </a:tcPr>
                </a:tc>
                <a:tc>
                  <a:txBody>
                    <a:bodyPr wrap="square"/>
                    <a:lstStyle/>
                    <a:p>
                      <a:r>
                        <a:rPr sz="950" b="0" i="0">
                          <a:solidFill>
                            <a:srgbClr val="222222"/>
                          </a:solidFill>
                          <a:latin typeface="Calibri"/>
                        </a:rPr>
                        <a:t>41 / 60</a:t>
                      </a:r>
                    </a:p>
                  </a:txBody>
                  <a:tcPr marL="82296" marR="82296" marT="27432" marB="27432" anchor="ctr">
                    <a:solidFill>
                      <a:srgbClr val="FFFFFF"/>
                    </a:solidFill>
                  </a:tcPr>
                </a:tc>
                <a:tc>
                  <a:txBody>
                    <a:bodyPr wrap="square"/>
                    <a:lstStyle/>
                    <a:p>
                      <a:r>
                        <a:rPr sz="950" b="0" i="0">
                          <a:solidFill>
                            <a:srgbClr val="222222"/>
                          </a:solidFill>
                          <a:latin typeface="Calibri"/>
                        </a:rPr>
                        <a:t>45 / 60</a:t>
                      </a:r>
                    </a:p>
                  </a:txBody>
                  <a:tcPr marL="82296" marR="82296" marT="27432" marB="27432" anchor="ctr">
                    <a:solidFill>
                      <a:srgbClr val="FFFFFF"/>
                    </a:solidFill>
                  </a:tcPr>
                </a:tc>
                <a:tc>
                  <a:txBody>
                    <a:bodyPr wrap="square"/>
                    <a:lstStyle/>
                    <a:p>
                      <a:r>
                        <a:rPr sz="950" b="0" i="0">
                          <a:solidFill>
                            <a:srgbClr val="222222"/>
                          </a:solidFill>
                          <a:latin typeface="Calibri"/>
                        </a:rPr>
                        <a:t>—</a:t>
                      </a:r>
                    </a:p>
                  </a:txBody>
                  <a:tcPr marL="82296" marR="82296" marT="27432" marB="27432" anchor="ctr">
                    <a:solidFill>
                      <a:srgbClr val="FFFFFF"/>
                    </a:solidFill>
                  </a:tcPr>
                </a:tc>
                <a:tc>
                  <a:txBody>
                    <a:bodyPr wrap="square"/>
                    <a:lstStyle/>
                    <a:p>
                      <a:r>
                        <a:rPr sz="950" b="0" i="0">
                          <a:solidFill>
                            <a:srgbClr val="222222"/>
                          </a:solidFill>
                          <a:latin typeface="Calibri"/>
                        </a:rPr>
                        <a:t>Both converged well inside the budget.</a:t>
                      </a:r>
                    </a:p>
                  </a:txBody>
                  <a:tcPr marL="82296" marR="82296" marT="27432" marB="27432" anchor="ctr">
                    <a:solidFill>
                      <a:srgbClr val="FFFFFF"/>
                    </a:solidFill>
                  </a:tcPr>
                </a:tc>
              </a:tr>
            </a:tbl>
          </a:graphicData>
        </a:graphic>
      </p:graphicFrame>
      <p:sp>
        <p:nvSpPr>
          <p:cNvPr id="11" name="TextBox 10"/>
          <p:cNvSpPr txBox="1"/>
          <p:nvPr/>
        </p:nvSpPr>
        <p:spPr>
          <a:xfrm>
            <a:off x="594360" y="5413248"/>
            <a:ext cx="10424160" cy="566928"/>
          </a:xfrm>
          <a:prstGeom prst="rect">
            <a:avLst/>
          </a:prstGeom>
          <a:noFill/>
        </p:spPr>
        <p:txBody>
          <a:bodyPr wrap="square" anchor="t" lIns="0" rIns="0" tIns="0" bIns="0">
            <a:spAutoFit/>
          </a:bodyPr>
          <a:lstStyle/>
          <a:p>
            <a:pPr>
              <a:lnSpc>
                <a:spcPct val="115000"/>
              </a:lnSpc>
            </a:pPr>
            <a:r>
              <a:rPr sz="1050" b="1" i="0">
                <a:solidFill>
                  <a:srgbClr val="B6114D"/>
                </a:solidFill>
                <a:latin typeface="Calibri"/>
              </a:rPr>
              <a:t>Conclusion:  </a:t>
            </a:r>
            <a:r>
              <a:rPr sz="1050" b="0" i="0">
                <a:solidFill>
                  <a:srgbClr val="5A5A5A"/>
                </a:solidFill>
                <a:latin typeface="Calibri"/>
              </a:rPr>
              <a:t>the hypothesis that isolated ISL signs are separable from short local motion primitives is supported. The CNN is more accurate AND 3.6× smaller AND 5.6× faster — it dominates on every axis, so there is no accuracy-for-speed trade-off to argue about. Explicit long-range temporal modelling did not pay for itself on word-level signs; it may still matter for continuous signing.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15 — IMPLEMENTATION</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Implementation Status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83080"/>
            <a:ext cx="4526280" cy="274320"/>
          </a:xfrm>
          <a:prstGeom prst="rect">
            <a:avLst/>
          </a:prstGeom>
          <a:noFill/>
        </p:spPr>
        <p:txBody>
          <a:bodyPr wrap="square" anchor="t" lIns="0" rIns="0" tIns="0" bIns="0">
            <a:spAutoFit/>
          </a:bodyPr>
          <a:lstStyle/>
          <a:p>
            <a:r>
              <a:rPr sz="1200" b="1" i="0">
                <a:solidFill>
                  <a:srgbClr val="086072"/>
                </a:solidFill>
                <a:latin typeface="Calibri"/>
              </a:rPr>
              <a:t>Frontend — complete</a:t>
            </a:r>
          </a:p>
        </p:txBody>
      </p:sp>
      <p:sp>
        <p:nvSpPr>
          <p:cNvPr id="10" name="TextBox 9"/>
          <p:cNvSpPr txBox="1"/>
          <p:nvPr/>
        </p:nvSpPr>
        <p:spPr>
          <a:xfrm>
            <a:off x="86868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9 routes built and compiling (200 kB gzipped). Research page reads live metrics from the API with an explicit not-yet-trained state.</a:t>
            </a:r>
          </a:p>
        </p:txBody>
      </p:sp>
      <p:sp>
        <p:nvSpPr>
          <p:cNvPr id="11" name="Rectangle 10"/>
          <p:cNvSpPr/>
          <p:nvPr/>
        </p:nvSpPr>
        <p:spPr>
          <a:xfrm>
            <a:off x="598932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98932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783080"/>
            <a:ext cx="4526280" cy="274320"/>
          </a:xfrm>
          <a:prstGeom prst="rect">
            <a:avLst/>
          </a:prstGeom>
          <a:noFill/>
        </p:spPr>
        <p:txBody>
          <a:bodyPr wrap="square" anchor="t" lIns="0" rIns="0" tIns="0" bIns="0">
            <a:spAutoFit/>
          </a:bodyPr>
          <a:lstStyle/>
          <a:p>
            <a:r>
              <a:rPr sz="1200" b="1" i="0">
                <a:solidFill>
                  <a:srgbClr val="086072"/>
                </a:solidFill>
                <a:latin typeface="Calibri"/>
              </a:rPr>
              <a:t>Backend — complete</a:t>
            </a:r>
          </a:p>
        </p:txBody>
      </p:sp>
      <p:sp>
        <p:nvSpPr>
          <p:cNvPr id="14" name="TextBox 13"/>
          <p:cNvSpPr txBox="1"/>
          <p:nvPr/>
        </p:nvSpPr>
        <p:spPr>
          <a:xfrm>
            <a:off x="626364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FastAPI serving /api/frame, /api/status, /api/comparison. Boots and stays usable with no checkpoints via a mock predictor.</a:t>
            </a:r>
          </a:p>
        </p:txBody>
      </p:sp>
      <p:sp>
        <p:nvSpPr>
          <p:cNvPr id="15" name="Rectangle 14"/>
          <p:cNvSpPr/>
          <p:nvPr/>
        </p:nvSpPr>
        <p:spPr>
          <a:xfrm>
            <a:off x="59436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9436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68680" y="3136391"/>
            <a:ext cx="4526280" cy="274320"/>
          </a:xfrm>
          <a:prstGeom prst="rect">
            <a:avLst/>
          </a:prstGeom>
          <a:noFill/>
        </p:spPr>
        <p:txBody>
          <a:bodyPr wrap="square" anchor="t" lIns="0" rIns="0" tIns="0" bIns="0">
            <a:spAutoFit/>
          </a:bodyPr>
          <a:lstStyle/>
          <a:p>
            <a:r>
              <a:rPr sz="1200" b="1" i="0">
                <a:solidFill>
                  <a:srgbClr val="086072"/>
                </a:solidFill>
                <a:latin typeface="Calibri"/>
              </a:rPr>
              <a:t>ML pipeline — code complete</a:t>
            </a:r>
          </a:p>
        </p:txBody>
      </p:sp>
      <p:sp>
        <p:nvSpPr>
          <p:cNvPr id="18" name="TextBox 17"/>
          <p:cNvSpPr txBox="1"/>
          <p:nvPr/>
        </p:nvSpPr>
        <p:spPr>
          <a:xfrm>
            <a:off x="86868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preprocess, dataset, models, three trainers, evaluate, make_report, run_pipeline. Executed end-to-end on a smoke subset.</a:t>
            </a:r>
          </a:p>
        </p:txBody>
      </p:sp>
      <p:sp>
        <p:nvSpPr>
          <p:cNvPr id="19" name="Rectangle 18"/>
          <p:cNvSpPr/>
          <p:nvPr/>
        </p:nvSpPr>
        <p:spPr>
          <a:xfrm>
            <a:off x="598932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98932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63640" y="3136391"/>
            <a:ext cx="4526280" cy="274320"/>
          </a:xfrm>
          <a:prstGeom prst="rect">
            <a:avLst/>
          </a:prstGeom>
          <a:noFill/>
        </p:spPr>
        <p:txBody>
          <a:bodyPr wrap="square" anchor="t" lIns="0" rIns="0" tIns="0" bIns="0">
            <a:spAutoFit/>
          </a:bodyPr>
          <a:lstStyle/>
          <a:p>
            <a:r>
              <a:rPr sz="1200" b="1" i="0">
                <a:solidFill>
                  <a:srgbClr val="086072"/>
                </a:solidFill>
                <a:latin typeface="Calibri"/>
              </a:rPr>
              <a:t>Dataset — acquired</a:t>
            </a:r>
          </a:p>
        </p:txBody>
      </p:sp>
      <p:sp>
        <p:nvSpPr>
          <p:cNvPr id="22" name="TextBox 21"/>
          <p:cNvSpPr txBox="1"/>
          <p:nvPr/>
        </p:nvSpPr>
        <p:spPr>
          <a:xfrm>
            <a:off x="626364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INCLUDE archive on disk: 4,284 videos across 262 classes, 54 GB. ISL-20 working subset defined.</a:t>
            </a:r>
          </a:p>
        </p:txBody>
      </p:sp>
      <p:sp>
        <p:nvSpPr>
          <p:cNvPr id="23" name="Rectangle 22"/>
          <p:cNvSpPr/>
          <p:nvPr/>
        </p:nvSpPr>
        <p:spPr>
          <a:xfrm>
            <a:off x="59436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94360" y="4370832"/>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68680" y="4489704"/>
            <a:ext cx="4526280" cy="274320"/>
          </a:xfrm>
          <a:prstGeom prst="rect">
            <a:avLst/>
          </a:prstGeom>
          <a:noFill/>
        </p:spPr>
        <p:txBody>
          <a:bodyPr wrap="square" anchor="t" lIns="0" rIns="0" tIns="0" bIns="0">
            <a:spAutoFit/>
          </a:bodyPr>
          <a:lstStyle/>
          <a:p>
            <a:r>
              <a:rPr sz="1200" b="1" i="0">
                <a:solidFill>
                  <a:srgbClr val="086072"/>
                </a:solidFill>
                <a:latin typeface="Calibri"/>
              </a:rPr>
              <a:t>Training run — complete</a:t>
            </a:r>
          </a:p>
        </p:txBody>
      </p:sp>
      <p:sp>
        <p:nvSpPr>
          <p:cNvPr id="26" name="TextBox 25"/>
          <p:cNvSpPr txBox="1"/>
          <p:nvPr/>
        </p:nvSpPr>
        <p:spPr>
          <a:xfrm>
            <a:off x="86868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261 classes, 4,276 clips extracted (0 failures). Both models trained and evaluated on the held-out split. CNN 94.55% vs BiLSTM 91.74%.</a:t>
            </a:r>
          </a:p>
        </p:txBody>
      </p:sp>
      <p:sp>
        <p:nvSpPr>
          <p:cNvPr id="27" name="Rectangle 26"/>
          <p:cNvSpPr/>
          <p:nvPr/>
        </p:nvSpPr>
        <p:spPr>
          <a:xfrm>
            <a:off x="598932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989320" y="4370832"/>
            <a:ext cx="73152" cy="122529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3640" y="4489704"/>
            <a:ext cx="4526280" cy="274320"/>
          </a:xfrm>
          <a:prstGeom prst="rect">
            <a:avLst/>
          </a:prstGeom>
          <a:noFill/>
        </p:spPr>
        <p:txBody>
          <a:bodyPr wrap="square" anchor="t" lIns="0" rIns="0" tIns="0" bIns="0">
            <a:spAutoFit/>
          </a:bodyPr>
          <a:lstStyle/>
          <a:p>
            <a:r>
              <a:rPr sz="1200" b="1" i="0">
                <a:solidFill>
                  <a:srgbClr val="086072"/>
                </a:solidFill>
                <a:latin typeface="Calibri"/>
              </a:rPr>
              <a:t>Model↔UI integration — not required</a:t>
            </a:r>
          </a:p>
        </p:txBody>
      </p:sp>
      <p:sp>
        <p:nvSpPr>
          <p:cNvPr id="30" name="TextBox 29"/>
          <p:cNvSpPr txBox="1"/>
          <p:nvPr/>
        </p:nvSpPr>
        <p:spPr>
          <a:xfrm>
            <a:off x="626364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Explicitly out of scope for Review 2; the contract (/api/comparison) is nonetheless already implemented on both sides.</a:t>
            </a:r>
          </a:p>
        </p:txBody>
      </p:sp>
      <p:sp>
        <p:nvSpPr>
          <p:cNvPr id="31" name="TextBox 30"/>
          <p:cNvSpPr txBox="1"/>
          <p:nvPr/>
        </p:nvSpPr>
        <p:spPr>
          <a:xfrm>
            <a:off x="594360" y="5724144"/>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The deliberate constraint throughout: no metric appears anywhere in the product or this deck unless it was produced by a real evaluation run.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16 — NEXT</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Review 3 Roadmap</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22376"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10" name="TextBox 9"/>
          <p:cNvSpPr txBox="1"/>
          <p:nvPr/>
        </p:nvSpPr>
        <p:spPr>
          <a:xfrm>
            <a:off x="722376" y="1993392"/>
            <a:ext cx="1711756" cy="219456"/>
          </a:xfrm>
          <a:prstGeom prst="rect">
            <a:avLst/>
          </a:prstGeom>
          <a:noFill/>
        </p:spPr>
        <p:txBody>
          <a:bodyPr wrap="square" anchor="t" lIns="0" rIns="0" tIns="0" bIns="0">
            <a:spAutoFit/>
          </a:bodyPr>
          <a:lstStyle/>
          <a:p>
            <a:r>
              <a:rPr sz="1100" b="1" i="0">
                <a:solidFill>
                  <a:srgbClr val="086072"/>
                </a:solidFill>
                <a:latin typeface="Calibri"/>
              </a:rPr>
              <a:t>Train both models</a:t>
            </a:r>
          </a:p>
        </p:txBody>
      </p:sp>
      <p:sp>
        <p:nvSpPr>
          <p:cNvPr id="11" name="TextBox 10"/>
          <p:cNvSpPr txBox="1"/>
          <p:nvPr/>
        </p:nvSpPr>
        <p:spPr>
          <a:xfrm>
            <a:off x="722376"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Run BiLSTM and CNN on the ISL-20 subset under the fixed configuration.</a:t>
            </a:r>
          </a:p>
        </p:txBody>
      </p:sp>
      <p:sp>
        <p:nvSpPr>
          <p:cNvPr id="12" name="TextBox 11"/>
          <p:cNvSpPr txBox="1"/>
          <p:nvPr/>
        </p:nvSpPr>
        <p:spPr>
          <a:xfrm>
            <a:off x="2566720"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3" name="Rectangle 12"/>
          <p:cNvSpPr/>
          <p:nvPr/>
        </p:nvSpPr>
        <p:spPr>
          <a:xfrm>
            <a:off x="2708452"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708452"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836468"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6" name="TextBox 15"/>
          <p:cNvSpPr txBox="1"/>
          <p:nvPr/>
        </p:nvSpPr>
        <p:spPr>
          <a:xfrm>
            <a:off x="2836468" y="1993392"/>
            <a:ext cx="1711756" cy="219456"/>
          </a:xfrm>
          <a:prstGeom prst="rect">
            <a:avLst/>
          </a:prstGeom>
          <a:noFill/>
        </p:spPr>
        <p:txBody>
          <a:bodyPr wrap="square" anchor="t" lIns="0" rIns="0" tIns="0" bIns="0">
            <a:spAutoFit/>
          </a:bodyPr>
          <a:lstStyle/>
          <a:p>
            <a:r>
              <a:rPr sz="1100" b="1" i="0">
                <a:solidFill>
                  <a:srgbClr val="086072"/>
                </a:solidFill>
                <a:latin typeface="Calibri"/>
              </a:rPr>
              <a:t>Cross-team comparison</a:t>
            </a:r>
          </a:p>
        </p:txBody>
      </p:sp>
      <p:sp>
        <p:nvSpPr>
          <p:cNvPr id="17" name="TextBox 16"/>
          <p:cNvSpPr txBox="1"/>
          <p:nvPr/>
        </p:nvSpPr>
        <p:spPr>
          <a:xfrm>
            <a:off x="2836468"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Benchmark against team members' architectures on the identical split.</a:t>
            </a:r>
          </a:p>
        </p:txBody>
      </p:sp>
      <p:sp>
        <p:nvSpPr>
          <p:cNvPr id="18" name="TextBox 17"/>
          <p:cNvSpPr txBox="1"/>
          <p:nvPr/>
        </p:nvSpPr>
        <p:spPr>
          <a:xfrm>
            <a:off x="4680813"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9" name="Rectangle 18"/>
          <p:cNvSpPr/>
          <p:nvPr/>
        </p:nvSpPr>
        <p:spPr>
          <a:xfrm>
            <a:off x="4822545"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822545"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50561"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2" name="TextBox 21"/>
          <p:cNvSpPr txBox="1"/>
          <p:nvPr/>
        </p:nvSpPr>
        <p:spPr>
          <a:xfrm>
            <a:off x="4950561" y="1993392"/>
            <a:ext cx="1711756" cy="219456"/>
          </a:xfrm>
          <a:prstGeom prst="rect">
            <a:avLst/>
          </a:prstGeom>
          <a:noFill/>
        </p:spPr>
        <p:txBody>
          <a:bodyPr wrap="square" anchor="t" lIns="0" rIns="0" tIns="0" bIns="0">
            <a:spAutoFit/>
          </a:bodyPr>
          <a:lstStyle/>
          <a:p>
            <a:r>
              <a:rPr sz="1100" b="1" i="0">
                <a:solidFill>
                  <a:srgbClr val="086072"/>
                </a:solidFill>
                <a:latin typeface="Calibri"/>
              </a:rPr>
              <a:t>Integrate with UI</a:t>
            </a:r>
          </a:p>
        </p:txBody>
      </p:sp>
      <p:sp>
        <p:nvSpPr>
          <p:cNvPr id="23" name="TextBox 22"/>
          <p:cNvSpPr txBox="1"/>
          <p:nvPr/>
        </p:nvSpPr>
        <p:spPr>
          <a:xfrm>
            <a:off x="4950561"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 winning checkpoint; Research page renders the real comparison.</a:t>
            </a:r>
          </a:p>
        </p:txBody>
      </p:sp>
      <p:sp>
        <p:nvSpPr>
          <p:cNvPr id="24" name="TextBox 23"/>
          <p:cNvSpPr txBox="1"/>
          <p:nvPr/>
        </p:nvSpPr>
        <p:spPr>
          <a:xfrm>
            <a:off x="6794906"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5" name="Rectangle 24"/>
          <p:cNvSpPr/>
          <p:nvPr/>
        </p:nvSpPr>
        <p:spPr>
          <a:xfrm>
            <a:off x="6936638"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936638"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64654"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8" name="TextBox 27"/>
          <p:cNvSpPr txBox="1"/>
          <p:nvPr/>
        </p:nvSpPr>
        <p:spPr>
          <a:xfrm>
            <a:off x="7064654" y="1993392"/>
            <a:ext cx="1711756" cy="219456"/>
          </a:xfrm>
          <a:prstGeom prst="rect">
            <a:avLst/>
          </a:prstGeom>
          <a:noFill/>
        </p:spPr>
        <p:txBody>
          <a:bodyPr wrap="square" anchor="t" lIns="0" rIns="0" tIns="0" bIns="0">
            <a:spAutoFit/>
          </a:bodyPr>
          <a:lstStyle/>
          <a:p>
            <a:r>
              <a:rPr sz="1100" b="1" i="0">
                <a:solidFill>
                  <a:srgbClr val="086072"/>
                </a:solidFill>
                <a:latin typeface="Calibri"/>
              </a:rPr>
              <a:t>Deploy</a:t>
            </a:r>
          </a:p>
        </p:txBody>
      </p:sp>
      <p:sp>
        <p:nvSpPr>
          <p:cNvPr id="29" name="TextBox 28"/>
          <p:cNvSpPr txBox="1"/>
          <p:nvPr/>
        </p:nvSpPr>
        <p:spPr>
          <a:xfrm>
            <a:off x="7064654"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Ship frontend and FastAPI backend together; verify end-to-end latency.</a:t>
            </a:r>
          </a:p>
        </p:txBody>
      </p:sp>
      <p:sp>
        <p:nvSpPr>
          <p:cNvPr id="30" name="TextBox 29"/>
          <p:cNvSpPr txBox="1"/>
          <p:nvPr/>
        </p:nvSpPr>
        <p:spPr>
          <a:xfrm>
            <a:off x="8908999"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1" name="Rectangle 30"/>
          <p:cNvSpPr/>
          <p:nvPr/>
        </p:nvSpPr>
        <p:spPr>
          <a:xfrm>
            <a:off x="9050731"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050731"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78747"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4" name="TextBox 33"/>
          <p:cNvSpPr txBox="1"/>
          <p:nvPr/>
        </p:nvSpPr>
        <p:spPr>
          <a:xfrm>
            <a:off x="9178747" y="1993392"/>
            <a:ext cx="1711756" cy="219456"/>
          </a:xfrm>
          <a:prstGeom prst="rect">
            <a:avLst/>
          </a:prstGeom>
          <a:noFill/>
        </p:spPr>
        <p:txBody>
          <a:bodyPr wrap="square" anchor="t" lIns="0" rIns="0" tIns="0" bIns="0">
            <a:spAutoFit/>
          </a:bodyPr>
          <a:lstStyle/>
          <a:p>
            <a:r>
              <a:rPr sz="1100" b="1" i="0">
                <a:solidFill>
                  <a:srgbClr val="086072"/>
                </a:solidFill>
                <a:latin typeface="Calibri"/>
              </a:rPr>
              <a:t>Present results</a:t>
            </a:r>
          </a:p>
        </p:txBody>
      </p:sp>
      <p:sp>
        <p:nvSpPr>
          <p:cNvPr id="35" name="TextBox 34"/>
          <p:cNvSpPr txBox="1"/>
          <p:nvPr/>
        </p:nvSpPr>
        <p:spPr>
          <a:xfrm>
            <a:off x="9178747"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Confusion matrices, per-class F1, and the accuracy/latency trade-off.</a:t>
            </a:r>
          </a:p>
        </p:txBody>
      </p:sp>
      <p:sp>
        <p:nvSpPr>
          <p:cNvPr id="36" name="TextBox 35"/>
          <p:cNvSpPr txBox="1"/>
          <p:nvPr/>
        </p:nvSpPr>
        <p:spPr>
          <a:xfrm>
            <a:off x="594360" y="2999232"/>
            <a:ext cx="10424160" cy="237744"/>
          </a:xfrm>
          <a:prstGeom prst="rect">
            <a:avLst/>
          </a:prstGeom>
          <a:noFill/>
        </p:spPr>
        <p:txBody>
          <a:bodyPr wrap="square" anchor="t" lIns="0" rIns="0" tIns="0" bIns="0">
            <a:spAutoFit/>
          </a:bodyPr>
          <a:lstStyle/>
          <a:p>
            <a:r>
              <a:rPr sz="900" b="1" i="0" spc="160">
                <a:solidFill>
                  <a:srgbClr val="086072"/>
                </a:solidFill>
                <a:latin typeface="Calibri"/>
              </a:rPr>
              <a:t>WHAT MAKES THE CROSS-TEAM COMPARISON VALID</a:t>
            </a:r>
          </a:p>
        </p:txBody>
      </p:sp>
      <p:sp>
        <p:nvSpPr>
          <p:cNvPr id="37" name="Rectangle 36"/>
          <p:cNvSpPr/>
          <p:nvPr/>
        </p:nvSpPr>
        <p:spPr>
          <a:xfrm>
            <a:off x="59436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59436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68680" y="3392424"/>
            <a:ext cx="2807208" cy="274320"/>
          </a:xfrm>
          <a:prstGeom prst="rect">
            <a:avLst/>
          </a:prstGeom>
          <a:noFill/>
        </p:spPr>
        <p:txBody>
          <a:bodyPr wrap="square" anchor="t" lIns="0" rIns="0" tIns="0" bIns="0">
            <a:spAutoFit/>
          </a:bodyPr>
          <a:lstStyle/>
          <a:p>
            <a:r>
              <a:rPr sz="1150" b="1" i="0">
                <a:solidFill>
                  <a:srgbClr val="086072"/>
                </a:solidFill>
                <a:latin typeface="Calibri"/>
              </a:rPr>
              <a:t>One split, one seed</a:t>
            </a:r>
          </a:p>
        </p:txBody>
      </p:sp>
      <p:sp>
        <p:nvSpPr>
          <p:cNvPr id="40" name="TextBox 39"/>
          <p:cNvSpPr txBox="1"/>
          <p:nvPr/>
        </p:nvSpPr>
        <p:spPr>
          <a:xfrm>
            <a:off x="86868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architecture must consume the identical stratified split produced with seed 42, or the comparison measures shuffle luck rather than modelling.</a:t>
            </a:r>
          </a:p>
        </p:txBody>
      </p:sp>
      <p:sp>
        <p:nvSpPr>
          <p:cNvPr id="41" name="Rectangle 40"/>
          <p:cNvSpPr/>
          <p:nvPr/>
        </p:nvSpPr>
        <p:spPr>
          <a:xfrm>
            <a:off x="411480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11480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389120" y="3392424"/>
            <a:ext cx="2807208" cy="274320"/>
          </a:xfrm>
          <a:prstGeom prst="rect">
            <a:avLst/>
          </a:prstGeom>
          <a:noFill/>
        </p:spPr>
        <p:txBody>
          <a:bodyPr wrap="square" anchor="t" lIns="0" rIns="0" tIns="0" bIns="0">
            <a:spAutoFit/>
          </a:bodyPr>
          <a:lstStyle/>
          <a:p>
            <a:r>
              <a:rPr sz="1150" b="1" i="0">
                <a:solidFill>
                  <a:srgbClr val="086072"/>
                </a:solidFill>
                <a:latin typeface="Calibri"/>
              </a:rPr>
              <a:t>One feature representation</a:t>
            </a:r>
          </a:p>
        </p:txBody>
      </p:sp>
      <p:sp>
        <p:nvSpPr>
          <p:cNvPr id="44" name="TextBox 43"/>
          <p:cNvSpPr txBox="1"/>
          <p:nvPr/>
        </p:nvSpPr>
        <p:spPr>
          <a:xfrm>
            <a:off x="438912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All models take the same (60, 225) tensors with train-split z-score statistics, so no model benefits from different preprocessing.</a:t>
            </a:r>
          </a:p>
        </p:txBody>
      </p:sp>
      <p:sp>
        <p:nvSpPr>
          <p:cNvPr id="45" name="Rectangle 44"/>
          <p:cNvSpPr/>
          <p:nvPr/>
        </p:nvSpPr>
        <p:spPr>
          <a:xfrm>
            <a:off x="763524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763524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909560" y="3392424"/>
            <a:ext cx="2807208" cy="274320"/>
          </a:xfrm>
          <a:prstGeom prst="rect">
            <a:avLst/>
          </a:prstGeom>
          <a:noFill/>
        </p:spPr>
        <p:txBody>
          <a:bodyPr wrap="square" anchor="t" lIns="0" rIns="0" tIns="0" bIns="0">
            <a:spAutoFit/>
          </a:bodyPr>
          <a:lstStyle/>
          <a:p>
            <a:r>
              <a:rPr sz="1150" b="1" i="0">
                <a:solidFill>
                  <a:srgbClr val="086072"/>
                </a:solidFill>
                <a:latin typeface="Calibri"/>
              </a:rPr>
              <a:t>One evaluation script</a:t>
            </a:r>
          </a:p>
        </p:txBody>
      </p:sp>
      <p:sp>
        <p:nvSpPr>
          <p:cNvPr id="48" name="TextBox 47"/>
          <p:cNvSpPr txBox="1"/>
          <p:nvPr/>
        </p:nvSpPr>
        <p:spPr>
          <a:xfrm>
            <a:off x="790956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evaluate.py computes every metric for every architecture and writes them to a single comparison.json — no self-reported numbers.</a:t>
            </a:r>
          </a:p>
        </p:txBody>
      </p:sp>
      <p:sp>
        <p:nvSpPr>
          <p:cNvPr id="49" name="TextBox 48"/>
          <p:cNvSpPr txBox="1"/>
          <p:nvPr/>
        </p:nvSpPr>
        <p:spPr>
          <a:xfrm>
            <a:off x="594360" y="49560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Adding a teammate's model requires only a new entry in models.py build() — the loader, split, training loop and evaluation are already shared.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1874</Words>
  <Application>Microsoft Office PowerPoint</Application>
  <PresentationFormat>Widescreen</PresentationFormat>
  <Paragraphs>205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boyillamanohar@gmail.com</cp:lastModifiedBy>
  <cp:revision>3</cp:revision>
  <dcterms:created xsi:type="dcterms:W3CDTF">2026-07-17T04:39:06Z</dcterms:created>
  <dcterms:modified xsi:type="dcterms:W3CDTF">2026-08-12T18:08:12Z</dcterms:modified>
</cp:coreProperties>
</file>