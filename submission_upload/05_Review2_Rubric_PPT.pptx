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99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3" name="Google Shape;763;p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970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23CSE461 - NEURAL NETWORKS AND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Silent Voice - Review 2 Rubric Audit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645920"/>
            <a:ext cx="10424160" cy="84124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73152" cy="841248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9921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086072"/>
                </a:solidFill>
                <a:latin typeface="Calibri"/>
              </a:rPr>
              <a:t>Radha Krishna  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CB.SC.U4CSE23134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5A5A5A"/>
                </a:solidFill>
                <a:latin typeface="Calibri"/>
              </a:rPr>
              <a:t>Real-time Indian Sign Language to English translation, and English back to signs. BiLSTM against a 1-D temporal CNN on the INCLUDE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RUBRIC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Slides required for Review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TOTAL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Across all twelve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9592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7F5E"/>
                </a:solidFill>
                <a:latin typeface="Cambria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EVIDENCED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Artefact exists and is shown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26A00"/>
                </a:solidFill>
                <a:latin typeface="Cambria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STILL TO 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Partial plus not-started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Char char="✦"/>
            </a:pPr>
            <a:r>
              <a:rPr sz="1300" b="1" i="0">
                <a:solidFill>
                  <a:srgbClr val="086072"/>
                </a:solidFill>
                <a:latin typeface="Calibri"/>
              </a:rPr>
              <a:t>This deck is an audit, not a claim.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It states what exists, what is half-done, and what has not been started.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42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Generated by scripts/build_rubric_deck.py from the same data that drives the /rubric page in the application.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Where This Project Stands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572768"/>
            <a:ext cx="10424160" cy="548640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72768"/>
            <a:ext cx="73152" cy="54864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5"/>
            <a:ext cx="9921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086072"/>
                </a:solidFill>
                <a:latin typeface="Calibri"/>
              </a:rPr>
              <a:t>Scoring rule:  </a:t>
            </a:r>
            <a:r>
              <a:rPr sz="1150" b="0" i="0">
                <a:solidFill>
                  <a:srgbClr val="222222"/>
                </a:solidFill>
                <a:latin typeface="Calibri"/>
              </a:rPr>
              <a:t>a row counts as Evidenced only if the artefact exists today and can be pointed at - a specific deck slide, a running screen, or a file in the repository. Nothing below is counted on the strength of intending to do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7F5E"/>
                </a:solidFill>
                <a:latin typeface="Cambria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EVIDENCED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Artefact exists and can be shown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26A00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Some required parts still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9592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77777D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NOT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Nothing exists for these rows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37/50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SECURED SO FAR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Not a predicted mark - a floor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60">
                <a:solidFill>
                  <a:srgbClr val="086072"/>
                </a:solidFill>
                <a:latin typeface="Calibri"/>
              </a:rPr>
              <a:t>WHAT IS LEFT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Literature survey (5)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Five papers verified against the SCImago 2025/2026 listing.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1752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1752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0624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Metrics column (3)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0624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'Best value in the papers' - blocked on the survey.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9144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9144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8016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Standard paper (2)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8016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Nominate one of the five, with a justification.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42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Generated from frontend/src/lib/rubric.json - the same file that drives the /rubric page in the running app, so this deck and the product cannot disagree.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Rubric Breakdown (SLIDES 1-6)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2788920"/>
                <a:gridCol w="548640"/>
                <a:gridCol w="914400"/>
                <a:gridCol w="57881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Evidence / what is missing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Problem statement, introduction, motivation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3–7 (sections 01–04): the 63-million figure, the interpreter shortage, and the objective. Review template slide 2 carries the problem statement and objective in the faculty format.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Literature survey - Five papers per student, related to your deep learning architecture, from a journal listed on scimagojr.com in 2025 or 2026.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77777D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Five papers, each confirmed present in the SCImago 2025/2026 listing — this confirmation has to be done by you, on scimagojr.com. For each: full citation, the architecture it uses, its reported metric values, and how it relates to the BiLSTM-vs-CNN comparison. A survey slide in the deck.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Architecture diagram for the overall application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16 (09 — SYSTEM ARCHITECTURE). The diagram matches the shipped code path: browser capture → POST /api/frame → MediaPipe Holistic → normalise → model → gloss.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Module details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17 (10 — MODULES). Every module named there exists as a file: preprocess.py, models.py, inference.py, gloss.py, practice.py.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Formula of performance metrics - A table with the metric name, its purpose, why it suits this application, and the best values discussed for that metric in the papers.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B26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26 already has metric · formula · what it captures, for nine metrics. Notation is defined (N = 261 classes, n = 642 test clips). All formulas are the ones evaluate.py actually computes via sklearn.   MISSING: A fourth column: best values reported for each metric in the surveyed papers — which needs row 2 done first.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Deep learning architecture - a. Diagram   b. Explanation   c. Novelty proposed   d. Time and space complexity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(a,b) Deck slides 22–23: layer-by-layer diagrams and design rationale for both BiLSTM and 1D CNN. (c) Deck slide 17.4 states the novelty as the controlled single-variable comparison and the shared landmark front-end — and states explicitly what is NOT claimed as novel. (d) Deck slide 17.3: big-O time, critical path, MAC counts, parameter and activation complexity for both models. The complexity is derived in scripts/analyze_complexity.py, which asserts its parameter counts against the trained checkpoints — 2,665,477 and 736,773 both match torch exactly.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Rubric Breakdown (SLIDES 7-12)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2788920"/>
                <a:gridCol w="548640"/>
                <a:gridCol w="914400"/>
                <a:gridCol w="57881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Evidence / what is missing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Algorithm procedure, step by step, mathematically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17.1 and 17.2: a ten-step numbered derivation from webcam frame to predicted label. Steps 1–6 cover landmark extraction, concatenation, temporal resampling, wrist-origin translation, shoulder-width scaling and z-scoring with train-split-only statistics. Steps 7–9 give the LSTM gate and cell equations beside the 1D convolution and pooling equations, side by side. Step 10 is the shared head: dropout, GELU, softmax, argmax — plus the label-smoothed cross-entropy objective. Every equation is the one implemented in preprocess.py and models.py, not a textbook restatement.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Hyperparameter details table with justification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24–25: the table and the tuning discussion. Values are the ones actually used: AdamW, cosine annealing, label smoothing 0.05, early stopping patience 20, lr 3e-3, batch 32, 60 epochs. Best epochs are recorded: 41/60 for BiLSTM, 45/60 for CNN.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Results and discussion - Tables, graphs, inference achieved from the architecture.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27: nine metrics, both models, with a stated winner and observation per row. Numbers are measured on a 642-clip held-out test split, not estimated. The Research page in this app reads the same comparison.json off disk, so it cannot drift from the deck.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Dataset chosen, and the novelty in the dataset - IEEE Dataport URL required.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B26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13, 18–21: INCLUDE described, plus extraction results. Real counts: 261 classes, 4,276 usable clips after filtering classes with fewer than 5 recordings. Canonical sources verified: Zenodo record 4010759 (the 56.8 GB video release), the Hugging Face mirror ai4bharat/INCLUDE, and the ACM MM 2020 paper doi:10.1145/3394171.3413528. Dataset novelty: INCLUDE is the largest published lexical ISL corpus, recorded with experienced signers rather than crowd-sourced, which is why it supports 261 classes where most ISL work reports on 20–50.   MISSING: A decision on the IEEE Dataport requirement — see the note.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UI screens planned for the application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Ten screens exist and run: gate, home, live, reverse, practice, transcripts, research, rubric, settings, about. These are the working application, not mockups — the same build the demo runs on.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Standard paper chosen for the application - Title and justification, from a journal.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77777D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One paper nominated as the reference standard, with a justification tying it to this system.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Evidence Behind the Twenty-Seven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4718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514600"/>
                <a:gridCol w="5760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Rubric row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Why it counts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1  Problem statement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3-7; template slide 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Motivation, objective and scope already written in the faculty format.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  Overall architecture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16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The diagram matches the shipped path: capture, /api/frame, MediaPipe, normalise, model, gloss.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4  Module details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Every module named is a real file: preprocess.py, models.py, inference.py, gloss.py, practice.py.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8  Hyperparameters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24-25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AdamW, cosine annealing, label smoothing 0.05, patience 20, lr 3e-3, batch 32, 60 epochs - as run.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6  Architecture (a-d)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22-23, 17.3, 17.4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Diagrams and rationale, plus big-O complexity and an explicitly narrow novelty claim.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7  Algorithm procedure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17.1-17.2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Ten numbered steps with the real equations, both models side by side against a shared spine.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9  Results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27; /research page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CNN 94.55% vs BiLSTM 91.74% on 642 held-out clips; the page reads the same file off disk.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11 UI screens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The running application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Gate, home, live, reverse, practice, transcripts, research, rubric, settings, about.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6692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Every figure quoted here is read from ml/logs/comparison.json, produced by the training run - none of it is typed in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The 13 Marks Not Yet Earned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627632"/>
            <a:ext cx="33467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73152" cy="2011680"/>
          </a:xfrm>
          <a:prstGeom prst="rect">
            <a:avLst/>
          </a:prstGeom>
          <a:solidFill>
            <a:srgbClr val="777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86072"/>
                </a:solidFill>
                <a:latin typeface="Calibri"/>
              </a:rPr>
              <a:t>Row 2 - Literature survey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48256"/>
            <a:ext cx="284378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Five papers, each confirmed present in the SCImago 2025/2026 listing — this confirmation has to be done by you, on scimagojr.com. For each: full citation, the architecture it uses, its reported metric values, and how it relates to the BiLSTM-vs-CNN comparison. A survey slide in the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8" y="1627632"/>
            <a:ext cx="33467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8" y="1627632"/>
            <a:ext cx="73152" cy="2011680"/>
          </a:xfrm>
          <a:prstGeom prst="rect">
            <a:avLst/>
          </a:prstGeom>
          <a:solidFill>
            <a:srgbClr val="777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46504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86072"/>
                </a:solidFill>
                <a:latin typeface="Calibri"/>
              </a:rPr>
              <a:t>Row 12 - Standard paper chosen for…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48256"/>
            <a:ext cx="284378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One paper nominated as the reference standard, with a justification tying it to this 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60">
                <a:solidFill>
                  <a:srgbClr val="086072"/>
                </a:solidFill>
                <a:latin typeface="Calibri"/>
              </a:rPr>
              <a:t>PARTIAL ROWS - WHAT CLOSES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51376"/>
            <a:ext cx="5148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151376"/>
            <a:ext cx="5148072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79392"/>
            <a:ext cx="4910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Row 5 (3)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89704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A fourth column: best values reported for each metric in the surveyed papers — which needs row 2 done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0448" y="4151376"/>
            <a:ext cx="5148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70448" y="4151376"/>
            <a:ext cx="5148072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79392"/>
            <a:ext cx="4910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Row 10 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489704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A decision on the IEEE Dataport requirement — see the note.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010912"/>
            <a:ext cx="10424160" cy="786384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010912"/>
            <a:ext cx="73152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20640"/>
            <a:ext cx="9921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B6114D"/>
                </a:solidFill>
                <a:latin typeface="Calibri"/>
              </a:rPr>
              <a:t>The honest position: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what remains is the literature survey and everything that depends on it. Those marks need papers actually read and verified against the SCImago listing - they cannot be manufactured. docs/literature-survey-worksheet.md holds a URL-verified candidate shortlist and the verification procedure.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1874</Words>
  <Application>Microsoft Office PowerPoint</Application>
  <PresentationFormat>Widescreen</PresentationFormat>
  <Paragraphs>205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boyillamanohar@gmail.com</cp:lastModifiedBy>
  <cp:revision>3</cp:revision>
  <dcterms:created xsi:type="dcterms:W3CDTF">2026-07-17T04:39:06Z</dcterms:created>
  <dcterms:modified xsi:type="dcterms:W3CDTF">2026-08-12T18:08:12Z</dcterms:modified>
</cp:coreProperties>
</file>